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7a37fbf5c942e5" /><Relationship Type="http://schemas.openxmlformats.org/officeDocument/2006/relationships/extended-properties" Target="/docProps/app.xml" Id="R1c4a74acba8e4b7a" /><Relationship Type="http://schemas.openxmlformats.org/officeDocument/2006/relationships/officeDocument" Target="/ppt/presentation.xml" Id="R4779b55d7ab048f3" /></Relationships>
</file>

<file path=ppt/presentation.xml><?xml version="1.0" encoding="utf-8"?>
<p:presentation xmlns:p="http://schemas.openxmlformats.org/presentationml/2006/main">
  <p:sldMasterIdLst>
    <p:sldMasterId xmlns:r="http://schemas.openxmlformats.org/officeDocument/2006/relationships" id="2147483648" r:id="Ref754342c95e4231"/>
  </p:sldMasterIdLst>
  <p:notesMasterIdLst>
    <p:notesMasterId xmlns:r="http://schemas.openxmlformats.org/officeDocument/2006/relationships" r:id="Rd1b1ac88f3ab4b3f"/>
  </p:notesMasterIdLst>
  <p:sldIdLst>
    <p:sldId xmlns:r="http://schemas.openxmlformats.org/officeDocument/2006/relationships" id="256" r:id="R764d71b3df9b4884"/>
    <p:sldId xmlns:r="http://schemas.openxmlformats.org/officeDocument/2006/relationships" id="257" r:id="Ra8842cf20a954ece"/>
    <p:sldId xmlns:r="http://schemas.openxmlformats.org/officeDocument/2006/relationships" id="258" r:id="Rf93e92109cb04a2a"/>
    <p:sldId xmlns:r="http://schemas.openxmlformats.org/officeDocument/2006/relationships" id="259" r:id="Ref4eec58ed364c78"/>
    <p:sldId xmlns:r="http://schemas.openxmlformats.org/officeDocument/2006/relationships" id="260" r:id="R2b6ce1bf704f43bb"/>
    <p:sldId xmlns:r="http://schemas.openxmlformats.org/officeDocument/2006/relationships" id="261" r:id="Rcdea929e687441a6"/>
    <p:sldId xmlns:r="http://schemas.openxmlformats.org/officeDocument/2006/relationships" id="262" r:id="R8d275cfa296640d7"/>
    <p:sldId xmlns:r="http://schemas.openxmlformats.org/officeDocument/2006/relationships" id="263" r:id="R1e528ea0dd154c9d"/>
    <p:sldId xmlns:r="http://schemas.openxmlformats.org/officeDocument/2006/relationships" id="264" r:id="R0dea8658fe0f4837"/>
    <p:sldId xmlns:r="http://schemas.openxmlformats.org/officeDocument/2006/relationships" id="265" r:id="R5d5e29af22ae4b1b"/>
    <p:sldId xmlns:r="http://schemas.openxmlformats.org/officeDocument/2006/relationships" id="266" r:id="R16ed26341ea64d46"/>
    <p:sldId xmlns:r="http://schemas.openxmlformats.org/officeDocument/2006/relationships" id="267" r:id="Ra0eb236189a242cb"/>
    <p:sldId xmlns:r="http://schemas.openxmlformats.org/officeDocument/2006/relationships" id="268" r:id="R1c23bf4943884a2d"/>
    <p:sldId xmlns:r="http://schemas.openxmlformats.org/officeDocument/2006/relationships" id="269" r:id="R0f2ca3bcbc99410e"/>
    <p:sldId xmlns:r="http://schemas.openxmlformats.org/officeDocument/2006/relationships" id="270" r:id="Rbbfa3cf74c54452d"/>
    <p:sldId xmlns:r="http://schemas.openxmlformats.org/officeDocument/2006/relationships" id="271" r:id="R209b142434c3470f"/>
    <p:sldId xmlns:r="http://schemas.openxmlformats.org/officeDocument/2006/relationships" id="272" r:id="Rbad6dad59e0340bc"/>
    <p:sldId xmlns:r="http://schemas.openxmlformats.org/officeDocument/2006/relationships" id="273" r:id="R73b49db745b9427a"/>
    <p:sldId xmlns:r="http://schemas.openxmlformats.org/officeDocument/2006/relationships" id="274" r:id="R7980a35580b14bd9"/>
    <p:sldId xmlns:r="http://schemas.openxmlformats.org/officeDocument/2006/relationships" id="275" r:id="R1d8b4e12f64e421c"/>
    <p:sldId xmlns:r="http://schemas.openxmlformats.org/officeDocument/2006/relationships" id="276" r:id="Rc597c2d75b144c36"/>
    <p:sldId xmlns:r="http://schemas.openxmlformats.org/officeDocument/2006/relationships" id="277" r:id="Rb049006abe2c440c"/>
    <p:sldId xmlns:r="http://schemas.openxmlformats.org/officeDocument/2006/relationships" id="278" r:id="Rc0ca4590af2143fe"/>
    <p:sldId xmlns:r="http://schemas.openxmlformats.org/officeDocument/2006/relationships" id="279" r:id="Rb7fbc78e65a545ac"/>
    <p:sldId xmlns:r="http://schemas.openxmlformats.org/officeDocument/2006/relationships" id="280" r:id="Rbbd7d0fc09744862"/>
    <p:sldId xmlns:r="http://schemas.openxmlformats.org/officeDocument/2006/relationships" id="281" r:id="Rd01934dc7f2e4309"/>
    <p:sldId xmlns:r="http://schemas.openxmlformats.org/officeDocument/2006/relationships" id="282" r:id="R7742e5fa4cac4e35"/>
    <p:sldId xmlns:r="http://schemas.openxmlformats.org/officeDocument/2006/relationships" id="283" r:id="R53d84978a8d84c07"/>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475f4abf5984c94" /><Relationship Type="http://schemas.openxmlformats.org/officeDocument/2006/relationships/slideMaster" Target="/ppt/slideMasters/slideMaster1.xml" Id="Ref754342c95e4231" /><Relationship Type="http://schemas.openxmlformats.org/officeDocument/2006/relationships/notesMaster" Target="/ppt/notesMasters/notesMaster1.xml" Id="Rd1b1ac88f3ab4b3f" /><Relationship Type="http://schemas.openxmlformats.org/officeDocument/2006/relationships/presProps" Target="/ppt/presProps.xml" Id="R5970af84353f459d" /><Relationship Type="http://schemas.openxmlformats.org/officeDocument/2006/relationships/viewProps" Target="/ppt/viewProps.xml" Id="Rd93646066caf4e50" /><Relationship Type="http://schemas.openxmlformats.org/officeDocument/2006/relationships/tableStyles" Target="/ppt/tableStyles.xml" Id="R43bab49aeda74c30" /><Relationship Type="http://schemas.openxmlformats.org/officeDocument/2006/relationships/slide" Target="/ppt/slides/slide1.xml" Id="R764d71b3df9b4884" /><Relationship Type="http://schemas.openxmlformats.org/officeDocument/2006/relationships/slide" Target="/ppt/slides/slide2.xml" Id="Ra8842cf20a954ece" /><Relationship Type="http://schemas.openxmlformats.org/officeDocument/2006/relationships/slide" Target="/ppt/slides/slide3.xml" Id="Rf93e92109cb04a2a" /><Relationship Type="http://schemas.openxmlformats.org/officeDocument/2006/relationships/slide" Target="/ppt/slides/slide4.xml" Id="Ref4eec58ed364c78" /><Relationship Type="http://schemas.openxmlformats.org/officeDocument/2006/relationships/slide" Target="/ppt/slides/slide5.xml" Id="R2b6ce1bf704f43bb" /><Relationship Type="http://schemas.openxmlformats.org/officeDocument/2006/relationships/slide" Target="/ppt/slides/slide6.xml" Id="Rcdea929e687441a6" /><Relationship Type="http://schemas.openxmlformats.org/officeDocument/2006/relationships/slide" Target="/ppt/slides/slide7.xml" Id="R8d275cfa296640d7" /><Relationship Type="http://schemas.openxmlformats.org/officeDocument/2006/relationships/slide" Target="/ppt/slides/slide8.xml" Id="R1e528ea0dd154c9d" /><Relationship Type="http://schemas.openxmlformats.org/officeDocument/2006/relationships/slide" Target="/ppt/slides/slide9.xml" Id="R0dea8658fe0f4837" /><Relationship Type="http://schemas.openxmlformats.org/officeDocument/2006/relationships/slide" Target="/ppt/slides/slide10.xml" Id="R5d5e29af22ae4b1b" /><Relationship Type="http://schemas.openxmlformats.org/officeDocument/2006/relationships/slide" Target="/ppt/slides/slide11.xml" Id="R16ed26341ea64d46" /><Relationship Type="http://schemas.openxmlformats.org/officeDocument/2006/relationships/slide" Target="/ppt/slides/slide12.xml" Id="Ra0eb236189a242cb" /><Relationship Type="http://schemas.openxmlformats.org/officeDocument/2006/relationships/slide" Target="/ppt/slides/slide13.xml" Id="R1c23bf4943884a2d" /><Relationship Type="http://schemas.openxmlformats.org/officeDocument/2006/relationships/slide" Target="/ppt/slides/slide14.xml" Id="R0f2ca3bcbc99410e" /><Relationship Type="http://schemas.openxmlformats.org/officeDocument/2006/relationships/slide" Target="/ppt/slides/slide15.xml" Id="Rbbfa3cf74c54452d" /><Relationship Type="http://schemas.openxmlformats.org/officeDocument/2006/relationships/slide" Target="/ppt/slides/slide16.xml" Id="R209b142434c3470f" /><Relationship Type="http://schemas.openxmlformats.org/officeDocument/2006/relationships/slide" Target="/ppt/slides/slide17.xml" Id="Rbad6dad59e0340bc" /><Relationship Type="http://schemas.openxmlformats.org/officeDocument/2006/relationships/slide" Target="/ppt/slides/slide18.xml" Id="R73b49db745b9427a" /><Relationship Type="http://schemas.openxmlformats.org/officeDocument/2006/relationships/slide" Target="/ppt/slides/slide19.xml" Id="R7980a35580b14bd9" /><Relationship Type="http://schemas.openxmlformats.org/officeDocument/2006/relationships/slide" Target="/ppt/slides/slide20.xml" Id="R1d8b4e12f64e421c" /><Relationship Type="http://schemas.openxmlformats.org/officeDocument/2006/relationships/slide" Target="/ppt/slides/slide21.xml" Id="Rc597c2d75b144c36" /><Relationship Type="http://schemas.openxmlformats.org/officeDocument/2006/relationships/slide" Target="/ppt/slides/slide22.xml" Id="Rb049006abe2c440c" /><Relationship Type="http://schemas.openxmlformats.org/officeDocument/2006/relationships/slide" Target="/ppt/slides/slide23.xml" Id="Rc0ca4590af2143fe" /><Relationship Type="http://schemas.openxmlformats.org/officeDocument/2006/relationships/slide" Target="/ppt/slides/slide24.xml" Id="Rb7fbc78e65a545ac" /><Relationship Type="http://schemas.openxmlformats.org/officeDocument/2006/relationships/slide" Target="/ppt/slides/slide25.xml" Id="Rbbd7d0fc09744862" /><Relationship Type="http://schemas.openxmlformats.org/officeDocument/2006/relationships/slide" Target="/ppt/slides/slide26.xml" Id="Rd01934dc7f2e4309" /><Relationship Type="http://schemas.openxmlformats.org/officeDocument/2006/relationships/slide" Target="/ppt/slides/slide27.xml" Id="R7742e5fa4cac4e35" /><Relationship Type="http://schemas.openxmlformats.org/officeDocument/2006/relationships/slide" Target="/ppt/slides/slide28.xml" Id="R53d84978a8d84c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acb05730e342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Hyundai CI">
  <a:themeElements>
    <a:clrScheme name="Hyundai CI">
      <a:dk1>
        <a:srgbClr val="1C1B1B"/>
      </a:dk1>
      <a:lt1>
        <a:srgbClr val="FFFFFF"/>
      </a:lt1>
      <a:dk2>
        <a:srgbClr val="002C5F"/>
      </a:dk2>
      <a:lt2>
        <a:srgbClr val="F6F3F2"/>
      </a:lt2>
      <a:accent1>
        <a:srgbClr val="002C5F"/>
      </a:accent1>
      <a:accent2>
        <a:srgbClr val="00AAD2"/>
      </a:accent2>
      <a:accent3>
        <a:srgbClr val="E4DCD3"/>
      </a:accent3>
      <a:accent4>
        <a:srgbClr val="6E6E6E"/>
      </a:accent4>
      <a:accent5>
        <a:srgbClr val="0A3D78"/>
      </a:accent5>
      <a:accent6>
        <a:srgbClr val="D9D2CA"/>
      </a:accent6>
      <a:hlink>
        <a:srgbClr val="00AAD2"/>
      </a:hlink>
      <a:folHlink>
        <a:srgbClr val="002C5F"/>
      </a:folHlink>
    </a:clrScheme>
    <a:fontScheme name="Hyundai C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undai CI">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fd3fca5da64d19" /><Relationship Type="http://schemas.openxmlformats.org/officeDocument/2006/relationships/notesMaster" Target="/ppt/notesMasters/notesMaster1.xml" Id="R76872c1309bd4e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b4a494b31a49c5" /><Relationship Type="http://schemas.openxmlformats.org/officeDocument/2006/relationships/notesMaster" Target="/ppt/notesMasters/notesMaster1.xml" Id="R60863237a56f4d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922b2e65a94264" /><Relationship Type="http://schemas.openxmlformats.org/officeDocument/2006/relationships/notesMaster" Target="/ppt/notesMasters/notesMaster1.xml" Id="Rd33386ca50454b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cc87e9c0f64637" /><Relationship Type="http://schemas.openxmlformats.org/officeDocument/2006/relationships/notesMaster" Target="/ppt/notesMasters/notesMaster1.xml" Id="R15e7c6a93ca546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43748055a6499e" /><Relationship Type="http://schemas.openxmlformats.org/officeDocument/2006/relationships/notesMaster" Target="/ppt/notesMasters/notesMaster1.xml" Id="Rd836b9d842d24d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1f9f0adcf64232" /><Relationship Type="http://schemas.openxmlformats.org/officeDocument/2006/relationships/notesMaster" Target="/ppt/notesMasters/notesMaster1.xml" Id="R01735c38990049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861075968a4d8a" /><Relationship Type="http://schemas.openxmlformats.org/officeDocument/2006/relationships/notesMaster" Target="/ppt/notesMasters/notesMaster1.xml" Id="R69760769f83140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106e60b2da441b" /><Relationship Type="http://schemas.openxmlformats.org/officeDocument/2006/relationships/notesMaster" Target="/ppt/notesMasters/notesMaster1.xml" Id="Rfea63832ad3b41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f26e24995c4916" /><Relationship Type="http://schemas.openxmlformats.org/officeDocument/2006/relationships/notesMaster" Target="/ppt/notesMasters/notesMaster1.xml" Id="Rf7346a4c20b740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e3bdb820914710" /><Relationship Type="http://schemas.openxmlformats.org/officeDocument/2006/relationships/notesMaster" Target="/ppt/notesMasters/notesMaster1.xml" Id="R06d1236d4afd49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89b574f3054a6d" /><Relationship Type="http://schemas.openxmlformats.org/officeDocument/2006/relationships/notesMaster" Target="/ppt/notesMasters/notesMaster1.xml" Id="Rcc1a59a1551446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a5f64ea92847ad" /><Relationship Type="http://schemas.openxmlformats.org/officeDocument/2006/relationships/notesMaster" Target="/ppt/notesMasters/notesMaster1.xml" Id="R0de0e9ca979440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69dcbf168ec417b" /><Relationship Type="http://schemas.openxmlformats.org/officeDocument/2006/relationships/notesMaster" Target="/ppt/notesMasters/notesMaster1.xml" Id="R83137466ac464c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118d9dd6d14de1" /><Relationship Type="http://schemas.openxmlformats.org/officeDocument/2006/relationships/notesMaster" Target="/ppt/notesMasters/notesMaster1.xml" Id="R70f406d2b16247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cea5057c77431a" /><Relationship Type="http://schemas.openxmlformats.org/officeDocument/2006/relationships/notesMaster" Target="/ppt/notesMasters/notesMaster1.xml" Id="Rcfbea0372c9545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19aaf086f64f83" /><Relationship Type="http://schemas.openxmlformats.org/officeDocument/2006/relationships/notesMaster" Target="/ppt/notesMasters/notesMaster1.xml" Id="Rdf0042fb7fab4c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b4f293c3d84f55" /><Relationship Type="http://schemas.openxmlformats.org/officeDocument/2006/relationships/notesMaster" Target="/ppt/notesMasters/notesMaster1.xml" Id="Rfc452672072a49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dfb703770f4df5" /><Relationship Type="http://schemas.openxmlformats.org/officeDocument/2006/relationships/notesMaster" Target="/ppt/notesMasters/notesMaster1.xml" Id="R212c4256c14943d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3bdaf8cfa44554" /><Relationship Type="http://schemas.openxmlformats.org/officeDocument/2006/relationships/notesMaster" Target="/ppt/notesMasters/notesMaster1.xml" Id="R10612a830f3643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d7556b0b814f52" /><Relationship Type="http://schemas.openxmlformats.org/officeDocument/2006/relationships/notesMaster" Target="/ppt/notesMasters/notesMaster1.xml" Id="Rfc0964b42f824f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af8b892fae4a24" /><Relationship Type="http://schemas.openxmlformats.org/officeDocument/2006/relationships/notesMaster" Target="/ppt/notesMasters/notesMaster1.xml" Id="R9b5de9cbd05944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b2697b17324ffe" /><Relationship Type="http://schemas.openxmlformats.org/officeDocument/2006/relationships/notesMaster" Target="/ppt/notesMasters/notesMaster1.xml" Id="R7b6402ed972e42e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1e4abf906d4a67" /><Relationship Type="http://schemas.openxmlformats.org/officeDocument/2006/relationships/notesMaster" Target="/ppt/notesMasters/notesMaster1.xml" Id="Rb98321bd637d4ba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599163a1fa45be" /><Relationship Type="http://schemas.openxmlformats.org/officeDocument/2006/relationships/notesMaster" Target="/ppt/notesMasters/notesMaster1.xml" Id="R0044626cd4e14c3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2886dd9cf147cd" /><Relationship Type="http://schemas.openxmlformats.org/officeDocument/2006/relationships/notesMaster" Target="/ppt/notesMasters/notesMaster1.xml" Id="Rdc8b94f9a40a4c5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993d10a407742e4" /><Relationship Type="http://schemas.openxmlformats.org/officeDocument/2006/relationships/notesMaster" Target="/ppt/notesMasters/notesMaster1.xml" Id="R08df62355230450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770a03061324f71" /><Relationship Type="http://schemas.openxmlformats.org/officeDocument/2006/relationships/notesMaster" Target="/ppt/notesMasters/notesMaster1.xml" Id="R19592f7a7aa4463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b8a2bd6719466b" /><Relationship Type="http://schemas.openxmlformats.org/officeDocument/2006/relationships/notesMaster" Target="/ppt/notesMasters/notesMaster1.xml" Id="R8cd9d97183fe4b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technical presentation documents the final phone prototype, version 5.1.0. Raaste Mein is a working project title. The system recommends a place to consider stopping on a fixed journey. The passenger retains the decision. It currently runs on an installed Android progressive web app (PWA), a website installed and launched like an app. A future passenger-facing vehicle interface is a proposed application, not an implemented integration. The supplied professor template provides the slide size, theme, fonts and repeated elements. The author explicitly authorised an expanded slide count.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 is an engineering prototype demonstration. It does not constitute a controlled user study. Evidence comes from the frozen code and data, eight final-layout phone screenshots, the supplied history export and the author’s confirmation of replay and learning demonstrations. The export alone provides three completion records, rather than complete trajectories or timing-error measurements. Terms such as preference and relevance are separated: preference is an implemented bounded state value, while recommendation relevance would require an independently defined evaluation. Sources S1-S4 are indexed on slide 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motivation is supplied by the author: repeated café hunting with friends and busy schedules that sometimes push breakfast or lunch aside. Swiggy on trains was an inspiration. No Swiggy affiliation or integration is claimed. The present system considers the opportunity for a stop, but does not schedule meals in a calendar or model preparation and eating duration. The initial Indian usage context is the author’s campus and daily routine, not a general claim about all Indian travellers. Wider customer demand remains an untested hypothesis.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requirements combine the author’s final decisions with the frozen implementation. Browsing and automatic suggestion are distinct operations: every venue remains in the complete list, while only eligible venues may be prompted automatically. The cap counts shown prompts, including a prompt later dismissed. There is no requirement to accumulate training trips before receiving a first alert. Current mobile layout and recorded demonstrations have author acceptance. This presentation does not request more journeys or code changes.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native editable route diagram derives from the ordered latitude-longitude coordinates in route.json. Longitude is scaled by cosine of the first latitude and both axes use one uniform metric scale. It is a plan-view geometry diagram, not a map of traversable side paths or a recorded GPS trajectory. The route length uses the application Haversine calculation and equals 2048.301822947561 metres. The supplied KML and application JSON contain the same route geometry for this purpose. The app precomputes cumulative segment lengths and venue projections. The point order defines the supported direction.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venue names, coordinates, category labels, saved opening hours, rating, price level and all forty menu entries remain in cafes.json. This table reports the scoring category rather than every menu type. For example, Naivedyam includes filter coffee but its scoring category is meals. Hours that cross midnight use the overnight-window rule. Rajdhani is represented as 00:00-24:00. No live restaurant availability has been queried. Offset and route position come from measureCafe() applied to the frozen route and use nearest line-segment projection rather than the nearest vertex. Last-cluster projections can terminate at the destination endpoint.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abstracts the final module boundaries. app.js coordinates rendering, input state and the helper engines. suggestion-engine.js projects venues and scores candidates. gps-engine.js validates phone fixes. feedback-learning.js reconstructs preference values from explicit choices. routine-engine.js groups completed trips. order-engine.js supports simulated carts. The service worker caches bundled files. The recommendation engine itself never makes network requests. The interface can request OpenStreetMap tiles. Native arrows show logical information flow rather than independently executing services or API boundaries.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GPS means Global Positioning System in the user-facing description, although the phone’s location service may use additional signals. watchPosition requests high accuracy. The app uses device-reported speed when valid, otherwise estimates speed from separated fixes above a noise threshold. A moving speed at or above 0.5 m/s can drive travel estimates. Replay multipliers accelerate the demonstration timer, while modelled route travel remains 15 km/h. GPS and replay do not silently share completed-trip routine records. Switching mode starts a new current trip while retaining stored learning and history.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flat-plane projection finds the closest point on each line segment. The final offset distance and cumulative route lengths use the application Haversine distance. The estimated out-and-back travel is two times offset divided by planning speed. It does not account for legal access, road layout, junctions or a different side-road speed. The displayed GPS arrival model includes the current live IST clock, forward travel along the route, one-way offset travel to the venue and future accepted detour commitments before that venue. Replay instead derives the clock from the chosen departure, travelled route distance and accepted delays. Negative forward distances are clamped in the model and availability separately rejects venues already behind.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separates availabilityReason from excludedReason. A place can be available to choose yet excluded from another automatic alert because it has already been shown or falls below the score threshold. The all-stops list does not remove low-ranked venues. Remaining spare travel equals the initial allowance minus all estimated travel reserved by accepted stops, clamped at zero. Accepting a venue requires availability. A rejection can still be recorded through the list without spending spare travel. Opening uses an inclusive opening time and exclusive closing time, with overnight handling.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Aᵢ combines a venue preference and the preference of its single assigned scoring category. Each starts at 0.50 without feedback. Tᵢ comes from a fixed five-band lookup table and uses predicted arrival, not merely departure time. Rᵢ rescales a saved 1-to-5 rating. Dᵢ penalises geometric estimated extra travel relative to the configured 30-minute maximum. clamp(x,0,1) restricts the value to that interval. The automatic score threshold is 0.50. Scores are ranking values, not probabilities of satisfaction. Ties sort by nearer route position and then venue identifier. The final code contains no machine-learned weight fitting or language-model inference.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Morning is 06:00 inclusive to 12:00 exclusive. Lunchtime is 12:00-15:00, afternoon 15:00-17:00, evening 17:00-20:00 and night wraps 20:00-06:00. Saved venue hours remain an additional independent gate. One category per venue simplifies the model but can underrepresent mixed menus: filter coffee at a meal-category venue does not change that venue’s time-fit category to coffee. Category values and score weights are transparent heuristics, not fitted behavioural estimates.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implementation scores all eligible candidates at least 300 metres ahead, selects the best by score, and returns it only if it is no more than 400 metres ahead. Therefore, a higher-ranked venue farther along the route can defer a lower-ranked nearby option. It does not simply alert for every venue encountered within the window. If discrete fixes or another open panel skip a window, the app does not fabricate a late alert. In replay, the best scheduled candidate must have a trigger at or beyond the current and spacing-constrained progress and within the next simulated step. Shown venues enter a per-trip seen set, and the count increments when the card appears even if later ignored.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displays three separate illustrative sequences starting from neutral preference 0.50. It is generated from actual update rules, not fitted or measured field data. Accepting the same venue once on each of three trips yields 0.60, 0.70 and 0.80. Rejection yields 0.45, 0.40 and 0.35. Dismissal remains 0.50. The category preference receives the same update. The profile retains events and statistics reconstruct affinities in order, clamping after each event. A repeated identical tap has no extra effect. Changing a choice within a trip replaces that venue’s final event. Automatic recommendation preferences are snapshotted at the start of a new trip so in-trip choices do not silently rescore later automatic prompts within that same trip.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previous-choice remark is a direct summary of explicit history. A usual-choice remark needs at least three accepts and an accept fraction of two-thirds or more. An additional time-specific phrase requires at least three accepts in that band and more accepts than rejects. Contextual remarks can mention a menu item matching noodle, Maggi or chowmein at lunchtime. These statements are template rules, not language-model generation. Routine detection groups completed trips by source, weekday/weekend, endpoint proximity and a bounded departure window. Every endpoint pair must fit, avoiding chains of partially overlapping locations. Repeated trips need not be on distinct dates; the UI displays the number of distinct dates separately. The available GPS departures are 12:09, 12:49 and 18:16 on 17 October 2026, so no three-trip window within thirty minutes exists.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order-engine.js calculates integer quantities, line subtotals and a total based on clearly labelled demonstration prices. It validates availability before confirmation and prevents duplicate receipts for the same venue in the current trip. The app refreshes availability as GPS moves; once a stop is passed its confirmation can become unavailable. A simulated confirmation also records the venue acceptance and reserves its existing extra-travel estimate. Receipts and current carts are transient and are not included in the history backup. No payment provider, restaurant API, food delivery or verified ready-by service is implemented.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is an actual installed Android PWA capture, with no browser address bar. The final mobile layout was accepted by the author. The approximate map proportion is a design target rather than a measured viewport benchmark. Telemetry shows real trip date, IST clock and measured speed in GPS mode. Trip settings form the initial interface and collapse for the active map view. The current implementation preserves map zoom. All-stops, routine/learning, menu and tools panels do not stop GPS fixes, but suppress new automatic alerts while open. The intended interaction is passenger-facing.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reports that these prompts appeared automatically. Screenshot 2 shows Chaayos 399 metres ahead at 18:19 and approximately forty seconds of extra travel. Screenshot 6 shows Tealogy 397 metres ahead at 18:36 and approximately eighteen seconds extra travel. Both frames belong to the same evening journey, not different time-of-day trials. Distances are along-route approach estimates. Extra travel values are model outputs, not measured detour durations. A screenshot cannot establish whether a button was pressed or food was purchased. Each screenshot is embedded unchanged and cropped natively in PowerPoint to the card region.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frames come from the same evening journey. They are discrete screenshots and are not a stored location trace. Their on-screen progress and remaining-distance values are reproduced without estimating missing intermediate positions. They demonstrate an interface that updates during movement. The last frame at 18:40 displays 96 percent progress and 64 metres remaining, so it must not be described as a completed-arrival screenshot. The separate history export provides the completion records. No end-to-end journey duration or prediction error is inferred from these stills.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backup is an app-format export with version 2, route identifier iitd-hostel-post-office, profile and completed-trip history. It contains gps-1 departing 12:09, gps-2 at 12:49 and gps-3 at 18:16, all on 17 October 2026. These records satisfy the app’s completion-recording conditions at the time of storage. They do not retain the raw fixes needed to independently re-evaluate every condition. The one explicit choice event is in profile trip-27: Naivedyam, meals, Accept, lunchtime. statistics() reconstructs Naivedyam and meals preference as 0.60 and all other venue preferences as 0.50. User-reported replay and learning demonstrations are part of the project account, but this export does not contain their completed replay records. No absent events are manufactured to make the record match an assumed demonstration 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keys are invehicle.learning.v1.iitd-hostel-post-office and invehicle.routines.v2.iitd-hostel-post-office. localStorage is scoped to origin and device/browser profile. The installed PWA uses the same origin storage as its hosting site in that browser profile. Interface code updates do not themselves delete these keys. A storage failure produces session-only operation. Backup format is invehicle-history-backup version 2. It accepts a compatible older backup version and validates the route identifier and normalised record counts to reject invalid or duplicate records. Restore is replacement, not merge. Reset trip preserves history; the explicit Reset learning operation clears learning and completed-trip histories. Raw GPS fixes, speed series, alert timing logs, carts and receipts are not exported.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deployment address is https://invehicle-iit-delhi-demo.adoredcream2.chatgpt.site/. This is the existing prototype hosting address, not a claim of public unrestricted evaluator access or guaranteed permanent hosting. The demonstrated environment is the author’s installed Android app. manifest.json uses display standalone and portrait-primary orientation. The service worker caches only its listed same-origin shell files, with version 5.1.0 and an atomic addAll installation. It excludes external tile requests. App navigation returns coherent cached HTML and scripts. The app requests a screen wake lock during a journey when supported and releases it on pause, arrival or hidden state. Backgrounding pauses GPS tracking, so continuous background logging is not implemented. Static HTTPS deployment on another host is technically possible, but personal history requires explicit JSON backup/restore at the new origin.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supports a small functional prototype demonstration. It does not support a generalised performance estimate, controlled comparison against another service or significance test. There is no separate labelled recommendation dataset, held-out participant group or measured road-network detour ground truth. The supplied history does not contain continuous location samples, alert exposure counts or dwell-time logs. The screenshots show selected points from the same evening journey, including movement around walking speed. Consequently, successful operation at higher vehicle speed must not be inferred. Algorithmic parameters were selected during prototyping rather than learned from a large dataset. No further testing is requested within the agreed frozen ideathon scope.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engineering contribution is the implemented combination and interaction, not a claim that individual components are new algorithms. The phone prototype is feasible using static web delivery and existing location capabilities. Production automotive integration, distraction assessment, partner ordering and live venue data are outside the implemented scope. For the ideathon, the demonstration connects an Indian campus passenger scenario with a concrete technical implementation and candid evidence boundaries. The app is frozen at version 5.1.0 and the author has accepted the final phone experience.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lists implementation defaults rather than validated sensor-performance limits. GPS also uses movingMinimumMps 0.5, positionTimeoutMs 15000 and at least two arrival fixes. Origin recording requires proximity both to the start coordinate and to the initial route position. A journey can display arrival after joining mid-route yet not enter completed-trip history. Pausing or backgrounding invalidates continuous-history eligibility as implemented. Accumulated forward coverage is the algorithm’s sum of acceptable positive advances, not an independently measured unique-route coverage statistic. The app freezes its last trusted position and suspends alerts while waiting for an acceptable fix.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numerical illustration holds all context terms constant to isolate how feedback changes the score. It uses an assumed thirty-metre venue offset and fifteen-kilometres-per-hour speed, not the measured geometry of a named venue. Converting 15 km/h gives 4.1666667 m/s. Out-and-back distance sixty metres takes 14.4 seconds or 0.24 minutes. The preference contribution changes from 0.60 times 0.50 = 0.30 to 0.60 times 0.80 = 0.48. The total increases by 0.18 from 0.6812 to 0.8612. In normal operation, arrival time, availability, other candidate scores and travel conditions can also change. An increased preference therefore does not guarantee the same venue appears on every trip.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archive SHA-256 is d57f2cb4e3afca782b54841f9152ceb32cf08984b55e17c7e60339d24473c324. The archive root is invehicle-v5_1_0 and contains 32 files. It is a buildless static web app, so end users do not need Node or an npm build. The live source checkout commit at review is 969f46468f9ed57c5e07ebd1ee016ad60e282f50. The program can use a local development server on localhost, while phone GPS and installation use secure HTTPS hosting. A new host has a new origin and does not inherit old localStorage. Use the app’s validated replacement restore for a matching route. The provided backup is a snapshot and cannot reproduce raw GPS paths because it never stored them. Current trip progress and demo receipts are transient. Reproduction steps document existing operation rather than asking the author to run more tests.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is the reviewed final source at sites/invehicle-suggestions/dist and the frozen package InVehicle_v5_1_0_MobileMap.zip. Detailed code references: prepareRoute()/distanceMetres()/tripContext()/beginLearningTrip()/recordVenueChoice()/showSuggestion() in app.js; measureCafe()/tripClockMinutes()/scoreCafe()/findLiveSuggestion()/findSuggestionBetween() in suggestion-engine.js; create()/feed() in gps-engine.js; recordFeedback()/statistics()/smartRemark() in feedback-learning.js; detectRoutines()/matchingRoutine() in routine-engine.js; catalogue()/cart()/confirm() in order-engine.js; make()/read() in history-backup.js. S2 consists of 1.png through 8.png supplied by the author. All eight are used once, in the mobile interface, alert evidence and progress slides. S3 is the supplied app export and is not a cloud database. S4 supplies the ordered route geometry. S5 is the author’s own account, not an independent participant study. No market statistics, customer-survey results, measured satisfaction gains or performance claims are introduced. OpenStreetMap attribution: https://www.openstreetmap.org/copyright. The professor-supplied Idea_Challenge_Template.pptx remains the design 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5f58f6eb874c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202bdc192746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b2f9b1f1c844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67bafca8514b7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COVER">
    <p:bg>
      <p:bgPr>
        <a:solidFill xmlns:a="http://schemas.openxmlformats.org/drawingml/2006/main">
          <a:schemeClr val="accent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B36134-7C82-4875-B7D1-7546BF4EEDAB}"/>
              </a:ext>
            </a:extLst>
          </p:cNvPr>
          <p:cNvSpPr>
            <a:spLocks xmlns:a="http://schemas.openxmlformats.org/drawingml/2006/main" noGrp="1"/>
          </p:cNvSpPr>
          <p:nvPr>
            <p:ph type="title" idx="100" hasCustomPrompt="1"/>
          </p:nvPr>
        </p:nvSpPr>
        <p:spPr>
          <a:xfrm xmlns:a="http://schemas.openxmlformats.org/drawingml/2006/main">
            <a:off x="548640" y="1691640"/>
            <a:ext cx="8046720" cy="8229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600" b="1">
                <a:solidFill>
                  <a:schemeClr val="bg1"/>
                </a:solidFill>
                <a:latin typeface="Arial"/>
                <a:ea typeface="Arial"/>
                <a:cs typeface="Arial"/>
              </a:defRPr>
            </a:lvl1pPr>
          </a:lstStyle>
          <a:p xmlns:a="http://schemas.openxmlformats.org/drawingml/2006/main">
            <a:pPr marL="0" indent="0" algn="l">
              <a:buNone/>
            </a:pPr>
            <a:r>
              <a:rPr sz="3600" b="1">
                <a:solidFill>
                  <a:schemeClr val="bg1"/>
                </a:solidFill>
                <a:latin typeface="Arial"/>
                <a:ea typeface="Arial"/>
                <a:cs typeface="Arial"/>
              </a:rPr>
              <a:t>Idea Title</a:t>
            </a:r>
            <a:endParaRPr sz="3600"/>
          </a:p>
        </p:txBody>
      </p:sp>
    </p:spTree>
  </p:cSld>
</p:sldLayout>
</file>

<file path=ppt/slideLayouts/slideLayout3.xml><?xml version="1.0" encoding="utf-8"?>
<p:sldLayout xmlns:p="http://schemas.openxmlformats.org/presentationml/2006/main" preserve="1">
  <p:cSld name="CONTEN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7C9A03-FA75-4FB4-831E-207F3C01686E}"/>
              </a:ext>
            </a:extLst>
          </p:cNvPr>
          <p:cNvSpPr>
            <a:spLocks xmlns:a="http://schemas.openxmlformats.org/drawingml/2006/main" noGrp="1"/>
          </p:cNvSpPr>
          <p:nvPr>
            <p:ph type="title" idx="100" hasCustomPrompt="1"/>
          </p:nvPr>
        </p:nvSpPr>
        <p:spPr>
          <a:xfrm xmlns:a="http://schemas.openxmlformats.org/drawingml/2006/main">
            <a:off x="1078992" y="274320"/>
            <a:ext cx="6949440" cy="4572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2400" b="1">
                <a:solidFill>
                  <a:schemeClr val="accent1"/>
                </a:solidFill>
                <a:latin typeface="Arial"/>
                <a:ea typeface="Arial"/>
                <a:cs typeface="Arial"/>
              </a:defRPr>
            </a:lvl1pPr>
          </a:lstStyle>
          <a:p xmlns:a="http://schemas.openxmlformats.org/drawingml/2006/main">
            <a:pPr marL="0" indent="0" algn="l">
              <a:buNone/>
            </a:pPr>
            <a:r>
              <a:rPr sz="2400" b="1">
                <a:solidFill>
                  <a:schemeClr val="accent1"/>
                </a:solidFill>
                <a:latin typeface="Arial"/>
                <a:ea typeface="Arial"/>
                <a:cs typeface="Arial"/>
              </a:rPr>
              <a:t>PAGE TITLE</a:t>
            </a:r>
            <a:endParaRPr sz="2400"/>
          </a:p>
        </p:txBody>
      </p:sp>
      <p:sp>
        <p:nvSpPr>
          <p:cNvPr id="3" name="Text 0">
            <a:extLst xmlns:a="http://schemas.openxmlformats.org/drawingml/2006/main">
              <a:ext uri="{FF2B5EF4-FFF2-40B4-BE49-F238E27FC236}">
                <a16:creationId xmlns:a16="http://schemas.microsoft.com/office/drawing/2014/main" id="{AFD9BF6B-E53C-40CB-B110-68D12266AB9D}"/>
              </a:ext>
            </a:extLst>
          </p:cNvPr>
          <p:cNvSpPr>
            <a:spLocks xmlns:a="http://schemas.openxmlformats.org/drawingml/2006/main" noGrp="1"/>
          </p:cNvSpPr>
          <p:nvPr/>
        </p:nvSpPr>
        <p:spPr>
          <a:xfrm xmlns:a="http://schemas.openxmlformats.org/drawingml/2006/main">
            <a:off x="457200" y="480060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chemeClr val="accent4"/>
                </a:solidFill>
              </a:rPr>
              <a:t>Hyundai CoE Mobility Innovation Ideathon</a:t>
            </a:r>
            <a:endParaRPr sz="900"/>
          </a:p>
        </p:txBody>
      </p:sp>
      <p:sp>
        <p:nvSpPr>
          <p:cNvPr id="25" name="Slide Number Placeholder 0">
            <a:extLst xmlns:a="http://schemas.openxmlformats.org/drawingml/2006/main">
              <a:ext uri="{FF2B5EF4-FFF2-40B4-BE49-F238E27FC236}">
                <a16:creationId xmlns:a16="http://schemas.microsoft.com/office/drawing/2014/main" id="{F3775ABE-2ABC-4C7B-AFF6-F1B2FF72E8E8}"/>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chemeClr val="accent4"/>
                </a:solidFill>
              </a:defRPr>
            </a:lvl1pPr>
          </a:lstStyle>
          <a:p xmlns:a="http://schemas.openxmlformats.org/drawingml/2006/main">
            <a:pPr algn="r">
              <a:buNone/>
            </a:pPr>
            <a:fld id="{F7021451-1387-4CA6-816F-3879F97B5CBC}" type="slidenum">
              <a:rPr b="0"/>
              <a:t>1003</a:t>
            </a:fld>
            <a:endParaRPr/>
          </a:p>
        </p:txBody>
      </p:sp>
    </p:spTree>
  </p:cSld>
</p:sldLayout>
</file>

<file path=ppt/slideLayouts/slideLayout4.xml><?xml version="1.0" encoding="utf-8"?>
<p:sldLayout xmlns:p="http://schemas.openxmlformats.org/presentationml/2006/main" preserve="1">
  <p:cSld name="CLOSING">
    <p:bg>
      <p:bgPr>
        <a:solidFill xmlns:a="http://schemas.openxmlformats.org/drawingml/2006/main">
          <a:schemeClr val="accent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BDE2D69-07AB-4B52-B28E-D33B0F69A98E}"/>
              </a:ext>
            </a:extLst>
          </p:cNvPr>
          <p:cNvSpPr>
            <a:spLocks xmlns:a="http://schemas.openxmlformats.org/drawingml/2006/main" noGrp="1"/>
          </p:cNvSpPr>
          <p:nvPr>
            <p:ph type="title" idx="100" hasCustomPrompt="1"/>
          </p:nvPr>
        </p:nvSpPr>
        <p:spPr>
          <a:xfrm xmlns:a="http://schemas.openxmlformats.org/drawingml/2006/main">
            <a:off x="1078992" y="274320"/>
            <a:ext cx="6949440" cy="4572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2400" b="1">
                <a:solidFill>
                  <a:schemeClr val="bg1"/>
                </a:solidFill>
                <a:latin typeface="Arial"/>
                <a:ea typeface="Arial"/>
                <a:cs typeface="Arial"/>
              </a:defRPr>
            </a:lvl1pPr>
          </a:lstStyle>
          <a:p xmlns:a="http://schemas.openxmlformats.org/drawingml/2006/main">
            <a:pPr marL="0" indent="0" algn="l">
              <a:buNone/>
            </a:pPr>
            <a:r>
              <a:rPr sz="2400" b="1">
                <a:solidFill>
                  <a:schemeClr val="bg1"/>
                </a:solidFill>
                <a:latin typeface="Arial"/>
                <a:ea typeface="Arial"/>
                <a:cs typeface="Arial"/>
              </a:rPr>
              <a:t>PAGE TITLE</a:t>
            </a:r>
            <a:endParaRPr sz="2400"/>
          </a:p>
        </p:txBody>
      </p:sp>
      <p:sp>
        <p:nvSpPr>
          <p:cNvPr id="3" name="Text 0">
            <a:extLst xmlns:a="http://schemas.openxmlformats.org/drawingml/2006/main">
              <a:ext uri="{FF2B5EF4-FFF2-40B4-BE49-F238E27FC236}">
                <a16:creationId xmlns:a16="http://schemas.microsoft.com/office/drawing/2014/main" id="{56C2278D-24FB-4B07-B9BA-A6CB37F3FBC2}"/>
              </a:ext>
            </a:extLst>
          </p:cNvPr>
          <p:cNvSpPr>
            <a:spLocks xmlns:a="http://schemas.openxmlformats.org/drawingml/2006/main" noGrp="1"/>
          </p:cNvSpPr>
          <p:nvPr/>
        </p:nvSpPr>
        <p:spPr>
          <a:xfrm xmlns:a="http://schemas.openxmlformats.org/drawingml/2006/main">
            <a:off x="457200" y="480060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B8C7DA"/>
                </a:solidFill>
              </a:rPr>
              <a:t>Hyundai CoE Mobility Innovation Ideathon</a:t>
            </a:r>
            <a:endParaRPr sz="900"/>
          </a:p>
        </p:txBody>
      </p:sp>
      <p:sp>
        <p:nvSpPr>
          <p:cNvPr id="25" name="Slide Number Placeholder 0">
            <a:extLst xmlns:a="http://schemas.openxmlformats.org/drawingml/2006/main">
              <a:ext uri="{FF2B5EF4-FFF2-40B4-BE49-F238E27FC236}">
                <a16:creationId xmlns:a16="http://schemas.microsoft.com/office/drawing/2014/main" id="{3789A1D6-DD0F-4619-B6D9-4799494E230B}"/>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B8C7DA"/>
                </a:solidFill>
              </a:defRPr>
            </a:lvl1pPr>
          </a:lstStyle>
          <a:p xmlns:a="http://schemas.openxmlformats.org/drawingml/2006/main">
            <a:pPr algn="r">
              <a:buNone/>
            </a:pPr>
            <a:fld id="{F7021451-1387-4CA6-816F-3879F97B5CBC}" type="slidenum">
              <a:rPr b="0"/>
              <a:t>1004</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89350ff67248b6" /><Relationship Type="http://schemas.openxmlformats.org/officeDocument/2006/relationships/slideLayout" Target="/ppt/slideLayouts/slideLayout1.xml" Id="R93b3062cc3084534" /><Relationship Type="http://schemas.openxmlformats.org/officeDocument/2006/relationships/slideLayout" Target="/ppt/slideLayouts/slideLayout2.xml" Id="R2727f6a7307746d2" /><Relationship Type="http://schemas.openxmlformats.org/officeDocument/2006/relationships/slideLayout" Target="/ppt/slideLayouts/slideLayout3.xml" Id="Rb439abb7c4a7469a" /><Relationship Type="http://schemas.openxmlformats.org/officeDocument/2006/relationships/slideLayout" Target="/ppt/slideLayouts/slideLayout4.xml" Id="R446bd93c6d1e429e"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41BF43C7-3133-48AC-AC28-BCECF2D16531}"/>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chemeClr val="accent4"/>
                </a:solidFil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b3062cc3084534"/>
    <p:sldLayoutId xmlns:r="http://schemas.openxmlformats.org/officeDocument/2006/relationships" id="2147483650" r:id="R2727f6a7307746d2"/>
    <p:sldLayoutId xmlns:r="http://schemas.openxmlformats.org/officeDocument/2006/relationships" id="2147483651" r:id="Rb439abb7c4a7469a"/>
    <p:sldLayoutId xmlns:r="http://schemas.openxmlformats.org/officeDocument/2006/relationships" id="2147483652" r:id="R446bd93c6d1e429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Hyundai CI">
  <a:themeElements>
    <a:clrScheme name="Hyundai CI">
      <a:dk1>
        <a:srgbClr val="1C1B1B"/>
      </a:dk1>
      <a:lt1>
        <a:srgbClr val="FFFFFF"/>
      </a:lt1>
      <a:dk2>
        <a:srgbClr val="002C5F"/>
      </a:dk2>
      <a:lt2>
        <a:srgbClr val="F6F3F2"/>
      </a:lt2>
      <a:accent1>
        <a:srgbClr val="002C5F"/>
      </a:accent1>
      <a:accent2>
        <a:srgbClr val="00AAD2"/>
      </a:accent2>
      <a:accent3>
        <a:srgbClr val="E4DCD3"/>
      </a:accent3>
      <a:accent4>
        <a:srgbClr val="6E6E6E"/>
      </a:accent4>
      <a:accent5>
        <a:srgbClr val="0A3D78"/>
      </a:accent5>
      <a:accent6>
        <a:srgbClr val="D9D2CA"/>
      </a:accent6>
      <a:hlink>
        <a:srgbClr val="00AAD2"/>
      </a:hlink>
      <a:folHlink>
        <a:srgbClr val="002C5F"/>
      </a:folHlink>
    </a:clrScheme>
    <a:fontScheme name="Hyundai C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undai CI">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6a7c80420764237" /><Relationship Type="http://schemas.openxmlformats.org/officeDocument/2006/relationships/notesSlide" Target="/ppt/notesSlides/notesSlide1.xml" Id="R47335565d4ee49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0cc59b354db245d2" /><Relationship Type="http://schemas.openxmlformats.org/officeDocument/2006/relationships/notesSlide" Target="/ppt/notesSlides/notesSlide2.xml" Id="R30842ed1923941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f80765ede8494829" /><Relationship Type="http://schemas.openxmlformats.org/officeDocument/2006/relationships/notesSlide" Target="/ppt/notesSlides/notesSlide3.xml" Id="Rbcb66815204149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78543e0afc844875" /><Relationship Type="http://schemas.openxmlformats.org/officeDocument/2006/relationships/notesSlide" Target="/ppt/notesSlides/notesSlide4.xml" Id="R54d145c6c06c49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6e56ab0c0da4358" /><Relationship Type="http://schemas.openxmlformats.org/officeDocument/2006/relationships/notesSlide" Target="/ppt/notesSlides/notesSlide5.xml" Id="R47fda92de6f742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3a1331d9b22d454d" /><Relationship Type="http://schemas.openxmlformats.org/officeDocument/2006/relationships/notesSlide" Target="/ppt/notesSlides/notesSlide6.xml" Id="Rea6608efcd7144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d1c80f356c2b483b" /><Relationship Type="http://schemas.openxmlformats.org/officeDocument/2006/relationships/notesSlide" Target="/ppt/notesSlides/notesSlide7.xml" Id="R37b3f9dd157248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3129cf2554da4ecf" /><Relationship Type="http://schemas.openxmlformats.org/officeDocument/2006/relationships/notesSlide" Target="/ppt/notesSlides/notesSlide8.xml" Id="Rb7d5cc83c0e94c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ba22d9d2f4664983" /><Relationship Type="http://schemas.openxmlformats.org/officeDocument/2006/relationships/notesSlide" Target="/ppt/notesSlides/notesSlide9.xml" Id="R3d29f17cdbda47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47205640a3a748e1" /><Relationship Type="http://schemas.openxmlformats.org/officeDocument/2006/relationships/notesSlide" Target="/ppt/notesSlides/notesSlide10.xml" Id="R5b4f850b090148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0c553971784b44dd" /><Relationship Type="http://schemas.openxmlformats.org/officeDocument/2006/relationships/notesSlide" Target="/ppt/notesSlides/notesSlide11.xml" Id="R4421587e04714d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0435e591f4f24e9b" /><Relationship Type="http://schemas.openxmlformats.org/officeDocument/2006/relationships/notesSlide" Target="/ppt/notesSlides/notesSlide12.xml" Id="R78cf2754fab74b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6faf8150a9a24fff" /><Relationship Type="http://schemas.openxmlformats.org/officeDocument/2006/relationships/notesSlide" Target="/ppt/notesSlides/notesSlide13.xml" Id="R5b5ba825dc0f48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5948218b1ec14a75" /><Relationship Type="http://schemas.openxmlformats.org/officeDocument/2006/relationships/chart" Target="/ppt/slides/charts/chart1.xml" Id="Reec536e521554042" /><Relationship Type="http://schemas.openxmlformats.org/officeDocument/2006/relationships/notesSlide" Target="/ppt/notesSlides/notesSlide14.xml" Id="R19bd944afed248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8d359508795e4390" /><Relationship Type="http://schemas.openxmlformats.org/officeDocument/2006/relationships/notesSlide" Target="/ppt/notesSlides/notesSlide15.xml" Id="R37285f08d8f14c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77c93b17bbed4427" /><Relationship Type="http://schemas.openxmlformats.org/officeDocument/2006/relationships/notesSlide" Target="/ppt/notesSlides/notesSlide16.xml" Id="R53d44aa85bf94c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9cc6afbc76c24b2b" /><Relationship Type="http://schemas.openxmlformats.org/officeDocument/2006/relationships/image" Target="/ppt/media/image.png" Id="R182a55be785b43c0" /><Relationship Type="http://schemas.openxmlformats.org/officeDocument/2006/relationships/notesSlide" Target="/ppt/notesSlides/notesSlide17.xml" Id="R8ea433c806944f3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2d2c5896af394a75" /><Relationship Type="http://schemas.openxmlformats.org/officeDocument/2006/relationships/image" Target="/ppt/media/image2.png" Id="Rf20e2f5eec52464e" /><Relationship Type="http://schemas.openxmlformats.org/officeDocument/2006/relationships/image" Target="/ppt/media/image3.png" Id="Rc6ae5a5cdca84611" /><Relationship Type="http://schemas.openxmlformats.org/officeDocument/2006/relationships/notesSlide" Target="/ppt/notesSlides/notesSlide18.xml" Id="R4752f7163fda45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7c4b10e5c0204a8f" /><Relationship Type="http://schemas.openxmlformats.org/officeDocument/2006/relationships/image" Target="/ppt/media/image4.png" Id="R9e57a27f7a894db5" /><Relationship Type="http://schemas.openxmlformats.org/officeDocument/2006/relationships/image" Target="/ppt/media/image5.png" Id="Rc569f0fdd1e64a7d" /><Relationship Type="http://schemas.openxmlformats.org/officeDocument/2006/relationships/image" Target="/ppt/media/image6.png" Id="Rfc190db1e1ca4feb" /><Relationship Type="http://schemas.openxmlformats.org/officeDocument/2006/relationships/image" Target="/ppt/media/image7.png" Id="R6638480898274fba" /><Relationship Type="http://schemas.openxmlformats.org/officeDocument/2006/relationships/image" Target="/ppt/media/image8.png" Id="R0f1ab64c61064a06" /><Relationship Type="http://schemas.openxmlformats.org/officeDocument/2006/relationships/notesSlide" Target="/ppt/notesSlides/notesSlide19.xml" Id="R0cea7843f14f4b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9f4966c3b02a45e4" /><Relationship Type="http://schemas.openxmlformats.org/officeDocument/2006/relationships/notesSlide" Target="/ppt/notesSlides/notesSlide20.xml" Id="R11766a2fddcc422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8c914a0cad6c4424" /><Relationship Type="http://schemas.openxmlformats.org/officeDocument/2006/relationships/notesSlide" Target="/ppt/notesSlides/notesSlide21.xml" Id="Rc506c97e7a274c4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8c546c9b295f4d2d" /><Relationship Type="http://schemas.openxmlformats.org/officeDocument/2006/relationships/notesSlide" Target="/ppt/notesSlides/notesSlide22.xml" Id="Rb621cc934b0847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aa361488802a4632" /><Relationship Type="http://schemas.openxmlformats.org/officeDocument/2006/relationships/notesSlide" Target="/ppt/notesSlides/notesSlide23.xml" Id="R755430bb71c048d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9cc00eb25f944ffe" /><Relationship Type="http://schemas.openxmlformats.org/officeDocument/2006/relationships/notesSlide" Target="/ppt/notesSlides/notesSlide24.xml" Id="R5784002c888b46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1ab5c80c91a9444b" /><Relationship Type="http://schemas.openxmlformats.org/officeDocument/2006/relationships/notesSlide" Target="/ppt/notesSlides/notesSlide25.xml" Id="Re3cbb9e7f6a24c8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5bfd109c2fa9490d" /><Relationship Type="http://schemas.openxmlformats.org/officeDocument/2006/relationships/notesSlide" Target="/ppt/notesSlides/notesSlide26.xml" Id="R81457472fc0045f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f9ea1c279834408b" /><Relationship Type="http://schemas.openxmlformats.org/officeDocument/2006/relationships/notesSlide" Target="/ppt/notesSlides/notesSlide27.xml" Id="R45a2ea8fc09245c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3.xml" Id="R4582795277b84671" /><Relationship Type="http://schemas.openxmlformats.org/officeDocument/2006/relationships/notesSlide" Target="/ppt/notesSlides/notesSlide28.xml" Id="R22a1bdbed1114d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a:solidFill>
                  <a:srgbClr val="002C5F"/>
                </a:solidFill>
                <a:latin typeface="Arial"/>
                <a:ea typeface="Arial"/>
                <a:cs typeface="Arial"/>
              </a:rPr>
              <a:t>Illustration: feedback on the same venue</a:t>
            </a:r>
          </a:p>
        </c:rich>
      </c:tx>
      <c:overlay val="0"/>
      <c:txPr>
        <a:bodyPr xmlns:a="http://schemas.openxmlformats.org/drawingml/2006/main" anchorCtr="1"/>
        <a:lstStyle xmlns:a="http://schemas.openxmlformats.org/drawingml/2006/main"/>
        <a:p xmlns:a="http://schemas.openxmlformats.org/drawingml/2006/main">
          <a:pPr>
            <a:defRPr sz="1125">
              <a:solidFill>
                <a:srgbClr val="002C5F"/>
              </a:solidFill>
              <a:latin typeface="Arial"/>
              <a:ea typeface="Arial"/>
              <a:cs typeface="Arial"/>
            </a:defRPr>
          </a:pPr>
        </a:p>
      </c:txPr>
    </c:title>
    <c:plotArea>
      <c:lineChart>
        <c:grouping val="standard"/>
        <c:varyColors val="0"/>
        <c:ser>
          <c:idx val="0"/>
          <c:order val="0"/>
          <c:tx>
            <c:v>Accept</c:v>
          </c:tx>
          <c:spPr>
            <a:ln xmlns:a="http://schemas.openxmlformats.org/drawingml/2006/main" w="23813">
              <a:solidFill>
                <a:srgbClr val="00AAD2"/>
              </a:solidFill>
              <a:prstDash val="solid"/>
            </a:ln>
          </c:spPr>
          <c:marker>
            <c:symbol val="circle"/>
            <c:size val="5"/>
            <c:spPr>
              <a:solidFill xmlns:a="http://schemas.openxmlformats.org/drawingml/2006/main">
                <a:srgbClr val="00AAD2"/>
              </a:solidFill>
              <a:ln xmlns:a="http://schemas.openxmlformats.org/drawingml/2006/main" w="0">
                <a:noFill/>
                <a:prstDash val="solid"/>
              </a:ln>
            </c:spPr>
          </c:marker>
          <c:cat>
            <c:strRef>
              <c:f>'Chart Data'!$A$2:$A$5</c:f>
              <c:strCache>
                <c:ptCount val="4"/>
                <c:pt idx="0">
                  <c:v>Initial</c:v>
                </c:pt>
                <c:pt idx="1">
                  <c:v>Trip 1</c:v>
                </c:pt>
                <c:pt idx="2">
                  <c:v>Trip 2</c:v>
                </c:pt>
                <c:pt idx="3">
                  <c:v>Trip 3</c:v>
                </c:pt>
              </c:strCache>
            </c:strRef>
          </c:cat>
          <c:val>
            <c:numRef>
              <c:f>'Chart Data'!$B$2:$B$5</c:f>
              <c:numCache>
                <c:formatCode>0.00</c:formatCode>
                <c:ptCount val="4"/>
                <c:pt idx="0">
                  <c:v>0.5</c:v>
                </c:pt>
                <c:pt idx="1">
                  <c:v>0.6</c:v>
                </c:pt>
                <c:pt idx="2">
                  <c:v>0.7</c:v>
                </c:pt>
                <c:pt idx="3">
                  <c:v>0.8</c:v>
                </c:pt>
              </c:numCache>
            </c:numRef>
          </c:val>
        </c:ser>
        <c:ser>
          <c:idx val="1"/>
          <c:order val="1"/>
          <c:tx>
            <c:v>Reject</c:v>
          </c:tx>
          <c:spPr>
            <a:ln xmlns:a="http://schemas.openxmlformats.org/drawingml/2006/main" w="21908">
              <a:solidFill>
                <a:srgbClr val="AD5145"/>
              </a:solidFill>
              <a:prstDash val="solid"/>
            </a:ln>
          </c:spPr>
          <c:marker>
            <c:symbol val="circle"/>
            <c:size val="5"/>
            <c:spPr>
              <a:solidFill xmlns:a="http://schemas.openxmlformats.org/drawingml/2006/main">
                <a:srgbClr val="AD5145"/>
              </a:solidFill>
              <a:ln xmlns:a="http://schemas.openxmlformats.org/drawingml/2006/main" w="0">
                <a:noFill/>
                <a:prstDash val="solid"/>
              </a:ln>
            </c:spPr>
          </c:marker>
          <c:cat>
            <c:strRef>
              <c:f>'Chart Data'!$C$2:$C$5</c:f>
              <c:strCache>
                <c:ptCount val="4"/>
                <c:pt idx="0">
                  <c:v>Initial</c:v>
                </c:pt>
                <c:pt idx="1">
                  <c:v>Trip 1</c:v>
                </c:pt>
                <c:pt idx="2">
                  <c:v>Trip 2</c:v>
                </c:pt>
                <c:pt idx="3">
                  <c:v>Trip 3</c:v>
                </c:pt>
              </c:strCache>
            </c:strRef>
          </c:cat>
          <c:val>
            <c:numRef>
              <c:f>'Chart Data'!$D$2:$D$5</c:f>
              <c:numCache>
                <c:formatCode>0.00</c:formatCode>
                <c:ptCount val="4"/>
                <c:pt idx="0">
                  <c:v>0.5</c:v>
                </c:pt>
                <c:pt idx="1">
                  <c:v>0.45</c:v>
                </c:pt>
                <c:pt idx="2">
                  <c:v>0.4</c:v>
                </c:pt>
                <c:pt idx="3">
                  <c:v>0.35</c:v>
                </c:pt>
              </c:numCache>
            </c:numRef>
          </c:val>
        </c:ser>
        <c:ser>
          <c:idx val="2"/>
          <c:order val="2"/>
          <c:tx>
            <c:v>Dismiss</c:v>
          </c:tx>
          <c:spPr>
            <a:ln xmlns:a="http://schemas.openxmlformats.org/drawingml/2006/main" w="15240">
              <a:solidFill>
                <a:srgbClr val="626B73"/>
              </a:solidFill>
              <a:prstDash val="dash"/>
            </a:ln>
          </c:spPr>
          <c:marker>
            <c:symbol val="circle"/>
            <c:size val="4"/>
            <c:spPr>
              <a:solidFill xmlns:a="http://schemas.openxmlformats.org/drawingml/2006/main">
                <a:srgbClr val="626B73"/>
              </a:solidFill>
              <a:ln xmlns:a="http://schemas.openxmlformats.org/drawingml/2006/main" w="0">
                <a:noFill/>
                <a:prstDash val="solid"/>
              </a:ln>
            </c:spPr>
          </c:marker>
          <c:cat>
            <c:strRef>
              <c:f>'Chart Data'!$E$2:$E$5</c:f>
              <c:strCache>
                <c:ptCount val="4"/>
                <c:pt idx="0">
                  <c:v>Initial</c:v>
                </c:pt>
                <c:pt idx="1">
                  <c:v>Trip 1</c:v>
                </c:pt>
                <c:pt idx="2">
                  <c:v>Trip 2</c:v>
                </c:pt>
                <c:pt idx="3">
                  <c:v>Trip 3</c:v>
                </c:pt>
              </c:strCache>
            </c:strRef>
          </c:cat>
          <c:val>
            <c:numRef>
              <c:f>'Chart Data'!$F$2:$F$5</c:f>
              <c:numCache>
                <c:formatCode>0.00</c:formatCode>
                <c:ptCount val="4"/>
                <c:pt idx="0">
                  <c:v>0.5</c:v>
                </c:pt>
                <c:pt idx="1">
                  <c:v>0.5</c:v>
                </c:pt>
                <c:pt idx="2">
                  <c:v>0.5</c:v>
                </c:pt>
                <c:pt idx="3">
                  <c:v>0.5</c:v>
                </c:pt>
              </c:numCache>
            </c:numRef>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AD2DA"/>
            </a:solidFill>
            <a:prstDash val="solid"/>
          </a:ln>
        </c:spPr>
        <c:txPr>
          <a:bodyPr xmlns:a="http://schemas.openxmlformats.org/drawingml/2006/main" anchorCtr="1"/>
          <a:lstStyle xmlns:a="http://schemas.openxmlformats.org/drawingml/2006/main"/>
          <a:p xmlns:a="http://schemas.openxmlformats.org/drawingml/2006/main">
            <a:pPr>
              <a:defRPr sz="975">
                <a:solidFill>
                  <a:srgbClr val="002C5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7620">
              <a:solidFill>
                <a:srgbClr val="DADFE3"/>
              </a:solidFill>
              <a:prstDash val="solid"/>
            </a:ln>
          </c:spPr>
        </c:majorGridlines>
        <c:numFmt formatCode="0.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00">
                <a:solidFill>
                  <a:srgbClr val="626B73"/>
                </a:solidFill>
                <a:latin typeface="Arial"/>
                <a:ea typeface="Arial"/>
                <a:cs typeface="Arial"/>
              </a:defRPr>
            </a:pPr>
          </a:p>
        </c:txPr>
        <c:crossAx val="48650112"/>
        <c:crossBetween val="between"/>
        <c:majorUnit val="0.25"/>
      </c:valAx>
      <c:spPr>
        <a:solidFill xmlns:a="http://schemas.openxmlformats.org/drawingml/2006/main">
          <a:srgbClr val="F6F3F2"/>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002C5F"/>
              </a:solidFill>
              <a:latin typeface="Arial"/>
              <a:ea typeface="Arial"/>
              <a:cs typeface="Arial"/>
            </a:defRPr>
          </a:pPr>
        </a:p>
      </c:txPr>
    </c:legend>
    <c:plotVisOnly val="1"/>
  </c:chart>
  <c:spPr>
    <a:solidFill xmlns:a="http://schemas.openxmlformats.org/drawingml/2006/main">
      <a:srgbClr val="F6F3F2"/>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ext 1">
            <a:extLst xmlns:a="http://schemas.openxmlformats.org/drawingml/2006/main">
              <a:ext uri="{FF2B5EF4-FFF2-40B4-BE49-F238E27FC236}">
                <a16:creationId xmlns:a16="http://schemas.microsoft.com/office/drawing/2014/main" id="{E2C8CEF2-3092-47FF-AD50-0DC5188AB25C}"/>
              </a:ext>
            </a:extLst>
          </p:cNvPr>
          <p:cNvSpPr>
            <a:spLocks xmlns:a="http://schemas.openxmlformats.org/drawingml/2006/main" noGrp="1"/>
          </p:cNvSpPr>
          <p:nvPr/>
        </p:nvSpPr>
        <p:spPr>
          <a:xfrm xmlns:a="http://schemas.openxmlformats.org/drawingml/2006/main">
            <a:off x="548640" y="466725"/>
            <a:ext cx="333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B8C7DA"/>
                </a:solidFill>
                <a:latin typeface="Arial"/>
                <a:ea typeface="Arial"/>
                <a:cs typeface="Arial"/>
              </a:defRPr>
            </a:defPPr>
            <a:lvl1pPr algn="l">
              <a:defRPr sz="1300" b="1">
                <a:solidFill>
                  <a:srgbClr val="B8C7DA"/>
                </a:solidFill>
                <a:latin typeface="Arial"/>
                <a:ea typeface="Arial"/>
                <a:cs typeface="Arial"/>
              </a:defRPr>
            </a:lvl1pPr>
            <a:lvl2pPr algn="l">
              <a:defRPr sz="1300" b="1">
                <a:solidFill>
                  <a:srgbClr val="B8C7DA"/>
                </a:solidFill>
                <a:latin typeface="Arial"/>
                <a:ea typeface="Arial"/>
                <a:cs typeface="Arial"/>
              </a:defRPr>
            </a:lvl2pPr>
            <a:lvl3pPr algn="l">
              <a:defRPr sz="1300" b="1">
                <a:solidFill>
                  <a:srgbClr val="B8C7DA"/>
                </a:solidFill>
                <a:latin typeface="Arial"/>
                <a:ea typeface="Arial"/>
                <a:cs typeface="Arial"/>
              </a:defRPr>
            </a:lvl3pPr>
            <a:lvl4pPr algn="l">
              <a:defRPr sz="1300" b="1">
                <a:solidFill>
                  <a:srgbClr val="B8C7DA"/>
                </a:solidFill>
                <a:latin typeface="Arial"/>
                <a:ea typeface="Arial"/>
                <a:cs typeface="Arial"/>
              </a:defRPr>
            </a:lvl4pPr>
            <a:lvl5pPr algn="l">
              <a:defRPr sz="1300" b="1">
                <a:solidFill>
                  <a:srgbClr val="B8C7DA"/>
                </a:solidFill>
                <a:latin typeface="Arial"/>
                <a:ea typeface="Arial"/>
                <a:cs typeface="Arial"/>
              </a:defRPr>
            </a:lvl5pPr>
            <a:lvl6pPr algn="l">
              <a:defRPr sz="1300" b="1">
                <a:solidFill>
                  <a:srgbClr val="B8C7DA"/>
                </a:solidFill>
                <a:latin typeface="Arial"/>
                <a:ea typeface="Arial"/>
                <a:cs typeface="Arial"/>
              </a:defRPr>
            </a:lvl6pPr>
            <a:lvl7pPr algn="l">
              <a:defRPr sz="1300" b="1">
                <a:solidFill>
                  <a:srgbClr val="B8C7DA"/>
                </a:solidFill>
                <a:latin typeface="Arial"/>
                <a:ea typeface="Arial"/>
                <a:cs typeface="Arial"/>
              </a:defRPr>
            </a:lvl7pPr>
            <a:lvl8pPr algn="l">
              <a:defRPr sz="1300" b="1">
                <a:solidFill>
                  <a:srgbClr val="B8C7DA"/>
                </a:solidFill>
                <a:latin typeface="Arial"/>
                <a:ea typeface="Arial"/>
                <a:cs typeface="Arial"/>
              </a:defRPr>
            </a:lvl8pPr>
            <a:lvl9pPr algn="l">
              <a:defRPr sz="1300" b="1">
                <a:solidFill>
                  <a:srgbClr val="B8C7DA"/>
                </a:solidFill>
                <a:latin typeface="Arial"/>
                <a:ea typeface="Arial"/>
                <a:cs typeface="Arial"/>
              </a:defRPr>
            </a:lvl9pPr>
          </a:lstStyle>
          <a:p xmlns:a="http://schemas.openxmlformats.org/drawingml/2006/main">
            <a:pPr marL="0" indent="0" algn="l">
              <a:buNone/>
              <a:defRPr sz="1300" b="1">
                <a:solidFill>
                  <a:srgbClr val="B8C7DA"/>
                </a:solidFill>
                <a:latin typeface="Arial"/>
                <a:ea typeface="Arial"/>
                <a:cs typeface="Arial"/>
              </a:defRPr>
            </a:pPr>
            <a:r>
              <a:rPr sz="1300" b="1" spc="200">
                <a:solidFill>
                  <a:srgbClr val="B8C7DA"/>
                </a:solidFill>
                <a:latin typeface="Arial"/>
                <a:ea typeface="Arial"/>
                <a:cs typeface="Arial"/>
              </a:rPr>
              <a:t>IIT DELHI</a:t>
            </a:r>
            <a:endParaRPr sz="1000"/>
          </a:p>
        </p:txBody>
      </p:sp>
      <p:sp>
        <p:nvSpPr>
          <p:cNvPr id="5" name="Shape 2">
            <a:extLst xmlns:a="http://schemas.openxmlformats.org/drawingml/2006/main">
              <a:ext uri="{FF2B5EF4-FFF2-40B4-BE49-F238E27FC236}">
                <a16:creationId xmlns:a16="http://schemas.microsoft.com/office/drawing/2014/main" id="{66902D71-EEA4-42B4-9F19-E159F0A61C37}"/>
              </a:ext>
            </a:extLst>
          </p:cNvPr>
          <p:cNvSpPr>
            <a:spLocks xmlns:a="http://schemas.openxmlformats.org/drawingml/2006/main" noGrp="1"/>
          </p:cNvSpPr>
          <p:nvPr/>
        </p:nvSpPr>
        <p:spPr>
          <a:xfrm xmlns:a="http://schemas.openxmlformats.org/drawingml/2006/main">
            <a:off x="548640" y="1234440"/>
            <a:ext cx="1188720" cy="310896"/>
          </a:xfrm>
          <a:prstGeom xmlns:a="http://schemas.openxmlformats.org/drawingml/2006/main" prst="roundRect">
            <a:avLst>
              <a:gd name="adj" fmla="val 50000"/>
            </a:avLst>
          </a:prstGeom>
          <a:solidFill xmlns:a="http://schemas.openxmlformats.org/drawingml/2006/main">
            <a:schemeClr val="accent2"/>
          </a:solidFill>
        </p:spPr>
      </p:sp>
      <p:sp>
        <p:nvSpPr>
          <p:cNvPr id="6" name="Text 3">
            <a:extLst xmlns:a="http://schemas.openxmlformats.org/drawingml/2006/main">
              <a:ext uri="{FF2B5EF4-FFF2-40B4-BE49-F238E27FC236}">
                <a16:creationId xmlns:a16="http://schemas.microsoft.com/office/drawing/2014/main" id="{10F45A0C-A850-46B8-B9CC-32F139E14770}"/>
              </a:ext>
            </a:extLst>
          </p:cNvPr>
          <p:cNvSpPr>
            <a:spLocks xmlns:a="http://schemas.openxmlformats.org/drawingml/2006/main" noGrp="1"/>
          </p:cNvSpPr>
          <p:nvPr/>
        </p:nvSpPr>
        <p:spPr>
          <a:xfrm xmlns:a="http://schemas.openxmlformats.org/drawingml/2006/main">
            <a:off x="548640" y="1234440"/>
            <a:ext cx="1188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marL="0" indent="0" algn="ctr">
              <a:buNone/>
              <a:defRPr sz="1000" b="1">
                <a:solidFill>
                  <a:srgbClr val="FFFFFF"/>
                </a:solidFill>
                <a:latin typeface="Arial"/>
                <a:ea typeface="Arial"/>
                <a:cs typeface="Arial"/>
              </a:defRPr>
            </a:pPr>
            <a:r>
              <a:rPr sz="1000" b="1">
                <a:solidFill>
                  <a:srgbClr val="FFFFFF"/>
                </a:solidFill>
                <a:latin typeface="Arial"/>
                <a:ea typeface="Arial"/>
                <a:cs typeface="Arial"/>
              </a:rPr>
              <a:t>TRACK B</a:t>
            </a:r>
            <a:endParaRPr sz="1000"/>
          </a:p>
        </p:txBody>
      </p:sp>
      <p:sp>
        <p:nvSpPr>
          <p:cNvPr id="7" name="Text 4">
            <a:extLst xmlns:a="http://schemas.openxmlformats.org/drawingml/2006/main">
              <a:ext uri="{FF2B5EF4-FFF2-40B4-BE49-F238E27FC236}">
                <a16:creationId xmlns:a16="http://schemas.microsoft.com/office/drawing/2014/main" id="{D5417C13-7E7C-407A-910A-37B80CBF3D15}"/>
              </a:ext>
            </a:extLst>
          </p:cNvPr>
          <p:cNvSpPr>
            <a:spLocks xmlns:a="http://schemas.openxmlformats.org/drawingml/2006/main" noGrp="1"/>
          </p:cNvSpPr>
          <p:nvPr/>
        </p:nvSpPr>
        <p:spPr>
          <a:xfrm xmlns:a="http://schemas.openxmlformats.org/drawingml/2006/main">
            <a:off x="1874520" y="1276350"/>
            <a:ext cx="65722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200">
                <a:solidFill>
                  <a:srgbClr val="B8C7DA"/>
                </a:solidFill>
                <a:latin typeface="Arial"/>
                <a:ea typeface="Arial"/>
                <a:cs typeface="Arial"/>
              </a:defRPr>
            </a:defPPr>
            <a:lvl1pPr>
              <a:defRPr sz="1200">
                <a:solidFill>
                  <a:srgbClr val="B8C7DA"/>
                </a:solidFill>
                <a:latin typeface="Arial"/>
                <a:ea typeface="Arial"/>
                <a:cs typeface="Arial"/>
              </a:defRPr>
            </a:lvl1pPr>
            <a:lvl2pPr>
              <a:defRPr sz="1200">
                <a:solidFill>
                  <a:srgbClr val="B8C7DA"/>
                </a:solidFill>
                <a:latin typeface="Arial"/>
                <a:ea typeface="Arial"/>
                <a:cs typeface="Arial"/>
              </a:defRPr>
            </a:lvl2pPr>
            <a:lvl3pPr>
              <a:defRPr sz="1200">
                <a:solidFill>
                  <a:srgbClr val="B8C7DA"/>
                </a:solidFill>
                <a:latin typeface="Arial"/>
                <a:ea typeface="Arial"/>
                <a:cs typeface="Arial"/>
              </a:defRPr>
            </a:lvl3pPr>
            <a:lvl4pPr>
              <a:defRPr sz="1200">
                <a:solidFill>
                  <a:srgbClr val="B8C7DA"/>
                </a:solidFill>
                <a:latin typeface="Arial"/>
                <a:ea typeface="Arial"/>
                <a:cs typeface="Arial"/>
              </a:defRPr>
            </a:lvl4pPr>
            <a:lvl5pPr>
              <a:defRPr sz="1200">
                <a:solidFill>
                  <a:srgbClr val="B8C7DA"/>
                </a:solidFill>
                <a:latin typeface="Arial"/>
                <a:ea typeface="Arial"/>
                <a:cs typeface="Arial"/>
              </a:defRPr>
            </a:lvl5pPr>
            <a:lvl6pPr>
              <a:defRPr sz="1200">
                <a:solidFill>
                  <a:srgbClr val="B8C7DA"/>
                </a:solidFill>
                <a:latin typeface="Arial"/>
                <a:ea typeface="Arial"/>
                <a:cs typeface="Arial"/>
              </a:defRPr>
            </a:lvl6pPr>
            <a:lvl7pPr>
              <a:defRPr sz="1200">
                <a:solidFill>
                  <a:srgbClr val="B8C7DA"/>
                </a:solidFill>
                <a:latin typeface="Arial"/>
                <a:ea typeface="Arial"/>
                <a:cs typeface="Arial"/>
              </a:defRPr>
            </a:lvl7pPr>
            <a:lvl8pPr>
              <a:defRPr sz="1200">
                <a:solidFill>
                  <a:srgbClr val="B8C7DA"/>
                </a:solidFill>
                <a:latin typeface="Arial"/>
                <a:ea typeface="Arial"/>
                <a:cs typeface="Arial"/>
              </a:defRPr>
            </a:lvl8pPr>
            <a:lvl9pPr>
              <a:defRPr sz="1200">
                <a:solidFill>
                  <a:srgbClr val="B8C7DA"/>
                </a:solidFill>
                <a:latin typeface="Arial"/>
                <a:ea typeface="Arial"/>
                <a:cs typeface="Arial"/>
              </a:defRPr>
            </a:lvl9pPr>
          </a:lstStyle>
          <a:p xmlns:a="http://schemas.openxmlformats.org/drawingml/2006/main">
            <a:pPr marL="0" indent="0">
              <a:buNone/>
              <a:defRPr sz="1200">
                <a:solidFill>
                  <a:srgbClr val="B8C7DA"/>
                </a:solidFill>
                <a:latin typeface="Arial"/>
                <a:ea typeface="Arial"/>
                <a:cs typeface="Arial"/>
              </a:defRPr>
            </a:pPr>
            <a:r>
              <a:rPr sz="1200">
                <a:solidFill>
                  <a:srgbClr val="B8C7DA"/>
                </a:solidFill>
                <a:latin typeface="Arial"/>
                <a:ea typeface="Arial"/>
                <a:cs typeface="Arial"/>
              </a:rPr>
              <a:t>AI powered &amp; Digital In-Vehicle Experience</a:t>
            </a:r>
            <a:endParaRPr sz="1200"/>
          </a:p>
        </p:txBody>
      </p:sp>
      <p:sp>
        <p:nvSpPr>
          <p:cNvPr id="8" name="Text 0">
            <a:extLst xmlns:a="http://schemas.openxmlformats.org/drawingml/2006/main">
              <a:ext uri="{FF2B5EF4-FFF2-40B4-BE49-F238E27FC236}">
                <a16:creationId xmlns:a16="http://schemas.microsoft.com/office/drawing/2014/main" id="{93476E67-D7A0-4874-AB70-EDC51B3B4ACE}"/>
              </a:ext>
            </a:extLst>
          </p:cNvPr>
          <p:cNvSpPr>
            <a:spLocks xmlns:a="http://schemas.openxmlformats.org/drawingml/2006/main" noGrp="1"/>
          </p:cNvSpPr>
          <p:nvPr>
            <p:ph type="title" idx="100" hasCustomPrompt="1"/>
          </p:nvPr>
        </p:nvSpPr>
        <p:spPr>
          <a:xfrm xmlns:a="http://schemas.openxmlformats.org/drawingml/2006/main">
            <a:off x="548640" y="1752600"/>
            <a:ext cx="7810500" cy="6667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marL="0" indent="0" algn="l">
              <a:buNone/>
              <a:defRPr sz="3450" b="1">
                <a:solidFill>
                  <a:srgbClr val="FFFFFF"/>
                </a:solidFill>
                <a:latin typeface="Arial"/>
                <a:ea typeface="Arial"/>
                <a:cs typeface="Arial"/>
              </a:defRPr>
            </a:pPr>
            <a:r>
              <a:rPr sz="3450" b="1">
                <a:solidFill>
                  <a:srgbClr val="FFFFFF"/>
                </a:solidFill>
                <a:latin typeface="Arial"/>
                <a:ea typeface="Arial"/>
                <a:cs typeface="Arial"/>
              </a:rPr>
              <a:t>Raaste Mein</a:t>
            </a:r>
            <a:endParaRPr sz="3600"/>
          </a:p>
        </p:txBody>
      </p:sp>
      <p:sp>
        <p:nvSpPr>
          <p:cNvPr id="9" name="One-line Definition">
            <a:extLst xmlns:a="http://schemas.openxmlformats.org/drawingml/2006/main">
              <a:ext uri="{FF2B5EF4-FFF2-40B4-BE49-F238E27FC236}">
                <a16:creationId xmlns:a16="http://schemas.microsoft.com/office/drawing/2014/main" id="{1EF3663D-2343-49A0-9D62-33B322FE0FDB}"/>
              </a:ext>
            </a:extLst>
          </p:cNvPr>
          <p:cNvSpPr>
            <a:spLocks xmlns:a="http://schemas.openxmlformats.org/drawingml/2006/main" noGrp="1"/>
          </p:cNvSpPr>
          <p:nvPr/>
        </p:nvSpPr>
        <p:spPr>
          <a:xfrm xmlns:a="http://schemas.openxmlformats.org/drawingml/2006/main">
            <a:off x="548640" y="2543175"/>
            <a:ext cx="78105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100">
                <a:solidFill>
                  <a:srgbClr val="00AAD2"/>
                </a:solidFill>
                <a:latin typeface="Arial"/>
                <a:ea typeface="Arial"/>
                <a:cs typeface="Arial"/>
              </a:defRPr>
            </a:defPPr>
            <a:lvl1pPr>
              <a:defRPr sz="2100">
                <a:solidFill>
                  <a:srgbClr val="00AAD2"/>
                </a:solidFill>
                <a:latin typeface="Arial"/>
                <a:ea typeface="Arial"/>
                <a:cs typeface="Arial"/>
              </a:defRPr>
            </a:lvl1pPr>
            <a:lvl2pPr>
              <a:defRPr sz="2100">
                <a:solidFill>
                  <a:srgbClr val="00AAD2"/>
                </a:solidFill>
                <a:latin typeface="Arial"/>
                <a:ea typeface="Arial"/>
                <a:cs typeface="Arial"/>
              </a:defRPr>
            </a:lvl2pPr>
            <a:lvl3pPr>
              <a:defRPr sz="2100">
                <a:solidFill>
                  <a:srgbClr val="00AAD2"/>
                </a:solidFill>
                <a:latin typeface="Arial"/>
                <a:ea typeface="Arial"/>
                <a:cs typeface="Arial"/>
              </a:defRPr>
            </a:lvl3pPr>
            <a:lvl4pPr>
              <a:defRPr sz="2100">
                <a:solidFill>
                  <a:srgbClr val="00AAD2"/>
                </a:solidFill>
                <a:latin typeface="Arial"/>
                <a:ea typeface="Arial"/>
                <a:cs typeface="Arial"/>
              </a:defRPr>
            </a:lvl4pPr>
            <a:lvl5pPr>
              <a:defRPr sz="2100">
                <a:solidFill>
                  <a:srgbClr val="00AAD2"/>
                </a:solidFill>
                <a:latin typeface="Arial"/>
                <a:ea typeface="Arial"/>
                <a:cs typeface="Arial"/>
              </a:defRPr>
            </a:lvl5pPr>
            <a:lvl6pPr>
              <a:defRPr sz="2100">
                <a:solidFill>
                  <a:srgbClr val="00AAD2"/>
                </a:solidFill>
                <a:latin typeface="Arial"/>
                <a:ea typeface="Arial"/>
                <a:cs typeface="Arial"/>
              </a:defRPr>
            </a:lvl6pPr>
            <a:lvl7pPr>
              <a:defRPr sz="2100">
                <a:solidFill>
                  <a:srgbClr val="00AAD2"/>
                </a:solidFill>
                <a:latin typeface="Arial"/>
                <a:ea typeface="Arial"/>
                <a:cs typeface="Arial"/>
              </a:defRPr>
            </a:lvl7pPr>
            <a:lvl8pPr>
              <a:defRPr sz="2100">
                <a:solidFill>
                  <a:srgbClr val="00AAD2"/>
                </a:solidFill>
                <a:latin typeface="Arial"/>
                <a:ea typeface="Arial"/>
                <a:cs typeface="Arial"/>
              </a:defRPr>
            </a:lvl8pPr>
            <a:lvl9pPr>
              <a:defRPr sz="2100">
                <a:solidFill>
                  <a:srgbClr val="00AAD2"/>
                </a:solidFill>
                <a:latin typeface="Arial"/>
                <a:ea typeface="Arial"/>
                <a:cs typeface="Arial"/>
              </a:defRPr>
            </a:lvl9pPr>
          </a:lstStyle>
          <a:p xmlns:a="http://schemas.openxmlformats.org/drawingml/2006/main">
            <a:pPr marL="0" indent="0">
              <a:buNone/>
              <a:defRPr sz="2100">
                <a:solidFill>
                  <a:srgbClr val="00AAD2"/>
                </a:solidFill>
                <a:latin typeface="Arial"/>
                <a:ea typeface="Arial"/>
                <a:cs typeface="Arial"/>
              </a:defRPr>
            </a:pPr>
            <a:r>
              <a:rPr sz="2100">
                <a:solidFill>
                  <a:srgbClr val="00AAD2"/>
                </a:solidFill>
                <a:latin typeface="Arial"/>
                <a:ea typeface="Arial"/>
                <a:cs typeface="Arial"/>
              </a:rPr>
              <a:t>Food stop recommendation</a:t>
            </a:r>
            <a:endParaRPr sz="1600"/>
          </a:p>
          <a:p xmlns:a="http://schemas.openxmlformats.org/drawingml/2006/main">
            <a:pPr marL="0" indent="0">
              <a:buNone/>
              <a:defRPr sz="2100">
                <a:solidFill>
                  <a:srgbClr val="00AAD2"/>
                </a:solidFill>
                <a:latin typeface="Arial"/>
                <a:ea typeface="Arial"/>
                <a:cs typeface="Arial"/>
              </a:defRPr>
            </a:pPr>
            <a:r>
              <a:rPr sz="2100">
                <a:solidFill>
                  <a:srgbClr val="00AAD2"/>
                </a:solidFill>
                <a:latin typeface="Arial"/>
                <a:ea typeface="Arial"/>
                <a:cs typeface="Arial"/>
              </a:rPr>
              <a:t>from route context and feedback</a:t>
            </a:r>
            <a:endParaRPr sz="1600"/>
          </a:p>
        </p:txBody>
      </p:sp>
      <p:sp>
        <p:nvSpPr>
          <p:cNvPr id="10" name="Team Info">
            <a:extLst xmlns:a="http://schemas.openxmlformats.org/drawingml/2006/main">
              <a:ext uri="{FF2B5EF4-FFF2-40B4-BE49-F238E27FC236}">
                <a16:creationId xmlns:a16="http://schemas.microsoft.com/office/drawing/2014/main" id="{D6E4885D-9FAB-42E4-8FAB-4E4CF55BFD10}"/>
              </a:ext>
            </a:extLst>
          </p:cNvPr>
          <p:cNvSpPr>
            <a:spLocks xmlns:a="http://schemas.openxmlformats.org/drawingml/2006/main" noGrp="1"/>
          </p:cNvSpPr>
          <p:nvPr/>
        </p:nvSpPr>
        <p:spPr>
          <a:xfrm xmlns:a="http://schemas.openxmlformats.org/drawingml/2006/main">
            <a:off x="548640" y="4238625"/>
            <a:ext cx="7810500" cy="54292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defPPr>
              <a:defRPr sz="1373">
                <a:solidFill>
                  <a:srgbClr val="FFFFFF"/>
                </a:solidFill>
                <a:latin typeface="Arial"/>
                <a:ea typeface="Arial"/>
                <a:cs typeface="Arial"/>
              </a:defRPr>
            </a:defPPr>
            <a:lvl1pPr>
              <a:defRPr sz="1373">
                <a:solidFill>
                  <a:srgbClr val="FFFFFF"/>
                </a:solidFill>
                <a:latin typeface="Arial"/>
                <a:ea typeface="Arial"/>
                <a:cs typeface="Arial"/>
              </a:defRPr>
            </a:lvl1pPr>
            <a:lvl2pPr>
              <a:defRPr sz="1373">
                <a:solidFill>
                  <a:srgbClr val="FFFFFF"/>
                </a:solidFill>
                <a:latin typeface="Arial"/>
                <a:ea typeface="Arial"/>
                <a:cs typeface="Arial"/>
              </a:defRPr>
            </a:lvl2pPr>
            <a:lvl3pPr>
              <a:defRPr sz="1373">
                <a:solidFill>
                  <a:srgbClr val="FFFFFF"/>
                </a:solidFill>
                <a:latin typeface="Arial"/>
                <a:ea typeface="Arial"/>
                <a:cs typeface="Arial"/>
              </a:defRPr>
            </a:lvl3pPr>
            <a:lvl4pPr>
              <a:defRPr sz="1373">
                <a:solidFill>
                  <a:srgbClr val="FFFFFF"/>
                </a:solidFill>
                <a:latin typeface="Arial"/>
                <a:ea typeface="Arial"/>
                <a:cs typeface="Arial"/>
              </a:defRPr>
            </a:lvl4pPr>
            <a:lvl5pPr>
              <a:defRPr sz="1373">
                <a:solidFill>
                  <a:srgbClr val="FFFFFF"/>
                </a:solidFill>
                <a:latin typeface="Arial"/>
                <a:ea typeface="Arial"/>
                <a:cs typeface="Arial"/>
              </a:defRPr>
            </a:lvl5pPr>
            <a:lvl6pPr>
              <a:defRPr sz="1373">
                <a:solidFill>
                  <a:srgbClr val="FFFFFF"/>
                </a:solidFill>
                <a:latin typeface="Arial"/>
                <a:ea typeface="Arial"/>
                <a:cs typeface="Arial"/>
              </a:defRPr>
            </a:lvl6pPr>
            <a:lvl7pPr>
              <a:defRPr sz="1373">
                <a:solidFill>
                  <a:srgbClr val="FFFFFF"/>
                </a:solidFill>
                <a:latin typeface="Arial"/>
                <a:ea typeface="Arial"/>
                <a:cs typeface="Arial"/>
              </a:defRPr>
            </a:lvl7pPr>
            <a:lvl8pPr>
              <a:defRPr sz="1373">
                <a:solidFill>
                  <a:srgbClr val="FFFFFF"/>
                </a:solidFill>
                <a:latin typeface="Arial"/>
                <a:ea typeface="Arial"/>
                <a:cs typeface="Arial"/>
              </a:defRPr>
            </a:lvl8pPr>
            <a:lvl9pPr>
              <a:defRPr sz="1373">
                <a:solidFill>
                  <a:srgbClr val="FFFFFF"/>
                </a:solidFill>
                <a:latin typeface="Arial"/>
                <a:ea typeface="Arial"/>
                <a:cs typeface="Arial"/>
              </a:defRPr>
            </a:lvl9pPr>
          </a:lstStyle>
          <a:p xmlns:a="http://schemas.openxmlformats.org/drawingml/2006/main">
            <a:pPr marL="0" indent="0">
              <a:spcAft>
                <a:spcPts val="400"/>
              </a:spcAft>
              <a:buNone/>
              <a:defRPr sz="1373">
                <a:solidFill>
                  <a:srgbClr val="FFFFFF"/>
                </a:solidFill>
                <a:latin typeface="Arial"/>
                <a:ea typeface="Arial"/>
                <a:cs typeface="Arial"/>
              </a:defRPr>
            </a:pPr>
            <a:r>
              <a:rPr sz="1373" b="1">
                <a:solidFill>
                  <a:srgbClr val="FFFFFF"/>
                </a:solidFill>
                <a:latin typeface="Arial"/>
                <a:ea typeface="Arial"/>
                <a:cs typeface="Arial"/>
              </a:rPr>
              <a:t>Manasjyoti Baishya</a:t>
            </a:r>
            <a:endParaRPr sz="1300"/>
          </a:p>
          <a:p xmlns:a="http://schemas.openxmlformats.org/drawingml/2006/main">
            <a:pPr marL="0" indent="0">
              <a:spcAft>
                <a:spcPts val="400"/>
              </a:spcAft>
              <a:buNone/>
              <a:defRPr sz="1373">
                <a:solidFill>
                  <a:srgbClr val="FFFFFF"/>
                </a:solidFill>
                <a:latin typeface="Arial"/>
                <a:ea typeface="Arial"/>
                <a:cs typeface="Arial"/>
              </a:defRPr>
            </a:pPr>
            <a:r>
              <a:rPr sz="1373">
                <a:solidFill>
                  <a:srgbClr val="FFFFFF"/>
                </a:solidFill>
                <a:latin typeface="Arial"/>
                <a:ea typeface="Arial"/>
                <a:cs typeface="Arial"/>
              </a:rPr>
              <a:t>Individual entry, IIT Delhi</a:t>
            </a:r>
            <a:endParaRPr sz="1300"/>
          </a:p>
        </p:txBody>
      </p:sp>
      <p:sp>
        <p:nvSpPr>
          <p:cNvPr id="11" name="Technical subtitle">
            <a:extLst xmlns:a="http://schemas.openxmlformats.org/drawingml/2006/main">
              <a:ext uri="{FF2B5EF4-FFF2-40B4-BE49-F238E27FC236}">
                <a16:creationId xmlns:a16="http://schemas.microsoft.com/office/drawing/2014/main" id="{A62AF7D1-B41D-4395-A16F-5A15F4380F19}"/>
              </a:ext>
            </a:extLst>
          </p:cNvPr>
          <p:cNvSpPr>
            <a:spLocks xmlns:a="http://schemas.openxmlformats.org/drawingml/2006/main" noGrp="1"/>
          </p:cNvSpPr>
          <p:nvPr/>
        </p:nvSpPr>
        <p:spPr>
          <a:xfrm xmlns:a="http://schemas.openxmlformats.org/drawingml/2006/main">
            <a:off x="548640" y="3400425"/>
            <a:ext cx="7810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0">
                <a:solidFill>
                  <a:srgbClr val="B8C7DA"/>
                </a:solidFill>
                <a:latin typeface="Arial"/>
                <a:ea typeface="Arial"/>
                <a:cs typeface="Arial"/>
              </a:defRPr>
            </a:defPPr>
            <a:lvl1pPr algn="l">
              <a:defRPr sz="1448" b="0">
                <a:solidFill>
                  <a:srgbClr val="B8C7DA"/>
                </a:solidFill>
                <a:latin typeface="Arial"/>
                <a:ea typeface="Arial"/>
                <a:cs typeface="Arial"/>
              </a:defRPr>
            </a:lvl1pPr>
            <a:lvl2pPr algn="l">
              <a:defRPr sz="1448" b="0">
                <a:solidFill>
                  <a:srgbClr val="B8C7DA"/>
                </a:solidFill>
                <a:latin typeface="Arial"/>
                <a:ea typeface="Arial"/>
                <a:cs typeface="Arial"/>
              </a:defRPr>
            </a:lvl2pPr>
            <a:lvl3pPr algn="l">
              <a:defRPr sz="1448" b="0">
                <a:solidFill>
                  <a:srgbClr val="B8C7DA"/>
                </a:solidFill>
                <a:latin typeface="Arial"/>
                <a:ea typeface="Arial"/>
                <a:cs typeface="Arial"/>
              </a:defRPr>
            </a:lvl3pPr>
            <a:lvl4pPr algn="l">
              <a:defRPr sz="1448" b="0">
                <a:solidFill>
                  <a:srgbClr val="B8C7DA"/>
                </a:solidFill>
                <a:latin typeface="Arial"/>
                <a:ea typeface="Arial"/>
                <a:cs typeface="Arial"/>
              </a:defRPr>
            </a:lvl4pPr>
            <a:lvl5pPr algn="l">
              <a:defRPr sz="1448" b="0">
                <a:solidFill>
                  <a:srgbClr val="B8C7DA"/>
                </a:solidFill>
                <a:latin typeface="Arial"/>
                <a:ea typeface="Arial"/>
                <a:cs typeface="Arial"/>
              </a:defRPr>
            </a:lvl5pPr>
            <a:lvl6pPr algn="l">
              <a:defRPr sz="1448" b="0">
                <a:solidFill>
                  <a:srgbClr val="B8C7DA"/>
                </a:solidFill>
                <a:latin typeface="Arial"/>
                <a:ea typeface="Arial"/>
                <a:cs typeface="Arial"/>
              </a:defRPr>
            </a:lvl6pPr>
            <a:lvl7pPr algn="l">
              <a:defRPr sz="1448" b="0">
                <a:solidFill>
                  <a:srgbClr val="B8C7DA"/>
                </a:solidFill>
                <a:latin typeface="Arial"/>
                <a:ea typeface="Arial"/>
                <a:cs typeface="Arial"/>
              </a:defRPr>
            </a:lvl7pPr>
            <a:lvl8pPr algn="l">
              <a:defRPr sz="1448" b="0">
                <a:solidFill>
                  <a:srgbClr val="B8C7DA"/>
                </a:solidFill>
                <a:latin typeface="Arial"/>
                <a:ea typeface="Arial"/>
                <a:cs typeface="Arial"/>
              </a:defRPr>
            </a:lvl8pPr>
            <a:lvl9pPr algn="l">
              <a:defRPr sz="1448" b="0">
                <a:solidFill>
                  <a:srgbClr val="B8C7DA"/>
                </a:solidFill>
                <a:latin typeface="Arial"/>
                <a:ea typeface="Arial"/>
                <a:cs typeface="Arial"/>
              </a:defRPr>
            </a:lvl9pPr>
          </a:lstStyle>
          <a:p xmlns:a="http://schemas.openxmlformats.org/drawingml/2006/main">
            <a:pPr algn="l">
              <a:defRPr sz="1448" b="0">
                <a:solidFill>
                  <a:srgbClr val="B8C7DA"/>
                </a:solidFill>
                <a:latin typeface="Arial"/>
                <a:ea typeface="Arial"/>
                <a:cs typeface="Arial"/>
              </a:defRPr>
            </a:pPr>
            <a:r>
              <a:rPr sz="1448" b="0">
                <a:solidFill>
                  <a:srgbClr val="B8C7DA"/>
                </a:solidFill>
                <a:latin typeface="Arial"/>
                <a:ea typeface="Arial"/>
                <a:cs typeface="Arial"/>
              </a:rPr>
              <a:t>Design, implementation and prototype evaluation</a:t>
            </a:r>
          </a:p>
          <a:p xmlns:a="http://schemas.openxmlformats.org/drawingml/2006/main">
            <a:pPr algn="l">
              <a:defRPr sz="1448" b="0">
                <a:solidFill>
                  <a:srgbClr val="B8C7DA"/>
                </a:solidFill>
                <a:latin typeface="Arial"/>
                <a:ea typeface="Arial"/>
                <a:cs typeface="Arial"/>
              </a:defRPr>
            </a:pPr>
            <a:r>
              <a:rPr sz="1448" b="0">
                <a:solidFill>
                  <a:srgbClr val="B8C7DA"/>
                </a:solidFill>
                <a:latin typeface="Arial"/>
                <a:ea typeface="Arial"/>
                <a:cs typeface="Arial"/>
              </a:rPr>
              <a:t>Installed Android progressive web app, version 5.1.0</a:t>
            </a:r>
          </a:p>
        </p:txBody>
      </p:sp>
    </p:spTree>
    <p:extLst>
      <p:ext uri="{BB962C8B-B14F-4D97-AF65-F5344CB8AC3E}">
        <p14:creationId xmlns:p14="http://schemas.microsoft.com/office/powerpoint/2010/main" val="31147123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Objective and summary</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02</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Overview of the implemented system and the available evidence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E2598689-54C9-18A7-3A19-ED76AA08988F}" type="slidenum">
              <a:rPr sz="900" b="0">
                <a:solidFill>
                  <a:srgbClr val="626B73"/>
                </a:solidFill>
                <a:latin typeface="Arial"/>
                <a:ea typeface="Arial"/>
                <a:cs typeface="Arial"/>
              </a:rPr>
              <a:t>2</a:t>
            </a:fld>
            <a:endParaRPr/>
          </a:p>
        </p:txBody>
      </p:sp>
      <p:sp>
        <p:nvSpPr>
          <p:cNvPr id="26" name="Source note">
            <a:extLst xmlns:a="http://schemas.openxmlformats.org/drawingml/2006/main">
              <a:ext uri="{FF2B5EF4-FFF2-40B4-BE49-F238E27FC236}">
                <a16:creationId xmlns:a16="http://schemas.microsoft.com/office/drawing/2014/main" id="{3FFCC69C-BD2D-43DD-BAC7-2129F2A11A05}"/>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final v5.1.0 code, supplied trip export and eight phone screenshots [S1-S4]</a:t>
            </a:r>
          </a:p>
        </p:txBody>
      </p:sp>
      <p:sp>
        <p:nvSpPr>
          <p:cNvPr id="27" name="Objective heading">
            <a:extLst xmlns:a="http://schemas.openxmlformats.org/drawingml/2006/main">
              <a:ext uri="{FF2B5EF4-FFF2-40B4-BE49-F238E27FC236}">
                <a16:creationId xmlns:a16="http://schemas.microsoft.com/office/drawing/2014/main" id="{FD4F5A11-56C0-42A4-8EE9-202D0193439E}"/>
              </a:ext>
            </a:extLst>
          </p:cNvPr>
          <p:cNvSpPr>
            <a:spLocks xmlns:a="http://schemas.openxmlformats.org/drawingml/2006/main" noGrp="1"/>
          </p:cNvSpPr>
          <p:nvPr/>
        </p:nvSpPr>
        <p:spPr>
          <a:xfrm xmlns:a="http://schemas.openxmlformats.org/drawingml/2006/main">
            <a:off x="657225" y="1371600"/>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Objective</a:t>
            </a:r>
          </a:p>
        </p:txBody>
      </p:sp>
      <p:sp>
        <p:nvSpPr>
          <p:cNvPr id="28" name="Objective text">
            <a:extLst xmlns:a="http://schemas.openxmlformats.org/drawingml/2006/main">
              <a:ext uri="{FF2B5EF4-FFF2-40B4-BE49-F238E27FC236}">
                <a16:creationId xmlns:a16="http://schemas.microsoft.com/office/drawing/2014/main" id="{48631630-4CF2-4CCA-B818-6A27A6448CC2}"/>
              </a:ext>
            </a:extLst>
          </p:cNvPr>
          <p:cNvSpPr>
            <a:spLocks xmlns:a="http://schemas.openxmlformats.org/drawingml/2006/main" noGrp="1"/>
          </p:cNvSpPr>
          <p:nvPr/>
        </p:nvSpPr>
        <p:spPr>
          <a:xfrm xmlns:a="http://schemas.openxmlformats.org/drawingml/2006/main">
            <a:off x="657225" y="1685925"/>
            <a:ext cx="778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002C5F"/>
                </a:solidFill>
                <a:latin typeface="Arial"/>
                <a:ea typeface="Arial"/>
                <a:cs typeface="Arial"/>
              </a:defRPr>
            </a:defPPr>
            <a:lvl1pPr algn="l">
              <a:defRPr sz="1425" b="0">
                <a:solidFill>
                  <a:srgbClr val="002C5F"/>
                </a:solidFill>
                <a:latin typeface="Arial"/>
                <a:ea typeface="Arial"/>
                <a:cs typeface="Arial"/>
              </a:defRPr>
            </a:lvl1pPr>
            <a:lvl2pPr algn="l">
              <a:defRPr sz="1425" b="0">
                <a:solidFill>
                  <a:srgbClr val="002C5F"/>
                </a:solidFill>
                <a:latin typeface="Arial"/>
                <a:ea typeface="Arial"/>
                <a:cs typeface="Arial"/>
              </a:defRPr>
            </a:lvl2pPr>
            <a:lvl3pPr algn="l">
              <a:defRPr sz="1425" b="0">
                <a:solidFill>
                  <a:srgbClr val="002C5F"/>
                </a:solidFill>
                <a:latin typeface="Arial"/>
                <a:ea typeface="Arial"/>
                <a:cs typeface="Arial"/>
              </a:defRPr>
            </a:lvl3pPr>
            <a:lvl4pPr algn="l">
              <a:defRPr sz="1425" b="0">
                <a:solidFill>
                  <a:srgbClr val="002C5F"/>
                </a:solidFill>
                <a:latin typeface="Arial"/>
                <a:ea typeface="Arial"/>
                <a:cs typeface="Arial"/>
              </a:defRPr>
            </a:lvl4pPr>
            <a:lvl5pPr algn="l">
              <a:defRPr sz="1425" b="0">
                <a:solidFill>
                  <a:srgbClr val="002C5F"/>
                </a:solidFill>
                <a:latin typeface="Arial"/>
                <a:ea typeface="Arial"/>
                <a:cs typeface="Arial"/>
              </a:defRPr>
            </a:lvl5pPr>
            <a:lvl6pPr algn="l">
              <a:defRPr sz="1425" b="0">
                <a:solidFill>
                  <a:srgbClr val="002C5F"/>
                </a:solidFill>
                <a:latin typeface="Arial"/>
                <a:ea typeface="Arial"/>
                <a:cs typeface="Arial"/>
              </a:defRPr>
            </a:lvl6pPr>
            <a:lvl7pPr algn="l">
              <a:defRPr sz="1425" b="0">
                <a:solidFill>
                  <a:srgbClr val="002C5F"/>
                </a:solidFill>
                <a:latin typeface="Arial"/>
                <a:ea typeface="Arial"/>
                <a:cs typeface="Arial"/>
              </a:defRPr>
            </a:lvl7pPr>
            <a:lvl8pPr algn="l">
              <a:defRPr sz="1425" b="0">
                <a:solidFill>
                  <a:srgbClr val="002C5F"/>
                </a:solidFill>
                <a:latin typeface="Arial"/>
                <a:ea typeface="Arial"/>
                <a:cs typeface="Arial"/>
              </a:defRPr>
            </a:lvl8pPr>
            <a:lvl9pPr algn="l">
              <a:defRPr sz="1425" b="0">
                <a:solidFill>
                  <a:srgbClr val="002C5F"/>
                </a:solidFill>
                <a:latin typeface="Arial"/>
                <a:ea typeface="Arial"/>
                <a:cs typeface="Arial"/>
              </a:defRPr>
            </a:lvl9pPr>
          </a:lstStyle>
          <a:p xmlns:a="http://schemas.openxmlformats.org/drawingml/2006/main">
            <a:pPr algn="l">
              <a:defRPr sz="1425" b="0">
                <a:solidFill>
                  <a:srgbClr val="002C5F"/>
                </a:solidFill>
                <a:latin typeface="Arial"/>
                <a:ea typeface="Arial"/>
                <a:cs typeface="Arial"/>
              </a:defRPr>
            </a:pPr>
            <a:r>
              <a:rPr sz="1425" b="0">
                <a:solidFill>
                  <a:srgbClr val="002C5F"/>
                </a:solidFill>
                <a:latin typeface="Arial"/>
                <a:ea typeface="Arial"/>
                <a:cs typeface="Arial"/>
              </a:rPr>
              <a:t>Develop a phone prototype that recommends an upcoming food stop using the route,</a:t>
            </a:r>
          </a:p>
          <a:p xmlns:a="http://schemas.openxmlformats.org/drawingml/2006/main">
            <a:pPr algn="l">
              <a:defRPr sz="1425" b="0">
                <a:solidFill>
                  <a:srgbClr val="002C5F"/>
                </a:solidFill>
                <a:latin typeface="Arial"/>
                <a:ea typeface="Arial"/>
                <a:cs typeface="Arial"/>
              </a:defRPr>
            </a:pPr>
            <a:r>
              <a:rPr sz="1425" b="0">
                <a:solidFill>
                  <a:srgbClr val="002C5F"/>
                </a:solidFill>
                <a:latin typeface="Arial"/>
                <a:ea typeface="Arial"/>
                <a:cs typeface="Arial"/>
              </a:rPr>
              <a:t>current time, a spare travel allowance and previous accept/reject choices.</a:t>
            </a:r>
          </a:p>
        </p:txBody>
      </p:sp>
      <p:sp>
        <p:nvSpPr>
          <p:cNvPr id="29" name="Method heading">
            <a:extLst xmlns:a="http://schemas.openxmlformats.org/drawingml/2006/main">
              <a:ext uri="{FF2B5EF4-FFF2-40B4-BE49-F238E27FC236}">
                <a16:creationId xmlns:a16="http://schemas.microsoft.com/office/drawing/2014/main" id="{26CA786C-3AC7-4913-9118-D5FFD67CFFCD}"/>
              </a:ext>
            </a:extLst>
          </p:cNvPr>
          <p:cNvSpPr>
            <a:spLocks xmlns:a="http://schemas.openxmlformats.org/drawingml/2006/main" noGrp="1"/>
          </p:cNvSpPr>
          <p:nvPr/>
        </p:nvSpPr>
        <p:spPr>
          <a:xfrm xmlns:a="http://schemas.openxmlformats.org/drawingml/2006/main">
            <a:off x="657225" y="2324100"/>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Method</a:t>
            </a:r>
          </a:p>
        </p:txBody>
      </p:sp>
      <p:sp>
        <p:nvSpPr>
          <p:cNvPr id="30" name="Method text">
            <a:extLst xmlns:a="http://schemas.openxmlformats.org/drawingml/2006/main">
              <a:ext uri="{FF2B5EF4-FFF2-40B4-BE49-F238E27FC236}">
                <a16:creationId xmlns:a16="http://schemas.microsoft.com/office/drawing/2014/main" id="{F8567E1A-4909-4579-9909-8CE3E9DF2046}"/>
              </a:ext>
            </a:extLst>
          </p:cNvPr>
          <p:cNvSpPr>
            <a:spLocks xmlns:a="http://schemas.openxmlformats.org/drawingml/2006/main" noGrp="1"/>
          </p:cNvSpPr>
          <p:nvPr/>
        </p:nvSpPr>
        <p:spPr>
          <a:xfrm xmlns:a="http://schemas.openxmlformats.org/drawingml/2006/main">
            <a:off x="657225" y="2638425"/>
            <a:ext cx="778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002C5F"/>
                </a:solidFill>
                <a:latin typeface="Arial"/>
                <a:ea typeface="Arial"/>
                <a:cs typeface="Arial"/>
              </a:defRPr>
            </a:defPPr>
            <a:lvl1pPr algn="l">
              <a:defRPr sz="1425" b="0">
                <a:solidFill>
                  <a:srgbClr val="002C5F"/>
                </a:solidFill>
                <a:latin typeface="Arial"/>
                <a:ea typeface="Arial"/>
                <a:cs typeface="Arial"/>
              </a:defRPr>
            </a:lvl1pPr>
            <a:lvl2pPr algn="l">
              <a:defRPr sz="1425" b="0">
                <a:solidFill>
                  <a:srgbClr val="002C5F"/>
                </a:solidFill>
                <a:latin typeface="Arial"/>
                <a:ea typeface="Arial"/>
                <a:cs typeface="Arial"/>
              </a:defRPr>
            </a:lvl2pPr>
            <a:lvl3pPr algn="l">
              <a:defRPr sz="1425" b="0">
                <a:solidFill>
                  <a:srgbClr val="002C5F"/>
                </a:solidFill>
                <a:latin typeface="Arial"/>
                <a:ea typeface="Arial"/>
                <a:cs typeface="Arial"/>
              </a:defRPr>
            </a:lvl3pPr>
            <a:lvl4pPr algn="l">
              <a:defRPr sz="1425" b="0">
                <a:solidFill>
                  <a:srgbClr val="002C5F"/>
                </a:solidFill>
                <a:latin typeface="Arial"/>
                <a:ea typeface="Arial"/>
                <a:cs typeface="Arial"/>
              </a:defRPr>
            </a:lvl4pPr>
            <a:lvl5pPr algn="l">
              <a:defRPr sz="1425" b="0">
                <a:solidFill>
                  <a:srgbClr val="002C5F"/>
                </a:solidFill>
                <a:latin typeface="Arial"/>
                <a:ea typeface="Arial"/>
                <a:cs typeface="Arial"/>
              </a:defRPr>
            </a:lvl5pPr>
            <a:lvl6pPr algn="l">
              <a:defRPr sz="1425" b="0">
                <a:solidFill>
                  <a:srgbClr val="002C5F"/>
                </a:solidFill>
                <a:latin typeface="Arial"/>
                <a:ea typeface="Arial"/>
                <a:cs typeface="Arial"/>
              </a:defRPr>
            </a:lvl6pPr>
            <a:lvl7pPr algn="l">
              <a:defRPr sz="1425" b="0">
                <a:solidFill>
                  <a:srgbClr val="002C5F"/>
                </a:solidFill>
                <a:latin typeface="Arial"/>
                <a:ea typeface="Arial"/>
                <a:cs typeface="Arial"/>
              </a:defRPr>
            </a:lvl7pPr>
            <a:lvl8pPr algn="l">
              <a:defRPr sz="1425" b="0">
                <a:solidFill>
                  <a:srgbClr val="002C5F"/>
                </a:solidFill>
                <a:latin typeface="Arial"/>
                <a:ea typeface="Arial"/>
                <a:cs typeface="Arial"/>
              </a:defRPr>
            </a:lvl8pPr>
            <a:lvl9pPr algn="l">
              <a:defRPr sz="1425" b="0">
                <a:solidFill>
                  <a:srgbClr val="002C5F"/>
                </a:solidFill>
                <a:latin typeface="Arial"/>
                <a:ea typeface="Arial"/>
                <a:cs typeface="Arial"/>
              </a:defRPr>
            </a:lvl9pPr>
          </a:lstStyle>
          <a:p xmlns:a="http://schemas.openxmlformats.org/drawingml/2006/main">
            <a:pPr algn="l">
              <a:defRPr sz="1425" b="0">
                <a:solidFill>
                  <a:srgbClr val="002C5F"/>
                </a:solidFill>
                <a:latin typeface="Arial"/>
                <a:ea typeface="Arial"/>
                <a:cs typeface="Arial"/>
              </a:defRPr>
            </a:pPr>
            <a:r>
              <a:rPr sz="1425" b="0">
                <a:solidFill>
                  <a:srgbClr val="002C5F"/>
                </a:solidFill>
                <a:latin typeface="Arial"/>
                <a:ea typeface="Arial"/>
                <a:cs typeface="Arial"/>
              </a:rPr>
              <a:t>Project locations onto a fixed route. Check availability and travel constraints, rank</a:t>
            </a:r>
          </a:p>
          <a:p xmlns:a="http://schemas.openxmlformats.org/drawingml/2006/main">
            <a:pPr algn="l">
              <a:defRPr sz="1425" b="0">
                <a:solidFill>
                  <a:srgbClr val="002C5F"/>
                </a:solidFill>
                <a:latin typeface="Arial"/>
                <a:ea typeface="Arial"/>
                <a:cs typeface="Arial"/>
              </a:defRPr>
            </a:pPr>
            <a:r>
              <a:rPr sz="1425" b="0">
                <a:solidFill>
                  <a:srgbClr val="002C5F"/>
                </a:solidFill>
                <a:latin typeface="Arial"/>
                <a:ea typeface="Arial"/>
                <a:cs typeface="Arial"/>
              </a:rPr>
              <a:t>the remaining venues, issue an advance alert and retain explicit feedback locally.</a:t>
            </a:r>
          </a:p>
        </p:txBody>
      </p:sp>
      <p:sp>
        <p:nvSpPr>
          <p:cNvPr id="31" name="Evidence heading">
            <a:extLst xmlns:a="http://schemas.openxmlformats.org/drawingml/2006/main">
              <a:ext uri="{FF2B5EF4-FFF2-40B4-BE49-F238E27FC236}">
                <a16:creationId xmlns:a16="http://schemas.microsoft.com/office/drawing/2014/main" id="{DF91271F-4A9E-4E0E-A571-9598EDBD82E9}"/>
              </a:ext>
            </a:extLst>
          </p:cNvPr>
          <p:cNvSpPr>
            <a:spLocks xmlns:a="http://schemas.openxmlformats.org/drawingml/2006/main" noGrp="1"/>
          </p:cNvSpPr>
          <p:nvPr/>
        </p:nvSpPr>
        <p:spPr>
          <a:xfrm xmlns:a="http://schemas.openxmlformats.org/drawingml/2006/main">
            <a:off x="657225" y="3276600"/>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Evidence and interpretation</a:t>
            </a:r>
          </a:p>
        </p:txBody>
      </p:sp>
      <p:sp>
        <p:nvSpPr>
          <p:cNvPr id="32" name="Evidence text">
            <a:extLst xmlns:a="http://schemas.openxmlformats.org/drawingml/2006/main">
              <a:ext uri="{FF2B5EF4-FFF2-40B4-BE49-F238E27FC236}">
                <a16:creationId xmlns:a16="http://schemas.microsoft.com/office/drawing/2014/main" id="{A7A3D958-37D2-4A5F-ABB9-5DC335C6741D}"/>
              </a:ext>
            </a:extLst>
          </p:cNvPr>
          <p:cNvSpPr>
            <a:spLocks xmlns:a="http://schemas.openxmlformats.org/drawingml/2006/main" noGrp="1"/>
          </p:cNvSpPr>
          <p:nvPr/>
        </p:nvSpPr>
        <p:spPr>
          <a:xfrm xmlns:a="http://schemas.openxmlformats.org/drawingml/2006/main">
            <a:off x="657225" y="3590925"/>
            <a:ext cx="77819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available export contains three completed GPS trips. Screenshots document</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advance alerts during one evening journey. These support functional demonstration.</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Recommendation relevance and travel-time accuracy have not been quantified.</a:t>
            </a:r>
          </a:p>
        </p:txBody>
      </p:sp>
    </p:spTree>
    <p:extLst>
      <p:ext uri="{BB962C8B-B14F-4D97-AF65-F5344CB8AC3E}">
        <p14:creationId xmlns:p14="http://schemas.microsoft.com/office/powerpoint/2010/main" val="46743983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Problem and design motivation</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03</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Initial user context: students and urban passengers considering food during an existing journey</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202359C0-8A7A-196E-DD58-8E6569619F09}" type="slidenum">
              <a:rPr sz="900" b="0">
                <a:solidFill>
                  <a:srgbClr val="626B73"/>
                </a:solidFill>
                <a:latin typeface="Arial"/>
                <a:ea typeface="Arial"/>
                <a:cs typeface="Arial"/>
              </a:rPr>
              <a:t>3</a:t>
            </a:fld>
            <a:endParaRPr/>
          </a:p>
        </p:txBody>
      </p:sp>
      <p:sp>
        <p:nvSpPr>
          <p:cNvPr id="26" name="Source note">
            <a:extLst xmlns:a="http://schemas.openxmlformats.org/drawingml/2006/main">
              <a:ext uri="{FF2B5EF4-FFF2-40B4-BE49-F238E27FC236}">
                <a16:creationId xmlns:a16="http://schemas.microsoft.com/office/drawing/2014/main" id="{6E3B4FAC-2630-4AF4-9149-F49B89D112DB}"/>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 author account, 20 October 2026. These observations are not survey findings [S5].</a:t>
            </a:r>
          </a:p>
        </p:txBody>
      </p:sp>
      <p:sp>
        <p:nvSpPr>
          <p:cNvPr id="27" name="Situation heading">
            <a:extLst xmlns:a="http://schemas.openxmlformats.org/drawingml/2006/main">
              <a:ext uri="{FF2B5EF4-FFF2-40B4-BE49-F238E27FC236}">
                <a16:creationId xmlns:a16="http://schemas.microsoft.com/office/drawing/2014/main" id="{40C25C09-CE58-4A6F-B083-02B371012523}"/>
              </a:ext>
            </a:extLst>
          </p:cNvPr>
          <p:cNvSpPr>
            <a:spLocks xmlns:a="http://schemas.openxmlformats.org/drawingml/2006/main" noGrp="1"/>
          </p:cNvSpPr>
          <p:nvPr/>
        </p:nvSpPr>
        <p:spPr>
          <a:xfrm xmlns:a="http://schemas.openxmlformats.org/drawingml/2006/main">
            <a:off x="657225" y="1381125"/>
            <a:ext cx="361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User situation</a:t>
            </a:r>
          </a:p>
        </p:txBody>
      </p:sp>
      <p:sp>
        <p:nvSpPr>
          <p:cNvPr id="28" name="Situation text">
            <a:extLst xmlns:a="http://schemas.openxmlformats.org/drawingml/2006/main">
              <a:ext uri="{FF2B5EF4-FFF2-40B4-BE49-F238E27FC236}">
                <a16:creationId xmlns:a16="http://schemas.microsoft.com/office/drawing/2014/main" id="{D50E4E58-BFA4-475F-9BB7-BEF90230D21F}"/>
              </a:ext>
            </a:extLst>
          </p:cNvPr>
          <p:cNvSpPr>
            <a:spLocks xmlns:a="http://schemas.openxmlformats.org/drawingml/2006/main" noGrp="1"/>
          </p:cNvSpPr>
          <p:nvPr/>
        </p:nvSpPr>
        <p:spPr>
          <a:xfrm xmlns:a="http://schemas.openxmlformats.org/drawingml/2006/main">
            <a:off x="657225" y="1752600"/>
            <a:ext cx="36671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Friends looking for a new café must compare</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places with the route they are already taking.</a:t>
            </a:r>
          </a:p>
          <a:p xmlns:a="http://schemas.openxmlformats.org/drawingml/2006/main">
            <a:r>
              <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 busy daily routine can also postpone a meal.</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 relevant prompt may make a stop easier</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to consider during that journey.</a:t>
            </a:r>
          </a:p>
        </p:txBody>
      </p:sp>
      <p:sp>
        <p:nvSpPr>
          <p:cNvPr id="29" name="Question heading">
            <a:extLst xmlns:a="http://schemas.openxmlformats.org/drawingml/2006/main">
              <a:ext uri="{FF2B5EF4-FFF2-40B4-BE49-F238E27FC236}">
                <a16:creationId xmlns:a16="http://schemas.microsoft.com/office/drawing/2014/main" id="{6AFCB9D5-DE0C-464F-A12E-B2E4A3D6ABE3}"/>
              </a:ext>
            </a:extLst>
          </p:cNvPr>
          <p:cNvSpPr>
            <a:spLocks xmlns:a="http://schemas.openxmlformats.org/drawingml/2006/main" noGrp="1"/>
          </p:cNvSpPr>
          <p:nvPr/>
        </p:nvSpPr>
        <p:spPr>
          <a:xfrm xmlns:a="http://schemas.openxmlformats.org/drawingml/2006/main">
            <a:off x="4762500" y="1381125"/>
            <a:ext cx="366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Engineering problem</a:t>
            </a:r>
          </a:p>
        </p:txBody>
      </p:sp>
      <p:sp>
        <p:nvSpPr>
          <p:cNvPr id="30" name="Question text">
            <a:extLst xmlns:a="http://schemas.openxmlformats.org/drawingml/2006/main">
              <a:ext uri="{FF2B5EF4-FFF2-40B4-BE49-F238E27FC236}">
                <a16:creationId xmlns:a16="http://schemas.microsoft.com/office/drawing/2014/main" id="{E244241E-B0F2-4DCA-919B-7882B641FF82}"/>
              </a:ext>
            </a:extLst>
          </p:cNvPr>
          <p:cNvSpPr>
            <a:spLocks xmlns:a="http://schemas.openxmlformats.org/drawingml/2006/main" noGrp="1"/>
          </p:cNvSpPr>
          <p:nvPr/>
        </p:nvSpPr>
        <p:spPr>
          <a:xfrm xmlns:a="http://schemas.openxmlformats.org/drawingml/2006/main">
            <a:off x="4762500" y="1752600"/>
            <a:ext cx="36671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 venue may be nearby but already behind</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passenger, closed at arrival or outside</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available extra-travel time.</a:t>
            </a:r>
          </a:p>
          <a:p xmlns:a="http://schemas.openxmlformats.org/drawingml/2006/main">
            <a:r>
              <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app must choose when to suggest a stop</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and how to adapt after explicit choices.</a:t>
            </a:r>
          </a:p>
        </p:txBody>
      </p:sp>
      <p:sp>
        <p:nvSpPr>
          <p:cNvPr id="31" name="Origin heading">
            <a:extLst xmlns:a="http://schemas.openxmlformats.org/drawingml/2006/main">
              <a:ext uri="{FF2B5EF4-FFF2-40B4-BE49-F238E27FC236}">
                <a16:creationId xmlns:a16="http://schemas.microsoft.com/office/drawing/2014/main" id="{051EE670-1833-4431-9573-16F03E7F6D29}"/>
              </a:ext>
            </a:extLst>
          </p:cNvPr>
          <p:cNvSpPr>
            <a:spLocks xmlns:a="http://schemas.openxmlformats.org/drawingml/2006/main" noGrp="1"/>
          </p:cNvSpPr>
          <p:nvPr/>
        </p:nvSpPr>
        <p:spPr>
          <a:xfrm xmlns:a="http://schemas.openxmlformats.org/drawingml/2006/main">
            <a:off x="657225" y="3695700"/>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Origin of the concept</a:t>
            </a:r>
          </a:p>
        </p:txBody>
      </p:sp>
      <p:sp>
        <p:nvSpPr>
          <p:cNvPr id="32" name="Origin text">
            <a:extLst xmlns:a="http://schemas.openxmlformats.org/drawingml/2006/main">
              <a:ext uri="{FF2B5EF4-FFF2-40B4-BE49-F238E27FC236}">
                <a16:creationId xmlns:a16="http://schemas.microsoft.com/office/drawing/2014/main" id="{8E70F84F-7A7C-4326-9397-CE479D7C373F}"/>
              </a:ext>
            </a:extLst>
          </p:cNvPr>
          <p:cNvSpPr>
            <a:spLocks xmlns:a="http://schemas.openxmlformats.org/drawingml/2006/main" noGrp="1"/>
          </p:cNvSpPr>
          <p:nvPr/>
        </p:nvSpPr>
        <p:spPr>
          <a:xfrm xmlns:a="http://schemas.openxmlformats.org/drawingml/2006/main">
            <a:off x="657225" y="4029075"/>
            <a:ext cx="778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Swiggy on trains inspired the connection between food and travel. The prototype</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explores recommending a food stop on a campus route. No delivery service is integrated.</a:t>
            </a:r>
          </a:p>
        </p:txBody>
      </p:sp>
    </p:spTree>
    <p:extLst>
      <p:ext uri="{BB962C8B-B14F-4D97-AF65-F5344CB8AC3E}">
        <p14:creationId xmlns:p14="http://schemas.microsoft.com/office/powerpoint/2010/main" val="4674398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Functional requirements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04</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Requirements define observable prototype behaviour</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EFD6AB9A-5F9E-5F59-51AB-3C8734130965}" type="slidenum">
              <a:rPr sz="900" b="0">
                <a:solidFill>
                  <a:srgbClr val="626B73"/>
                </a:solidFill>
                <a:latin typeface="Arial"/>
                <a:ea typeface="Arial"/>
                <a:cs typeface="Arial"/>
              </a:rPr>
              <a:t>4</a:t>
            </a:fld>
            <a:endParaRPr/>
          </a:p>
        </p:txBody>
      </p:sp>
      <p:sp>
        <p:nvSpPr>
          <p:cNvPr id="26" name="Source note">
            <a:extLst xmlns:a="http://schemas.openxmlformats.org/drawingml/2006/main">
              <a:ext uri="{FF2B5EF4-FFF2-40B4-BE49-F238E27FC236}">
                <a16:creationId xmlns:a16="http://schemas.microsoft.com/office/drawing/2014/main" id="{376D370D-FAC1-4667-BC7C-FE2283ABA704}"/>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app.js, suggestion-engine.js, feedback-learning.js and current phone acceptance [S1, S2]</a:t>
            </a:r>
          </a:p>
        </p:txBody>
      </p:sp>
      <p:graphicFrame>
        <p:nvGraphicFramePr>
          <p:cNvPr id="27" name="">
            <a:extLst xmlns:a="http://schemas.openxmlformats.org/drawingml/2006/main">
              <a:ext uri="{FF2B5EF4-FFF2-40B4-BE49-F238E27FC236}">
                <a16:creationId xmlns:a16="http://schemas.microsoft.com/office/drawing/2014/main" id="{FC38A636-5C1C-48B8-8F96-30720EBC8702}"/>
              </a:ext>
            </a:extLst>
          </p:cNvPr>
          <p:cNvGraphicFramePr/>
          <p:nvPr/>
        </p:nvGraphicFramePr>
        <p:xfrm>
          <a:off xmlns:a="http://schemas.openxmlformats.org/drawingml/2006/main" x="657225" y="1419225"/>
          <a:ext xmlns:a="http://schemas.openxmlformats.org/drawingml/2006/main" cx="7829550" cy="2895600"/>
        </p:xfrm>
        <a:graphic xmlns:a="http://schemas.openxmlformats.org/drawingml/2006/main">
          <a:graphicData uri="http://schemas.openxmlformats.org/drawingml/2006/table">
            <a:tbl>
              <a:tblPr firstRow="1" bandRow="0"/>
              <a:tblGrid>
                <a:gridCol w="1828800"/>
                <a:gridCol w="6000750"/>
              </a:tblGrid>
              <a:tr h="413657">
                <a:tc>
                  <a:txBody>
                    <a:bodyPr wrap="square">
                      <a:noAutofit/>
                    </a:bodyPr>
                    <a:lstStyle/>
                    <a:p>
                      <a:pPr algn="l"/>
                      <a:r>
                        <a:rPr sz="1223" b="1">
                          <a:solidFill>
                            <a:srgbClr val="FFFFFF"/>
                          </a:solidFill>
                          <a:latin typeface="Arial"/>
                          <a:ea typeface="Arial"/>
                          <a:cs typeface="Arial"/>
                        </a:rPr>
                        <a:t>Requirement</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Implemented behaviour</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13657">
                <a:tc>
                  <a:txBody>
                    <a:bodyPr wrap="square">
                      <a:noAutofit/>
                    </a:bodyPr>
                    <a:lstStyle/>
                    <a:p>
                      <a:pPr algn="l"/>
                      <a:r>
                        <a:rPr sz="1223" b="0">
                          <a:solidFill>
                            <a:srgbClr val="002C5F"/>
                          </a:solidFill>
                          <a:latin typeface="Arial"/>
                          <a:ea typeface="Arial"/>
                          <a:cs typeface="Arial"/>
                        </a:rPr>
                        <a:t>User control</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All nine venues remain browseable. No choice is required before starting.</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13657">
                <a:tc>
                  <a:txBody>
                    <a:bodyPr wrap="square">
                      <a:noAutofit/>
                    </a:bodyPr>
                    <a:lstStyle/>
                    <a:p>
                      <a:pPr algn="l"/>
                      <a:r>
                        <a:rPr sz="1223" b="0">
                          <a:solidFill>
                            <a:srgbClr val="002C5F"/>
                          </a:solidFill>
                          <a:latin typeface="Arial"/>
                          <a:ea typeface="Arial"/>
                          <a:cs typeface="Arial"/>
                        </a:rPr>
                        <a:t>Journey context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GPS supplies position and actual IST time. Spare travel can be set from 0 to 30 min.</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13657">
                <a:tc>
                  <a:txBody>
                    <a:bodyPr wrap="square">
                      <a:noAutofit/>
                    </a:bodyPr>
                    <a:lstStyle/>
                    <a:p>
                      <a:pPr algn="l"/>
                      <a:r>
                        <a:rPr sz="1223" b="0">
                          <a:solidFill>
                            <a:srgbClr val="002C5F"/>
                          </a:solidFill>
                          <a:latin typeface="Arial"/>
                          <a:ea typeface="Arial"/>
                          <a:cs typeface="Arial"/>
                        </a:rPr>
                        <a:t>Advance timing</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Automatic suggestions target an upcoming venue before its route position.</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13657">
                <a:tc>
                  <a:txBody>
                    <a:bodyPr wrap="square">
                      <a:noAutofit/>
                    </a:bodyPr>
                    <a:lstStyle/>
                    <a:p>
                      <a:pPr algn="l"/>
                      <a:r>
                        <a:rPr sz="1223" b="0">
                          <a:solidFill>
                            <a:srgbClr val="002C5F"/>
                          </a:solidFill>
                          <a:latin typeface="Arial"/>
                          <a:ea typeface="Arial"/>
                          <a:cs typeface="Arial"/>
                        </a:rPr>
                        <a:t>Limited interruption</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At most two automatic alerts per trip, with a minimum separation of 250 m.</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13657">
                <a:tc>
                  <a:txBody>
                    <a:bodyPr wrap="square">
                      <a:noAutofit/>
                    </a:bodyPr>
                    <a:lstStyle/>
                    <a:p>
                      <a:pPr algn="l"/>
                      <a:r>
                        <a:rPr sz="1223" b="0">
                          <a:solidFill>
                            <a:srgbClr val="002C5F"/>
                          </a:solidFill>
                          <a:latin typeface="Arial"/>
                          <a:ea typeface="Arial"/>
                          <a:cs typeface="Arial"/>
                        </a:rPr>
                        <a:t>Explicit adaptation</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Accept and Reject alter preferences. Dismissal and timeout remain neutral.</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13657">
                <a:tc>
                  <a:txBody>
                    <a:bodyPr wrap="square">
                      <a:noAutofit/>
                    </a:bodyPr>
                    <a:lstStyle/>
                    <a:p>
                      <a:pPr algn="l"/>
                      <a:r>
                        <a:rPr sz="1223" b="0">
                          <a:solidFill>
                            <a:srgbClr val="002C5F"/>
                          </a:solidFill>
                          <a:latin typeface="Arial"/>
                          <a:ea typeface="Arial"/>
                          <a:cs typeface="Arial"/>
                        </a:rPr>
                        <a:t>Continuity of data</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Local preferences and completed-trip records persist across ordinary app restarts.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bl>
          </a:graphicData>
        </a:graphic>
      </p:graphicFrame>
      <p:sp>
        <p:nvSpPr>
          <p:cNvPr id="28" name="Budget scope">
            <a:extLst xmlns:a="http://schemas.openxmlformats.org/drawingml/2006/main">
              <a:ext uri="{FF2B5EF4-FFF2-40B4-BE49-F238E27FC236}">
                <a16:creationId xmlns:a16="http://schemas.microsoft.com/office/drawing/2014/main" id="{C0E4A23A-8F83-4078-90E7-01C1D69C5A0A}"/>
              </a:ext>
            </a:extLst>
          </p:cNvPr>
          <p:cNvSpPr>
            <a:spLocks xmlns:a="http://schemas.openxmlformats.org/drawingml/2006/main" noGrp="1"/>
          </p:cNvSpPr>
          <p:nvPr/>
        </p:nvSpPr>
        <p:spPr>
          <a:xfrm xmlns:a="http://schemas.openxmlformats.org/drawingml/2006/main">
            <a:off x="657225" y="4410075"/>
            <a:ext cx="77819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The spare-time setting limits estimated extra travel. It does not include food preparation, waiting or eating.</a:t>
            </a:r>
          </a:p>
        </p:txBody>
      </p:sp>
    </p:spTree>
    <p:extLst>
      <p:ext uri="{BB962C8B-B14F-4D97-AF65-F5344CB8AC3E}">
        <p14:creationId xmlns:p14="http://schemas.microsoft.com/office/powerpoint/2010/main" val="46743983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Route and input dataset</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05</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Fixed direction: Jwalamukhi Hostel to IIT Delhi Post Office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EE5B3003-2C54-13C6-9832-7637201064DE}" type="slidenum">
              <a:rPr sz="900" b="0">
                <a:solidFill>
                  <a:srgbClr val="626B73"/>
                </a:solidFill>
                <a:latin typeface="Arial"/>
                <a:ea typeface="Arial"/>
                <a:cs typeface="Arial"/>
              </a:rPr>
              <a:t>5</a:t>
            </a:fld>
            <a:endParaRPr/>
          </a:p>
        </p:txBody>
      </p:sp>
      <p:sp>
        <p:nvSpPr>
          <p:cNvPr id="26" name="Source note">
            <a:extLst xmlns:a="http://schemas.openxmlformats.org/drawingml/2006/main">
              <a:ext uri="{FF2B5EF4-FFF2-40B4-BE49-F238E27FC236}">
                <a16:creationId xmlns:a16="http://schemas.microsoft.com/office/drawing/2014/main" id="{E5092856-88B2-43D7-A6FD-404C2575BBB0}"/>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route.json, cafes.json and supplied KML. Geometry computed from the frozen data [S1, S4].</a:t>
            </a:r>
          </a:p>
        </p:txBody>
      </p:sp>
      <p:sp>
        <p:nvSpPr>
          <p:cNvPr id="27" name="Route facts heading">
            <a:extLst xmlns:a="http://schemas.openxmlformats.org/drawingml/2006/main">
              <a:ext uri="{FF2B5EF4-FFF2-40B4-BE49-F238E27FC236}">
                <a16:creationId xmlns:a16="http://schemas.microsoft.com/office/drawing/2014/main" id="{290EC0B8-F8DD-4F03-AA57-65F9FE64537B}"/>
              </a:ext>
            </a:extLst>
          </p:cNvPr>
          <p:cNvSpPr>
            <a:spLocks xmlns:a="http://schemas.openxmlformats.org/drawingml/2006/main" noGrp="1"/>
          </p:cNvSpPr>
          <p:nvPr/>
        </p:nvSpPr>
        <p:spPr>
          <a:xfrm xmlns:a="http://schemas.openxmlformats.org/drawingml/2006/main">
            <a:off x="657225" y="1381125"/>
            <a:ext cx="342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Demonstration scope</a:t>
            </a:r>
          </a:p>
        </p:txBody>
      </p:sp>
      <p:sp>
        <p:nvSpPr>
          <p:cNvPr id="28" name="Route facts">
            <a:extLst xmlns:a="http://schemas.openxmlformats.org/drawingml/2006/main">
              <a:ext uri="{FF2B5EF4-FFF2-40B4-BE49-F238E27FC236}">
                <a16:creationId xmlns:a16="http://schemas.microsoft.com/office/drawing/2014/main" id="{EE2A6CCD-DE3D-4970-BFB3-8595D4B270BA}"/>
              </a:ext>
            </a:extLst>
          </p:cNvPr>
          <p:cNvSpPr>
            <a:spLocks xmlns:a="http://schemas.openxmlformats.org/drawingml/2006/main" noGrp="1"/>
          </p:cNvSpPr>
          <p:nvPr/>
        </p:nvSpPr>
        <p:spPr>
          <a:xfrm xmlns:a="http://schemas.openxmlformats.org/drawingml/2006/main">
            <a:off x="657225" y="1752600"/>
            <a:ext cx="36385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Route length: 2,048.3 m, shown as 2.05 km.</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183 ordered points form 182 line segments.</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Nine venues contain 40 menu entries.</a:t>
            </a:r>
          </a:p>
          <a:p xmlns:a="http://schemas.openxmlformats.org/drawingml/2006/main">
            <a:r>
              <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Each venue has coordinates, a category,</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opening hours, a rating and price ranges.</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These are supplied, saved demonstration data.</a:t>
            </a:r>
          </a:p>
        </p:txBody>
      </p:sp>
      <p:sp>
        <p:nvSpPr>
          <p:cNvPr id="29" name="Direction scope">
            <a:extLst xmlns:a="http://schemas.openxmlformats.org/drawingml/2006/main">
              <a:ext uri="{FF2B5EF4-FFF2-40B4-BE49-F238E27FC236}">
                <a16:creationId xmlns:a16="http://schemas.microsoft.com/office/drawing/2014/main" id="{E198AD1D-DD5A-42D3-A3D6-C28552ADE011}"/>
              </a:ext>
            </a:extLst>
          </p:cNvPr>
          <p:cNvSpPr>
            <a:spLocks xmlns:a="http://schemas.openxmlformats.org/drawingml/2006/main" noGrp="1"/>
          </p:cNvSpPr>
          <p:nvPr/>
        </p:nvSpPr>
        <p:spPr>
          <a:xfrm xmlns:a="http://schemas.openxmlformats.org/drawingml/2006/main">
            <a:off x="657225" y="3781425"/>
            <a:ext cx="3619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The current route has one supported direction.</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Reverse travel and arbitrary destinations</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are outside the submitted implementation.</a:t>
            </a:r>
          </a:p>
        </p:txBody>
      </p:sp>
      <p:sp>
        <p:nvSpPr>
          <p:cNvPr id="30" name="KML route geometry">
            <a:extLst xmlns:a="http://schemas.openxmlformats.org/drawingml/2006/main">
              <a:ext uri="{FF2B5EF4-FFF2-40B4-BE49-F238E27FC236}">
                <a16:creationId xmlns:a16="http://schemas.microsoft.com/office/drawing/2014/main" id="{F9589D47-09A9-4895-AF86-2EF07D24CC1F}"/>
              </a:ext>
            </a:extLst>
          </p:cNvPr>
          <p:cNvSpPr>
            <a:spLocks xmlns:a="http://schemas.openxmlformats.org/drawingml/2006/main" noGrp="1"/>
          </p:cNvSpPr>
          <p:nvPr/>
        </p:nvSpPr>
        <p:spPr>
          <a:xfrm xmlns:a="http://schemas.openxmlformats.org/drawingml/2006/main">
            <a:off x="4772025" y="1676400"/>
            <a:ext cx="3476625" cy="1629415"/>
          </a:xfrm>
          <a:custGeom xmlns:a="http://schemas.openxmlformats.org/drawingml/2006/main">
            <a:pathLst>
              <a:path w="3476625" h="1629415">
                <a:moveTo>
                  <a:pt x="11164" y="0"/>
                </a:moveTo>
                <a:lnTo>
                  <a:pt x="29028" y="35588"/>
                </a:lnTo>
                <a:lnTo>
                  <a:pt x="31261" y="38130"/>
                </a:lnTo>
                <a:lnTo>
                  <a:pt x="37959" y="40672"/>
                </a:lnTo>
                <a:lnTo>
                  <a:pt x="46891" y="43214"/>
                </a:lnTo>
                <a:lnTo>
                  <a:pt x="55822" y="43214"/>
                </a:lnTo>
                <a:lnTo>
                  <a:pt x="60288" y="40672"/>
                </a:lnTo>
                <a:lnTo>
                  <a:pt x="71453" y="35588"/>
                </a:lnTo>
                <a:lnTo>
                  <a:pt x="84850" y="30504"/>
                </a:lnTo>
                <a:lnTo>
                  <a:pt x="96015" y="30504"/>
                </a:lnTo>
                <a:lnTo>
                  <a:pt x="104946" y="27962"/>
                </a:lnTo>
                <a:lnTo>
                  <a:pt x="118344" y="30504"/>
                </a:lnTo>
                <a:lnTo>
                  <a:pt x="129508" y="30504"/>
                </a:lnTo>
                <a:lnTo>
                  <a:pt x="142906" y="38130"/>
                </a:lnTo>
                <a:lnTo>
                  <a:pt x="154070" y="43214"/>
                </a:lnTo>
                <a:lnTo>
                  <a:pt x="169700" y="55924"/>
                </a:lnTo>
                <a:lnTo>
                  <a:pt x="171933" y="53382"/>
                </a:lnTo>
                <a:lnTo>
                  <a:pt x="171933" y="50840"/>
                </a:lnTo>
                <a:lnTo>
                  <a:pt x="174166" y="50840"/>
                </a:lnTo>
                <a:lnTo>
                  <a:pt x="174166" y="48298"/>
                </a:lnTo>
                <a:lnTo>
                  <a:pt x="176399" y="48298"/>
                </a:lnTo>
                <a:lnTo>
                  <a:pt x="176399" y="45756"/>
                </a:lnTo>
                <a:lnTo>
                  <a:pt x="178632" y="45756"/>
                </a:lnTo>
                <a:lnTo>
                  <a:pt x="178632" y="43214"/>
                </a:lnTo>
                <a:lnTo>
                  <a:pt x="180865" y="43214"/>
                </a:lnTo>
                <a:lnTo>
                  <a:pt x="183098" y="43214"/>
                </a:lnTo>
                <a:lnTo>
                  <a:pt x="185331" y="40672"/>
                </a:lnTo>
                <a:lnTo>
                  <a:pt x="187564" y="40672"/>
                </a:lnTo>
                <a:lnTo>
                  <a:pt x="189796" y="40672"/>
                </a:lnTo>
                <a:lnTo>
                  <a:pt x="192029" y="40672"/>
                </a:lnTo>
                <a:lnTo>
                  <a:pt x="194262" y="40672"/>
                </a:lnTo>
                <a:lnTo>
                  <a:pt x="196495" y="40672"/>
                </a:lnTo>
                <a:lnTo>
                  <a:pt x="196495" y="43214"/>
                </a:lnTo>
                <a:lnTo>
                  <a:pt x="198728" y="43214"/>
                </a:lnTo>
                <a:lnTo>
                  <a:pt x="200961" y="43214"/>
                </a:lnTo>
                <a:lnTo>
                  <a:pt x="203194" y="43214"/>
                </a:lnTo>
                <a:lnTo>
                  <a:pt x="205427" y="45756"/>
                </a:lnTo>
                <a:lnTo>
                  <a:pt x="207660" y="45756"/>
                </a:lnTo>
                <a:lnTo>
                  <a:pt x="207660" y="48298"/>
                </a:lnTo>
                <a:lnTo>
                  <a:pt x="209893" y="48298"/>
                </a:lnTo>
                <a:lnTo>
                  <a:pt x="212125" y="50840"/>
                </a:lnTo>
                <a:lnTo>
                  <a:pt x="212125" y="53382"/>
                </a:lnTo>
                <a:lnTo>
                  <a:pt x="214358" y="55924"/>
                </a:lnTo>
                <a:lnTo>
                  <a:pt x="214358" y="58466"/>
                </a:lnTo>
                <a:lnTo>
                  <a:pt x="214358" y="61008"/>
                </a:lnTo>
                <a:lnTo>
                  <a:pt x="214358" y="63550"/>
                </a:lnTo>
                <a:lnTo>
                  <a:pt x="214358" y="66092"/>
                </a:lnTo>
                <a:lnTo>
                  <a:pt x="212125" y="66092"/>
                </a:lnTo>
                <a:lnTo>
                  <a:pt x="212125" y="68634"/>
                </a:lnTo>
                <a:lnTo>
                  <a:pt x="212125" y="71176"/>
                </a:lnTo>
                <a:lnTo>
                  <a:pt x="209893" y="76260"/>
                </a:lnTo>
                <a:lnTo>
                  <a:pt x="205427" y="81344"/>
                </a:lnTo>
                <a:lnTo>
                  <a:pt x="203194" y="81344"/>
                </a:lnTo>
                <a:lnTo>
                  <a:pt x="200961" y="83886"/>
                </a:lnTo>
                <a:lnTo>
                  <a:pt x="200961" y="86428"/>
                </a:lnTo>
                <a:lnTo>
                  <a:pt x="198728" y="86428"/>
                </a:lnTo>
                <a:lnTo>
                  <a:pt x="196495" y="86428"/>
                </a:lnTo>
                <a:lnTo>
                  <a:pt x="194262" y="86428"/>
                </a:lnTo>
                <a:lnTo>
                  <a:pt x="192029" y="86428"/>
                </a:lnTo>
                <a:lnTo>
                  <a:pt x="189796" y="86428"/>
                </a:lnTo>
                <a:lnTo>
                  <a:pt x="187564" y="86428"/>
                </a:lnTo>
                <a:lnTo>
                  <a:pt x="183098" y="83886"/>
                </a:lnTo>
                <a:lnTo>
                  <a:pt x="160769" y="144893"/>
                </a:lnTo>
                <a:lnTo>
                  <a:pt x="100480" y="282161"/>
                </a:lnTo>
                <a:lnTo>
                  <a:pt x="91549" y="299955"/>
                </a:lnTo>
                <a:lnTo>
                  <a:pt x="71453" y="340627"/>
                </a:lnTo>
                <a:lnTo>
                  <a:pt x="49124" y="396550"/>
                </a:lnTo>
                <a:lnTo>
                  <a:pt x="0" y="493146"/>
                </a:lnTo>
                <a:lnTo>
                  <a:pt x="104946" y="541444"/>
                </a:lnTo>
                <a:lnTo>
                  <a:pt x="192029" y="577032"/>
                </a:lnTo>
                <a:lnTo>
                  <a:pt x="238920" y="602452"/>
                </a:lnTo>
                <a:lnTo>
                  <a:pt x="272414" y="620245"/>
                </a:lnTo>
                <a:lnTo>
                  <a:pt x="294743" y="640581"/>
                </a:lnTo>
                <a:lnTo>
                  <a:pt x="296976" y="635497"/>
                </a:lnTo>
                <a:lnTo>
                  <a:pt x="301441" y="630413"/>
                </a:lnTo>
                <a:lnTo>
                  <a:pt x="308140" y="625329"/>
                </a:lnTo>
                <a:lnTo>
                  <a:pt x="312606" y="625329"/>
                </a:lnTo>
                <a:lnTo>
                  <a:pt x="319305" y="622787"/>
                </a:lnTo>
                <a:lnTo>
                  <a:pt x="326003" y="622787"/>
                </a:lnTo>
                <a:lnTo>
                  <a:pt x="330469" y="625329"/>
                </a:lnTo>
                <a:lnTo>
                  <a:pt x="332702" y="625329"/>
                </a:lnTo>
                <a:lnTo>
                  <a:pt x="334935" y="625329"/>
                </a:lnTo>
                <a:lnTo>
                  <a:pt x="337168" y="627871"/>
                </a:lnTo>
                <a:lnTo>
                  <a:pt x="339401" y="627871"/>
                </a:lnTo>
                <a:lnTo>
                  <a:pt x="339401" y="630413"/>
                </a:lnTo>
                <a:lnTo>
                  <a:pt x="341634" y="630413"/>
                </a:lnTo>
                <a:lnTo>
                  <a:pt x="341634" y="632955"/>
                </a:lnTo>
                <a:lnTo>
                  <a:pt x="343867" y="632955"/>
                </a:lnTo>
                <a:lnTo>
                  <a:pt x="346099" y="635497"/>
                </a:lnTo>
                <a:lnTo>
                  <a:pt x="346099" y="638039"/>
                </a:lnTo>
                <a:lnTo>
                  <a:pt x="348332" y="638039"/>
                </a:lnTo>
                <a:lnTo>
                  <a:pt x="348332" y="640581"/>
                </a:lnTo>
                <a:lnTo>
                  <a:pt x="348332" y="643123"/>
                </a:lnTo>
                <a:lnTo>
                  <a:pt x="348332" y="645665"/>
                </a:lnTo>
                <a:lnTo>
                  <a:pt x="350565" y="645665"/>
                </a:lnTo>
                <a:lnTo>
                  <a:pt x="350565" y="648207"/>
                </a:lnTo>
                <a:lnTo>
                  <a:pt x="350565" y="650749"/>
                </a:lnTo>
                <a:lnTo>
                  <a:pt x="350565" y="653291"/>
                </a:lnTo>
                <a:lnTo>
                  <a:pt x="350565" y="655833"/>
                </a:lnTo>
                <a:lnTo>
                  <a:pt x="348332" y="658375"/>
                </a:lnTo>
                <a:lnTo>
                  <a:pt x="348332" y="660917"/>
                </a:lnTo>
                <a:lnTo>
                  <a:pt x="348332" y="663459"/>
                </a:lnTo>
                <a:lnTo>
                  <a:pt x="346099" y="666001"/>
                </a:lnTo>
                <a:lnTo>
                  <a:pt x="473375" y="724467"/>
                </a:lnTo>
                <a:lnTo>
                  <a:pt x="515800" y="742261"/>
                </a:lnTo>
                <a:lnTo>
                  <a:pt x="683267" y="815979"/>
                </a:lnTo>
                <a:lnTo>
                  <a:pt x="741323" y="843941"/>
                </a:lnTo>
                <a:lnTo>
                  <a:pt x="790447" y="866818"/>
                </a:lnTo>
                <a:lnTo>
                  <a:pt x="837337" y="884612"/>
                </a:lnTo>
                <a:lnTo>
                  <a:pt x="1020435" y="971040"/>
                </a:lnTo>
                <a:lnTo>
                  <a:pt x="1241492" y="1075262"/>
                </a:lnTo>
                <a:lnTo>
                  <a:pt x="1371000" y="1136269"/>
                </a:lnTo>
                <a:lnTo>
                  <a:pt x="1382165" y="1143895"/>
                </a:lnTo>
                <a:lnTo>
                  <a:pt x="1415658" y="1159147"/>
                </a:lnTo>
                <a:lnTo>
                  <a:pt x="1493810" y="1194735"/>
                </a:lnTo>
                <a:lnTo>
                  <a:pt x="1645647" y="1268453"/>
                </a:lnTo>
                <a:lnTo>
                  <a:pt x="1688072" y="1286247"/>
                </a:lnTo>
                <a:lnTo>
                  <a:pt x="1705935" y="1296415"/>
                </a:lnTo>
                <a:lnTo>
                  <a:pt x="1748361" y="1311667"/>
                </a:lnTo>
                <a:lnTo>
                  <a:pt x="1761758" y="1316751"/>
                </a:lnTo>
                <a:lnTo>
                  <a:pt x="1775155" y="1321835"/>
                </a:lnTo>
                <a:lnTo>
                  <a:pt x="1786320" y="1321835"/>
                </a:lnTo>
                <a:lnTo>
                  <a:pt x="1801950" y="1321835"/>
                </a:lnTo>
                <a:lnTo>
                  <a:pt x="1815348" y="1321835"/>
                </a:lnTo>
                <a:lnTo>
                  <a:pt x="1844375" y="1321835"/>
                </a:lnTo>
                <a:lnTo>
                  <a:pt x="1860006" y="1309125"/>
                </a:lnTo>
                <a:lnTo>
                  <a:pt x="1940390" y="1273537"/>
                </a:lnTo>
                <a:lnTo>
                  <a:pt x="2018541" y="1243033"/>
                </a:lnTo>
                <a:lnTo>
                  <a:pt x="2152515" y="1192193"/>
                </a:lnTo>
                <a:lnTo>
                  <a:pt x="2210571" y="1166773"/>
                </a:lnTo>
                <a:lnTo>
                  <a:pt x="2264160" y="1143895"/>
                </a:lnTo>
                <a:lnTo>
                  <a:pt x="2277558" y="1138811"/>
                </a:lnTo>
                <a:lnTo>
                  <a:pt x="2295421" y="1133727"/>
                </a:lnTo>
                <a:lnTo>
                  <a:pt x="2362408" y="1108307"/>
                </a:lnTo>
                <a:lnTo>
                  <a:pt x="2378038" y="1103223"/>
                </a:lnTo>
                <a:lnTo>
                  <a:pt x="2380271" y="1100681"/>
                </a:lnTo>
                <a:lnTo>
                  <a:pt x="2382504" y="1098139"/>
                </a:lnTo>
                <a:lnTo>
                  <a:pt x="2384737" y="1098139"/>
                </a:lnTo>
                <a:lnTo>
                  <a:pt x="2389203" y="1095597"/>
                </a:lnTo>
                <a:lnTo>
                  <a:pt x="2391436" y="1093055"/>
                </a:lnTo>
                <a:lnTo>
                  <a:pt x="2393669" y="1093055"/>
                </a:lnTo>
                <a:lnTo>
                  <a:pt x="2398134" y="1093055"/>
                </a:lnTo>
                <a:lnTo>
                  <a:pt x="2400367" y="1090513"/>
                </a:lnTo>
                <a:lnTo>
                  <a:pt x="2404833" y="1090513"/>
                </a:lnTo>
                <a:lnTo>
                  <a:pt x="2407066" y="1090513"/>
                </a:lnTo>
                <a:lnTo>
                  <a:pt x="2411532" y="1090513"/>
                </a:lnTo>
                <a:lnTo>
                  <a:pt x="2415998" y="1090513"/>
                </a:lnTo>
                <a:lnTo>
                  <a:pt x="2420463" y="1093055"/>
                </a:lnTo>
                <a:lnTo>
                  <a:pt x="2424929" y="1095597"/>
                </a:lnTo>
                <a:lnTo>
                  <a:pt x="2427162" y="1095597"/>
                </a:lnTo>
                <a:lnTo>
                  <a:pt x="2429395" y="1098139"/>
                </a:lnTo>
                <a:lnTo>
                  <a:pt x="2429395" y="1100681"/>
                </a:lnTo>
                <a:lnTo>
                  <a:pt x="2431628" y="1103223"/>
                </a:lnTo>
                <a:lnTo>
                  <a:pt x="2433861" y="1105765"/>
                </a:lnTo>
                <a:lnTo>
                  <a:pt x="2436094" y="1108307"/>
                </a:lnTo>
                <a:lnTo>
                  <a:pt x="2436094" y="1110849"/>
                </a:lnTo>
                <a:lnTo>
                  <a:pt x="2436094" y="1113391"/>
                </a:lnTo>
                <a:lnTo>
                  <a:pt x="2438327" y="1115933"/>
                </a:lnTo>
                <a:lnTo>
                  <a:pt x="2438327" y="1118475"/>
                </a:lnTo>
                <a:lnTo>
                  <a:pt x="2438327" y="1121017"/>
                </a:lnTo>
                <a:lnTo>
                  <a:pt x="2438327" y="1123559"/>
                </a:lnTo>
                <a:lnTo>
                  <a:pt x="2438327" y="1126101"/>
                </a:lnTo>
                <a:lnTo>
                  <a:pt x="2438327" y="1128643"/>
                </a:lnTo>
                <a:lnTo>
                  <a:pt x="2456190" y="1161689"/>
                </a:lnTo>
                <a:lnTo>
                  <a:pt x="2465121" y="1174399"/>
                </a:lnTo>
                <a:lnTo>
                  <a:pt x="2476286" y="1192193"/>
                </a:lnTo>
                <a:lnTo>
                  <a:pt x="2491916" y="1202361"/>
                </a:lnTo>
                <a:lnTo>
                  <a:pt x="2512012" y="1212529"/>
                </a:lnTo>
                <a:lnTo>
                  <a:pt x="2610260" y="1255743"/>
                </a:lnTo>
                <a:lnTo>
                  <a:pt x="2616959" y="1258285"/>
                </a:lnTo>
                <a:lnTo>
                  <a:pt x="2683946" y="1293873"/>
                </a:lnTo>
                <a:lnTo>
                  <a:pt x="2686178" y="1296415"/>
                </a:lnTo>
                <a:lnTo>
                  <a:pt x="2762097" y="1329461"/>
                </a:lnTo>
                <a:lnTo>
                  <a:pt x="2927332" y="1395552"/>
                </a:lnTo>
                <a:lnTo>
                  <a:pt x="2954126" y="1405720"/>
                </a:lnTo>
                <a:lnTo>
                  <a:pt x="2974223" y="1410804"/>
                </a:lnTo>
                <a:lnTo>
                  <a:pt x="2985387" y="1415888"/>
                </a:lnTo>
                <a:lnTo>
                  <a:pt x="3166252" y="1492148"/>
                </a:lnTo>
                <a:lnTo>
                  <a:pt x="3268965" y="1542988"/>
                </a:lnTo>
                <a:lnTo>
                  <a:pt x="3340418" y="1576033"/>
                </a:lnTo>
                <a:lnTo>
                  <a:pt x="3344884" y="1578575"/>
                </a:lnTo>
                <a:lnTo>
                  <a:pt x="3427501" y="1611621"/>
                </a:lnTo>
                <a:lnTo>
                  <a:pt x="3476625" y="1629415"/>
                </a:lnTo>
              </a:path>
            </a:pathLst>
          </a:custGeom>
          <a:noFill xmlns:a="http://schemas.openxmlformats.org/drawingml/2006/main"/>
          <a:ln xmlns:a="http://schemas.openxmlformats.org/drawingml/2006/main" w="28575">
            <a:solidFill>
              <a:srgbClr val="00AAD2"/>
            </a:solidFill>
            <a:prstDash val="solid"/>
          </a:ln>
        </p:spPr>
      </p:sp>
      <p:sp>
        <p:nvSpPr>
          <p:cNvPr id="31" name="Origin">
            <a:extLst xmlns:a="http://schemas.openxmlformats.org/drawingml/2006/main">
              <a:ext uri="{FF2B5EF4-FFF2-40B4-BE49-F238E27FC236}">
                <a16:creationId xmlns:a16="http://schemas.microsoft.com/office/drawing/2014/main" id="{E9515F58-014D-4705-BC99-BADD945C687A}"/>
              </a:ext>
            </a:extLst>
          </p:cNvPr>
          <p:cNvSpPr>
            <a:spLocks xmlns:a="http://schemas.openxmlformats.org/drawingml/2006/main" noGrp="1"/>
          </p:cNvSpPr>
          <p:nvPr/>
        </p:nvSpPr>
        <p:spPr>
          <a:xfrm xmlns:a="http://schemas.openxmlformats.org/drawingml/2006/main">
            <a:off x="4745089" y="1638300"/>
            <a:ext cx="76200" cy="76200"/>
          </a:xfrm>
          <a:prstGeom xmlns:a="http://schemas.openxmlformats.org/drawingml/2006/main" prst="ellipse">
            <a:avLst/>
          </a:prstGeom>
          <a:solidFill xmlns:a="http://schemas.openxmlformats.org/drawingml/2006/main">
            <a:srgbClr val="002C5F"/>
          </a:solidFill>
          <a:ln xmlns:a="http://schemas.openxmlformats.org/drawingml/2006/main" w="0">
            <a:noFill/>
            <a:prstDash val="solid"/>
          </a:ln>
        </p:spPr>
      </p:sp>
      <p:sp>
        <p:nvSpPr>
          <p:cNvPr id="32" name="Destination">
            <a:extLst xmlns:a="http://schemas.openxmlformats.org/drawingml/2006/main">
              <a:ext uri="{FF2B5EF4-FFF2-40B4-BE49-F238E27FC236}">
                <a16:creationId xmlns:a16="http://schemas.microsoft.com/office/drawing/2014/main" id="{DD35C6B0-E039-4A22-ACDA-6C17EC54290E}"/>
              </a:ext>
            </a:extLst>
          </p:cNvPr>
          <p:cNvSpPr>
            <a:spLocks xmlns:a="http://schemas.openxmlformats.org/drawingml/2006/main" noGrp="1"/>
          </p:cNvSpPr>
          <p:nvPr/>
        </p:nvSpPr>
        <p:spPr>
          <a:xfrm xmlns:a="http://schemas.openxmlformats.org/drawingml/2006/main">
            <a:off x="8210550" y="3267715"/>
            <a:ext cx="76200" cy="76200"/>
          </a:xfrm>
          <a:prstGeom xmlns:a="http://schemas.openxmlformats.org/drawingml/2006/main" prst="ellipse">
            <a:avLst/>
          </a:prstGeom>
          <a:solidFill xmlns:a="http://schemas.openxmlformats.org/drawingml/2006/main">
            <a:srgbClr val="002C5F"/>
          </a:solidFill>
          <a:ln xmlns:a="http://schemas.openxmlformats.org/drawingml/2006/main" w="0">
            <a:noFill/>
            <a:prstDash val="solid"/>
          </a:ln>
        </p:spPr>
      </p:sp>
      <p:sp>
        <p:nvSpPr>
          <p:cNvPr id="33" name="Origin geographic label">
            <a:extLst xmlns:a="http://schemas.openxmlformats.org/drawingml/2006/main">
              <a:ext uri="{FF2B5EF4-FFF2-40B4-BE49-F238E27FC236}">
                <a16:creationId xmlns:a16="http://schemas.microsoft.com/office/drawing/2014/main" id="{94EA9944-4376-4904-A20A-2693717FE9ED}"/>
              </a:ext>
            </a:extLst>
          </p:cNvPr>
          <p:cNvSpPr>
            <a:spLocks xmlns:a="http://schemas.openxmlformats.org/drawingml/2006/main" noGrp="1"/>
          </p:cNvSpPr>
          <p:nvPr/>
        </p:nvSpPr>
        <p:spPr>
          <a:xfrm xmlns:a="http://schemas.openxmlformats.org/drawingml/2006/main">
            <a:off x="4772025" y="13811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23" b="1">
                <a:solidFill>
                  <a:srgbClr val="002C5F"/>
                </a:solidFill>
                <a:latin typeface="Arial"/>
                <a:ea typeface="Arial"/>
                <a:cs typeface="Arial"/>
              </a:defRPr>
            </a:defPPr>
            <a:lvl1pPr algn="l">
              <a:defRPr sz="1223" b="1">
                <a:solidFill>
                  <a:srgbClr val="002C5F"/>
                </a:solidFill>
                <a:latin typeface="Arial"/>
                <a:ea typeface="Arial"/>
                <a:cs typeface="Arial"/>
              </a:defRPr>
            </a:lvl1pPr>
            <a:lvl2pPr algn="l">
              <a:defRPr sz="1223" b="1">
                <a:solidFill>
                  <a:srgbClr val="002C5F"/>
                </a:solidFill>
                <a:latin typeface="Arial"/>
                <a:ea typeface="Arial"/>
                <a:cs typeface="Arial"/>
              </a:defRPr>
            </a:lvl2pPr>
            <a:lvl3pPr algn="l">
              <a:defRPr sz="1223" b="1">
                <a:solidFill>
                  <a:srgbClr val="002C5F"/>
                </a:solidFill>
                <a:latin typeface="Arial"/>
                <a:ea typeface="Arial"/>
                <a:cs typeface="Arial"/>
              </a:defRPr>
            </a:lvl3pPr>
            <a:lvl4pPr algn="l">
              <a:defRPr sz="1223" b="1">
                <a:solidFill>
                  <a:srgbClr val="002C5F"/>
                </a:solidFill>
                <a:latin typeface="Arial"/>
                <a:ea typeface="Arial"/>
                <a:cs typeface="Arial"/>
              </a:defRPr>
            </a:lvl4pPr>
            <a:lvl5pPr algn="l">
              <a:defRPr sz="1223" b="1">
                <a:solidFill>
                  <a:srgbClr val="002C5F"/>
                </a:solidFill>
                <a:latin typeface="Arial"/>
                <a:ea typeface="Arial"/>
                <a:cs typeface="Arial"/>
              </a:defRPr>
            </a:lvl5pPr>
            <a:lvl6pPr algn="l">
              <a:defRPr sz="1223" b="1">
                <a:solidFill>
                  <a:srgbClr val="002C5F"/>
                </a:solidFill>
                <a:latin typeface="Arial"/>
                <a:ea typeface="Arial"/>
                <a:cs typeface="Arial"/>
              </a:defRPr>
            </a:lvl6pPr>
            <a:lvl7pPr algn="l">
              <a:defRPr sz="1223" b="1">
                <a:solidFill>
                  <a:srgbClr val="002C5F"/>
                </a:solidFill>
                <a:latin typeface="Arial"/>
                <a:ea typeface="Arial"/>
                <a:cs typeface="Arial"/>
              </a:defRPr>
            </a:lvl7pPr>
            <a:lvl8pPr algn="l">
              <a:defRPr sz="1223" b="1">
                <a:solidFill>
                  <a:srgbClr val="002C5F"/>
                </a:solidFill>
                <a:latin typeface="Arial"/>
                <a:ea typeface="Arial"/>
                <a:cs typeface="Arial"/>
              </a:defRPr>
            </a:lvl8pPr>
            <a:lvl9pPr algn="l">
              <a:defRPr sz="1223" b="1">
                <a:solidFill>
                  <a:srgbClr val="002C5F"/>
                </a:solidFill>
                <a:latin typeface="Arial"/>
                <a:ea typeface="Arial"/>
                <a:cs typeface="Arial"/>
              </a:defRPr>
            </a:lvl9pPr>
          </a:lstStyle>
          <a:p xmlns:a="http://schemas.openxmlformats.org/drawingml/2006/main">
            <a:pPr algn="l">
              <a:defRPr sz="1223" b="1">
                <a:solidFill>
                  <a:srgbClr val="002C5F"/>
                </a:solidFill>
                <a:latin typeface="Arial"/>
                <a:ea typeface="Arial"/>
                <a:cs typeface="Arial"/>
              </a:defRPr>
            </a:pPr>
            <a:r>
              <a:rPr sz="1223" b="1">
                <a:solidFill>
                  <a:srgbClr val="002C5F"/>
                </a:solidFill>
                <a:latin typeface="Arial"/>
                <a:ea typeface="Arial"/>
                <a:cs typeface="Arial"/>
              </a:rPr>
              <a:t>Jwalamukhi Hostel</a:t>
            </a:r>
          </a:p>
        </p:txBody>
      </p:sp>
      <p:sp>
        <p:nvSpPr>
          <p:cNvPr id="34" name="Destination geographic label">
            <a:extLst xmlns:a="http://schemas.openxmlformats.org/drawingml/2006/main">
              <a:ext uri="{FF2B5EF4-FFF2-40B4-BE49-F238E27FC236}">
                <a16:creationId xmlns:a16="http://schemas.microsoft.com/office/drawing/2014/main" id="{920D4244-9234-4877-B9C8-648B49763AFB}"/>
              </a:ext>
            </a:extLst>
          </p:cNvPr>
          <p:cNvSpPr>
            <a:spLocks xmlns:a="http://schemas.openxmlformats.org/drawingml/2006/main" noGrp="1"/>
          </p:cNvSpPr>
          <p:nvPr/>
        </p:nvSpPr>
        <p:spPr>
          <a:xfrm xmlns:a="http://schemas.openxmlformats.org/drawingml/2006/main">
            <a:off x="6153150" y="3476625"/>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23" b="1">
                <a:solidFill>
                  <a:srgbClr val="002C5F"/>
                </a:solidFill>
                <a:latin typeface="Arial"/>
                <a:ea typeface="Arial"/>
                <a:cs typeface="Arial"/>
              </a:defRPr>
            </a:defPPr>
            <a:lvl1pPr algn="l">
              <a:defRPr sz="1223" b="1">
                <a:solidFill>
                  <a:srgbClr val="002C5F"/>
                </a:solidFill>
                <a:latin typeface="Arial"/>
                <a:ea typeface="Arial"/>
                <a:cs typeface="Arial"/>
              </a:defRPr>
            </a:lvl1pPr>
            <a:lvl2pPr algn="l">
              <a:defRPr sz="1223" b="1">
                <a:solidFill>
                  <a:srgbClr val="002C5F"/>
                </a:solidFill>
                <a:latin typeface="Arial"/>
                <a:ea typeface="Arial"/>
                <a:cs typeface="Arial"/>
              </a:defRPr>
            </a:lvl2pPr>
            <a:lvl3pPr algn="l">
              <a:defRPr sz="1223" b="1">
                <a:solidFill>
                  <a:srgbClr val="002C5F"/>
                </a:solidFill>
                <a:latin typeface="Arial"/>
                <a:ea typeface="Arial"/>
                <a:cs typeface="Arial"/>
              </a:defRPr>
            </a:lvl3pPr>
            <a:lvl4pPr algn="l">
              <a:defRPr sz="1223" b="1">
                <a:solidFill>
                  <a:srgbClr val="002C5F"/>
                </a:solidFill>
                <a:latin typeface="Arial"/>
                <a:ea typeface="Arial"/>
                <a:cs typeface="Arial"/>
              </a:defRPr>
            </a:lvl4pPr>
            <a:lvl5pPr algn="l">
              <a:defRPr sz="1223" b="1">
                <a:solidFill>
                  <a:srgbClr val="002C5F"/>
                </a:solidFill>
                <a:latin typeface="Arial"/>
                <a:ea typeface="Arial"/>
                <a:cs typeface="Arial"/>
              </a:defRPr>
            </a:lvl5pPr>
            <a:lvl6pPr algn="l">
              <a:defRPr sz="1223" b="1">
                <a:solidFill>
                  <a:srgbClr val="002C5F"/>
                </a:solidFill>
                <a:latin typeface="Arial"/>
                <a:ea typeface="Arial"/>
                <a:cs typeface="Arial"/>
              </a:defRPr>
            </a:lvl6pPr>
            <a:lvl7pPr algn="l">
              <a:defRPr sz="1223" b="1">
                <a:solidFill>
                  <a:srgbClr val="002C5F"/>
                </a:solidFill>
                <a:latin typeface="Arial"/>
                <a:ea typeface="Arial"/>
                <a:cs typeface="Arial"/>
              </a:defRPr>
            </a:lvl7pPr>
            <a:lvl8pPr algn="l">
              <a:defRPr sz="1223" b="1">
                <a:solidFill>
                  <a:srgbClr val="002C5F"/>
                </a:solidFill>
                <a:latin typeface="Arial"/>
                <a:ea typeface="Arial"/>
                <a:cs typeface="Arial"/>
              </a:defRPr>
            </a:lvl8pPr>
            <a:lvl9pPr algn="l">
              <a:defRPr sz="1223" b="1">
                <a:solidFill>
                  <a:srgbClr val="002C5F"/>
                </a:solidFill>
                <a:latin typeface="Arial"/>
                <a:ea typeface="Arial"/>
                <a:cs typeface="Arial"/>
              </a:defRPr>
            </a:lvl9pPr>
          </a:lstStyle>
          <a:p xmlns:a="http://schemas.openxmlformats.org/drawingml/2006/main">
            <a:pPr algn="l">
              <a:defRPr sz="1223" b="1">
                <a:solidFill>
                  <a:srgbClr val="002C5F"/>
                </a:solidFill>
                <a:latin typeface="Arial"/>
                <a:ea typeface="Arial"/>
                <a:cs typeface="Arial"/>
              </a:defRPr>
            </a:pPr>
            <a:r>
              <a:rPr sz="1223" b="1">
                <a:solidFill>
                  <a:srgbClr val="002C5F"/>
                </a:solidFill>
                <a:latin typeface="Arial"/>
                <a:ea typeface="Arial"/>
                <a:cs typeface="Arial"/>
              </a:rPr>
              <a:t>IIT Delhi Post Office</a:t>
            </a:r>
          </a:p>
        </p:txBody>
      </p:sp>
      <p:sp>
        <p:nvSpPr>
          <p:cNvPr id="35" name="Route diagram caption">
            <a:extLst xmlns:a="http://schemas.openxmlformats.org/drawingml/2006/main">
              <a:ext uri="{FF2B5EF4-FFF2-40B4-BE49-F238E27FC236}">
                <a16:creationId xmlns:a16="http://schemas.microsoft.com/office/drawing/2014/main" id="{C7944AB7-C1ED-4FC6-9D81-88578EE97267}"/>
              </a:ext>
            </a:extLst>
          </p:cNvPr>
          <p:cNvSpPr>
            <a:spLocks xmlns:a="http://schemas.openxmlformats.org/drawingml/2006/main" noGrp="1"/>
          </p:cNvSpPr>
          <p:nvPr/>
        </p:nvSpPr>
        <p:spPr>
          <a:xfrm xmlns:a="http://schemas.openxmlformats.org/drawingml/2006/main">
            <a:off x="4772025" y="4276725"/>
            <a:ext cx="3667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8" b="0">
                <a:solidFill>
                  <a:srgbClr val="626B73"/>
                </a:solidFill>
                <a:latin typeface="Arial"/>
                <a:ea typeface="Arial"/>
                <a:cs typeface="Arial"/>
              </a:defRPr>
            </a:defPPr>
            <a:lvl1pPr algn="l">
              <a:defRPr sz="998" b="0">
                <a:solidFill>
                  <a:srgbClr val="626B73"/>
                </a:solidFill>
                <a:latin typeface="Arial"/>
                <a:ea typeface="Arial"/>
                <a:cs typeface="Arial"/>
              </a:defRPr>
            </a:lvl1pPr>
            <a:lvl2pPr algn="l">
              <a:defRPr sz="998" b="0">
                <a:solidFill>
                  <a:srgbClr val="626B73"/>
                </a:solidFill>
                <a:latin typeface="Arial"/>
                <a:ea typeface="Arial"/>
                <a:cs typeface="Arial"/>
              </a:defRPr>
            </a:lvl2pPr>
            <a:lvl3pPr algn="l">
              <a:defRPr sz="998" b="0">
                <a:solidFill>
                  <a:srgbClr val="626B73"/>
                </a:solidFill>
                <a:latin typeface="Arial"/>
                <a:ea typeface="Arial"/>
                <a:cs typeface="Arial"/>
              </a:defRPr>
            </a:lvl3pPr>
            <a:lvl4pPr algn="l">
              <a:defRPr sz="998" b="0">
                <a:solidFill>
                  <a:srgbClr val="626B73"/>
                </a:solidFill>
                <a:latin typeface="Arial"/>
                <a:ea typeface="Arial"/>
                <a:cs typeface="Arial"/>
              </a:defRPr>
            </a:lvl4pPr>
            <a:lvl5pPr algn="l">
              <a:defRPr sz="998" b="0">
                <a:solidFill>
                  <a:srgbClr val="626B73"/>
                </a:solidFill>
                <a:latin typeface="Arial"/>
                <a:ea typeface="Arial"/>
                <a:cs typeface="Arial"/>
              </a:defRPr>
            </a:lvl5pPr>
            <a:lvl6pPr algn="l">
              <a:defRPr sz="998" b="0">
                <a:solidFill>
                  <a:srgbClr val="626B73"/>
                </a:solidFill>
                <a:latin typeface="Arial"/>
                <a:ea typeface="Arial"/>
                <a:cs typeface="Arial"/>
              </a:defRPr>
            </a:lvl6pPr>
            <a:lvl7pPr algn="l">
              <a:defRPr sz="998" b="0">
                <a:solidFill>
                  <a:srgbClr val="626B73"/>
                </a:solidFill>
                <a:latin typeface="Arial"/>
                <a:ea typeface="Arial"/>
                <a:cs typeface="Arial"/>
              </a:defRPr>
            </a:lvl7pPr>
            <a:lvl8pPr algn="l">
              <a:defRPr sz="998" b="0">
                <a:solidFill>
                  <a:srgbClr val="626B73"/>
                </a:solidFill>
                <a:latin typeface="Arial"/>
                <a:ea typeface="Arial"/>
                <a:cs typeface="Arial"/>
              </a:defRPr>
            </a:lvl8pPr>
            <a:lvl9pPr algn="l">
              <a:defRPr sz="998" b="0">
                <a:solidFill>
                  <a:srgbClr val="626B73"/>
                </a:solidFill>
                <a:latin typeface="Arial"/>
                <a:ea typeface="Arial"/>
                <a:cs typeface="Arial"/>
              </a:defRPr>
            </a:lvl9pPr>
          </a:lstStyle>
          <a:p xmlns:a="http://schemas.openxmlformats.org/drawingml/2006/main">
            <a:pPr algn="l">
              <a:defRPr sz="998" b="0">
                <a:solidFill>
                  <a:srgbClr val="626B73"/>
                </a:solidFill>
                <a:latin typeface="Arial"/>
                <a:ea typeface="Arial"/>
                <a:cs typeface="Arial"/>
              </a:defRPr>
            </a:pPr>
            <a:r>
              <a:rPr sz="998" b="0">
                <a:solidFill>
                  <a:srgbClr val="626B73"/>
                </a:solidFill>
                <a:latin typeface="Arial"/>
                <a:ea typeface="Arial"/>
                <a:cs typeface="Arial"/>
              </a:rPr>
              <a:t>Plan view of the supplied route. North is up.</a:t>
            </a:r>
          </a:p>
          <a:p xmlns:a="http://schemas.openxmlformats.org/drawingml/2006/main">
            <a:pPr algn="l">
              <a:defRPr sz="998" b="0">
                <a:solidFill>
                  <a:srgbClr val="626B73"/>
                </a:solidFill>
                <a:latin typeface="Arial"/>
                <a:ea typeface="Arial"/>
                <a:cs typeface="Arial"/>
              </a:defRPr>
            </a:pPr>
            <a:r>
              <a:rPr sz="998" b="0">
                <a:solidFill>
                  <a:srgbClr val="626B73"/>
                </a:solidFill>
                <a:latin typeface="Arial"/>
                <a:ea typeface="Arial"/>
                <a:cs typeface="Arial"/>
              </a:rPr>
              <a:t>Uniform scale in a local metric approximation.</a:t>
            </a:r>
          </a:p>
        </p:txBody>
      </p:sp>
    </p:spTree>
    <p:extLst>
      <p:ext uri="{BB962C8B-B14F-4D97-AF65-F5344CB8AC3E}">
        <p14:creationId xmlns:p14="http://schemas.microsoft.com/office/powerpoint/2010/main" val="46743983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Venue data and route projections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06</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Hours and ratings are saved inputs. Distances below derive from route geometry.</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8C630A04-5A25-9E0C-9436-126091DB86B3}" type="slidenum">
              <a:rPr sz="900" b="0">
                <a:solidFill>
                  <a:srgbClr val="626B73"/>
                </a:solidFill>
                <a:latin typeface="Arial"/>
                <a:ea typeface="Arial"/>
                <a:cs typeface="Arial"/>
              </a:rPr>
              <a:t>6</a:t>
            </a:fld>
            <a:endParaRPr/>
          </a:p>
        </p:txBody>
      </p:sp>
      <p:sp>
        <p:nvSpPr>
          <p:cNvPr id="26" name="Source note">
            <a:extLst xmlns:a="http://schemas.openxmlformats.org/drawingml/2006/main">
              <a:ext uri="{FF2B5EF4-FFF2-40B4-BE49-F238E27FC236}">
                <a16:creationId xmlns:a16="http://schemas.microsoft.com/office/drawing/2014/main" id="{118FE82C-1860-4536-867B-D04787C01E4C}"/>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cafes.json and measureCafe() in suggestion-engine.js. Values rounded to the nearest metre [S1].</a:t>
            </a:r>
          </a:p>
        </p:txBody>
      </p:sp>
      <p:graphicFrame>
        <p:nvGraphicFramePr>
          <p:cNvPr id="27" name="">
            <a:extLst xmlns:a="http://schemas.openxmlformats.org/drawingml/2006/main">
              <a:ext uri="{FF2B5EF4-FFF2-40B4-BE49-F238E27FC236}">
                <a16:creationId xmlns:a16="http://schemas.microsoft.com/office/drawing/2014/main" id="{AFCBF4D3-9E5C-429C-B924-9A40DA51E01C}"/>
              </a:ext>
            </a:extLst>
          </p:cNvPr>
          <p:cNvGraphicFramePr/>
          <p:nvPr/>
        </p:nvGraphicFramePr>
        <p:xfrm>
          <a:off xmlns:a="http://schemas.openxmlformats.org/drawingml/2006/main" x="657225" y="1371600"/>
          <a:ext xmlns:a="http://schemas.openxmlformats.org/drawingml/2006/main" cx="7829550" cy="2857500"/>
        </p:xfrm>
        <a:graphic xmlns:a="http://schemas.openxmlformats.org/drawingml/2006/main">
          <a:graphicData uri="http://schemas.openxmlformats.org/drawingml/2006/table">
            <a:tbl>
              <a:tblPr firstRow="1" bandRow="0"/>
              <a:tblGrid>
                <a:gridCol w="1781175"/>
                <a:gridCol w="1095375"/>
                <a:gridCol w="1352550"/>
                <a:gridCol w="742950"/>
                <a:gridCol w="1123950"/>
                <a:gridCol w="1733550"/>
              </a:tblGrid>
              <a:tr h="419100">
                <a:tc>
                  <a:txBody>
                    <a:bodyPr wrap="square">
                      <a:noAutofit/>
                    </a:bodyPr>
                    <a:lstStyle/>
                    <a:p>
                      <a:pPr algn="l"/>
                      <a:r>
                        <a:rPr sz="1148" b="1">
                          <a:solidFill>
                            <a:srgbClr val="FFFFFF"/>
                          </a:solidFill>
                          <a:latin typeface="Arial"/>
                          <a:ea typeface="Arial"/>
                          <a:cs typeface="Arial"/>
                        </a:rPr>
                        <a:t>Venue</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Scoring</a:t>
                      </a:r>
                    </a:p>
                    <a:p>
                      <a:pPr algn="l"/>
                      <a:r>
                        <a:rPr sz="1148" b="1">
                          <a:solidFill>
                            <a:srgbClr val="FFFFFF"/>
                          </a:solidFill>
                          <a:latin typeface="Arial"/>
                          <a:ea typeface="Arial"/>
                          <a:cs typeface="Arial"/>
                        </a:rPr>
                        <a:t>category</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Saved hours</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Rating</a:t>
                      </a:r>
                    </a:p>
                    <a:p>
                      <a:pPr algn="l"/>
                      <a:r>
                        <a:rPr sz="1148" b="1">
                          <a:solidFill>
                            <a:srgbClr val="FFFFFF"/>
                          </a:solidFill>
                          <a:latin typeface="Arial"/>
                          <a:ea typeface="Arial"/>
                          <a:cs typeface="Arial"/>
                        </a:rPr>
                        <a:t>/ 5</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Offset</a:t>
                      </a:r>
                    </a:p>
                    <a:p>
                      <a:pPr algn="l"/>
                      <a:r>
                        <a:rPr sz="1148" b="1">
                          <a:solidFill>
                            <a:srgbClr val="FFFFFF"/>
                          </a:solidFill>
                          <a:latin typeface="Arial"/>
                          <a:ea typeface="Arial"/>
                          <a:cs typeface="Arial"/>
                        </a:rPr>
                        <a:t>(m)</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Route position</a:t>
                      </a:r>
                    </a:p>
                    <a:p>
                      <a:pPr algn="l"/>
                      <a:r>
                        <a:rPr sz="1148" b="1">
                          <a:solidFill>
                            <a:srgbClr val="FFFFFF"/>
                          </a:solidFill>
                          <a:latin typeface="Arial"/>
                          <a:ea typeface="Arial"/>
                          <a:cs typeface="Arial"/>
                        </a:rPr>
                        <a:t>(m)</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270933">
                <a:tc>
                  <a:txBody>
                    <a:bodyPr wrap="square">
                      <a:noAutofit/>
                    </a:bodyPr>
                    <a:lstStyle/>
                    <a:p>
                      <a:pPr algn="l"/>
                      <a:r>
                        <a:rPr sz="1148" b="0">
                          <a:solidFill>
                            <a:srgbClr val="002C5F"/>
                          </a:solidFill>
                          <a:latin typeface="Arial"/>
                          <a:ea typeface="Arial"/>
                          <a:cs typeface="Arial"/>
                        </a:rPr>
                        <a:t>Rajdhani Chatkare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meals</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00:00-24:00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3.7</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33</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672</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270933">
                <a:tc>
                  <a:txBody>
                    <a:bodyPr wrap="square">
                      <a:noAutofit/>
                    </a:bodyPr>
                    <a:lstStyle/>
                    <a:p>
                      <a:pPr algn="l"/>
                      <a:r>
                        <a:rPr sz="1148" b="0">
                          <a:solidFill>
                            <a:srgbClr val="002C5F"/>
                          </a:solidFill>
                          <a:latin typeface="Arial"/>
                          <a:ea typeface="Arial"/>
                          <a:cs typeface="Arial"/>
                        </a:rPr>
                        <a:t>Chaayos</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tea</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10:00-23:00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4.1</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26</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674</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270933">
                <a:tc>
                  <a:txBody>
                    <a:bodyPr wrap="square">
                      <a:noAutofit/>
                    </a:bodyPr>
                    <a:lstStyle/>
                    <a:p>
                      <a:pPr algn="l"/>
                      <a:r>
                        <a:rPr sz="1148" b="0">
                          <a:solidFill>
                            <a:srgbClr val="002C5F"/>
                          </a:solidFill>
                          <a:latin typeface="Arial"/>
                          <a:ea typeface="Arial"/>
                          <a:cs typeface="Arial"/>
                        </a:rPr>
                        <a:t>Naivedyam</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meals</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08:30-22:00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4.2</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67</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1190</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270933">
                <a:tc>
                  <a:txBody>
                    <a:bodyPr wrap="square">
                      <a:noAutofit/>
                    </a:bodyPr>
                    <a:lstStyle/>
                    <a:p>
                      <a:pPr algn="l"/>
                      <a:r>
                        <a:rPr sz="1148" b="0">
                          <a:solidFill>
                            <a:srgbClr val="002C5F"/>
                          </a:solidFill>
                          <a:latin typeface="Arial"/>
                          <a:ea typeface="Arial"/>
                          <a:cs typeface="Arial"/>
                        </a:rPr>
                        <a:t>Amul</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snacks</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08:30-02:00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4.0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76</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1163</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270933">
                <a:tc>
                  <a:txBody>
                    <a:bodyPr wrap="square">
                      <a:noAutofit/>
                    </a:bodyPr>
                    <a:lstStyle/>
                    <a:p>
                      <a:pPr algn="l"/>
                      <a:r>
                        <a:rPr sz="1148" b="0">
                          <a:solidFill>
                            <a:srgbClr val="002C5F"/>
                          </a:solidFill>
                          <a:latin typeface="Arial"/>
                          <a:ea typeface="Arial"/>
                          <a:cs typeface="Arial"/>
                        </a:rPr>
                        <a:t>Nescafé</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coffee</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08:00-04:00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4.1</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67</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1169</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270933">
                <a:tc>
                  <a:txBody>
                    <a:bodyPr wrap="square">
                      <a:noAutofit/>
                    </a:bodyPr>
                    <a:lstStyle/>
                    <a:p>
                      <a:pPr algn="l"/>
                      <a:r>
                        <a:rPr sz="1148" b="0">
                          <a:solidFill>
                            <a:srgbClr val="002C5F"/>
                          </a:solidFill>
                          <a:latin typeface="Arial"/>
                          <a:ea typeface="Arial"/>
                          <a:cs typeface="Arial"/>
                        </a:rPr>
                        <a:t>HPMC</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snacks</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09:30-20:30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4.0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61</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1164</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270933">
                <a:tc>
                  <a:txBody>
                    <a:bodyPr wrap="square">
                      <a:noAutofit/>
                    </a:bodyPr>
                    <a:lstStyle/>
                    <a:p>
                      <a:pPr algn="l"/>
                      <a:r>
                        <a:rPr sz="1148" b="0">
                          <a:solidFill>
                            <a:srgbClr val="002C5F"/>
                          </a:solidFill>
                          <a:latin typeface="Arial"/>
                          <a:ea typeface="Arial"/>
                          <a:cs typeface="Arial"/>
                        </a:rPr>
                        <a:t>Bikanervala</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snacks</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10:00-22:00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3.7</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21</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2048</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270933">
                <a:tc>
                  <a:txBody>
                    <a:bodyPr wrap="square">
                      <a:noAutofit/>
                    </a:bodyPr>
                    <a:lstStyle/>
                    <a:p>
                      <a:pPr algn="l"/>
                      <a:r>
                        <a:rPr sz="1148" b="0">
                          <a:solidFill>
                            <a:srgbClr val="002C5F"/>
                          </a:solidFill>
                          <a:latin typeface="Arial"/>
                          <a:ea typeface="Arial"/>
                          <a:cs typeface="Arial"/>
                        </a:rPr>
                        <a:t>Tealogy</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tea</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10:30-23:00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3.8</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12</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2048</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270933">
                <a:tc>
                  <a:txBody>
                    <a:bodyPr wrap="square">
                      <a:noAutofit/>
                    </a:bodyPr>
                    <a:lstStyle/>
                    <a:p>
                      <a:pPr algn="l"/>
                      <a:r>
                        <a:rPr sz="1148" b="0">
                          <a:solidFill>
                            <a:srgbClr val="002C5F"/>
                          </a:solidFill>
                          <a:latin typeface="Arial"/>
                          <a:ea typeface="Arial"/>
                          <a:cs typeface="Arial"/>
                        </a:rPr>
                        <a:t>Chicago Pizza</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meals</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09:00-22:00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3.2</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13</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2048</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Projection definitions">
            <a:extLst xmlns:a="http://schemas.openxmlformats.org/drawingml/2006/main">
              <a:ext uri="{FF2B5EF4-FFF2-40B4-BE49-F238E27FC236}">
                <a16:creationId xmlns:a16="http://schemas.microsoft.com/office/drawing/2014/main" id="{AAA97DCA-DD8B-482F-A931-3905EAD2F8F7}"/>
              </a:ext>
            </a:extLst>
          </p:cNvPr>
          <p:cNvSpPr>
            <a:spLocks xmlns:a="http://schemas.openxmlformats.org/drawingml/2006/main" noGrp="1"/>
          </p:cNvSpPr>
          <p:nvPr/>
        </p:nvSpPr>
        <p:spPr>
          <a:xfrm xmlns:a="http://schemas.openxmlformats.org/drawingml/2006/main">
            <a:off x="657225" y="4352925"/>
            <a:ext cx="7781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002C5F"/>
                </a:solidFill>
                <a:latin typeface="Arial"/>
                <a:ea typeface="Arial"/>
                <a:cs typeface="Arial"/>
              </a:defRPr>
            </a:defPPr>
            <a:lvl1pPr algn="l">
              <a:defRPr sz="1073" b="0">
                <a:solidFill>
                  <a:srgbClr val="002C5F"/>
                </a:solidFill>
                <a:latin typeface="Arial"/>
                <a:ea typeface="Arial"/>
                <a:cs typeface="Arial"/>
              </a:defRPr>
            </a:lvl1pPr>
            <a:lvl2pPr algn="l">
              <a:defRPr sz="1073" b="0">
                <a:solidFill>
                  <a:srgbClr val="002C5F"/>
                </a:solidFill>
                <a:latin typeface="Arial"/>
                <a:ea typeface="Arial"/>
                <a:cs typeface="Arial"/>
              </a:defRPr>
            </a:lvl2pPr>
            <a:lvl3pPr algn="l">
              <a:defRPr sz="1073" b="0">
                <a:solidFill>
                  <a:srgbClr val="002C5F"/>
                </a:solidFill>
                <a:latin typeface="Arial"/>
                <a:ea typeface="Arial"/>
                <a:cs typeface="Arial"/>
              </a:defRPr>
            </a:lvl3pPr>
            <a:lvl4pPr algn="l">
              <a:defRPr sz="1073" b="0">
                <a:solidFill>
                  <a:srgbClr val="002C5F"/>
                </a:solidFill>
                <a:latin typeface="Arial"/>
                <a:ea typeface="Arial"/>
                <a:cs typeface="Arial"/>
              </a:defRPr>
            </a:lvl4pPr>
            <a:lvl5pPr algn="l">
              <a:defRPr sz="1073" b="0">
                <a:solidFill>
                  <a:srgbClr val="002C5F"/>
                </a:solidFill>
                <a:latin typeface="Arial"/>
                <a:ea typeface="Arial"/>
                <a:cs typeface="Arial"/>
              </a:defRPr>
            </a:lvl5pPr>
            <a:lvl6pPr algn="l">
              <a:defRPr sz="1073" b="0">
                <a:solidFill>
                  <a:srgbClr val="002C5F"/>
                </a:solidFill>
                <a:latin typeface="Arial"/>
                <a:ea typeface="Arial"/>
                <a:cs typeface="Arial"/>
              </a:defRPr>
            </a:lvl6pPr>
            <a:lvl7pPr algn="l">
              <a:defRPr sz="1073" b="0">
                <a:solidFill>
                  <a:srgbClr val="002C5F"/>
                </a:solidFill>
                <a:latin typeface="Arial"/>
                <a:ea typeface="Arial"/>
                <a:cs typeface="Arial"/>
              </a:defRPr>
            </a:lvl7pPr>
            <a:lvl8pPr algn="l">
              <a:defRPr sz="1073" b="0">
                <a:solidFill>
                  <a:srgbClr val="002C5F"/>
                </a:solidFill>
                <a:latin typeface="Arial"/>
                <a:ea typeface="Arial"/>
                <a:cs typeface="Arial"/>
              </a:defRPr>
            </a:lvl8pPr>
            <a:lvl9pPr algn="l">
              <a:defRPr sz="1073" b="0">
                <a:solidFill>
                  <a:srgbClr val="002C5F"/>
                </a:solidFill>
                <a:latin typeface="Arial"/>
                <a:ea typeface="Arial"/>
                <a:cs typeface="Arial"/>
              </a:defRPr>
            </a:lvl9pPr>
          </a:lstStyle>
          <a:p xmlns:a="http://schemas.openxmlformats.org/drawingml/2006/main">
            <a:pPr algn="l">
              <a:defRPr sz="1073" b="0">
                <a:solidFill>
                  <a:srgbClr val="002C5F"/>
                </a:solidFill>
                <a:latin typeface="Arial"/>
                <a:ea typeface="Arial"/>
                <a:cs typeface="Arial"/>
              </a:defRPr>
            </a:pPr>
            <a:r>
              <a:rPr sz="1073" b="0">
                <a:solidFill>
                  <a:srgbClr val="002C5F"/>
                </a:solidFill>
                <a:latin typeface="Arial"/>
                <a:ea typeface="Arial"/>
                <a:cs typeface="Arial"/>
              </a:rPr>
              <a:t>Offset is the shortest distance to the route line. Route position is distance along that line from the hostel.</a:t>
            </a:r>
          </a:p>
          <a:p xmlns:a="http://schemas.openxmlformats.org/drawingml/2006/main">
            <a:pPr algn="l">
              <a:defRPr sz="1073" b="0">
                <a:solidFill>
                  <a:srgbClr val="002C5F"/>
                </a:solidFill>
                <a:latin typeface="Arial"/>
                <a:ea typeface="Arial"/>
                <a:cs typeface="Arial"/>
              </a:defRPr>
            </a:pPr>
            <a:r>
              <a:rPr sz="1073" b="0">
                <a:solidFill>
                  <a:srgbClr val="002C5F"/>
                </a:solidFill>
                <a:latin typeface="Arial"/>
                <a:ea typeface="Arial"/>
                <a:cs typeface="Arial"/>
              </a:rPr>
              <a:t>The category is one label per venue, although its menu may contain several types of food or drink.</a:t>
            </a:r>
          </a:p>
        </p:txBody>
      </p:sp>
    </p:spTree>
    <p:extLst>
      <p:ext uri="{BB962C8B-B14F-4D97-AF65-F5344CB8AC3E}">
        <p14:creationId xmlns:p14="http://schemas.microsoft.com/office/powerpoint/2010/main" val="4674398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System architecture</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07</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recommendation calculations and stored preferences run on the phone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D3D7D1C8-AE23-AA48-DF65-C742588DBE47}" type="slidenum">
              <a:rPr sz="900" b="0">
                <a:solidFill>
                  <a:srgbClr val="626B73"/>
                </a:solidFill>
                <a:latin typeface="Arial"/>
                <a:ea typeface="Arial"/>
                <a:cs typeface="Arial"/>
              </a:rPr>
              <a:t>7</a:t>
            </a:fld>
            <a:endParaRPr/>
          </a:p>
        </p:txBody>
      </p:sp>
      <p:sp>
        <p:nvSpPr>
          <p:cNvPr id="26" name="Source note">
            <a:extLst xmlns:a="http://schemas.openxmlformats.org/drawingml/2006/main">
              <a:ext uri="{FF2B5EF4-FFF2-40B4-BE49-F238E27FC236}">
                <a16:creationId xmlns:a16="http://schemas.microsoft.com/office/drawing/2014/main" id="{55661870-B12E-4845-80F5-4CF7D12C4B70}"/>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application modules, manifest.json and service-worker.js in v5.1.0 [S1]</a:t>
            </a:r>
          </a:p>
        </p:txBody>
      </p:sp>
      <p:sp>
        <p:nvSpPr>
          <p:cNvPr id="27" name="Context input">
            <a:extLst xmlns:a="http://schemas.openxmlformats.org/drawingml/2006/main">
              <a:ext uri="{FF2B5EF4-FFF2-40B4-BE49-F238E27FC236}">
                <a16:creationId xmlns:a16="http://schemas.microsoft.com/office/drawing/2014/main" id="{876747B2-EF80-4321-B1E2-92A9FC2DFFD5}"/>
              </a:ext>
            </a:extLst>
          </p:cNvPr>
          <p:cNvSpPr>
            <a:spLocks xmlns:a="http://schemas.openxmlformats.org/drawingml/2006/main" noGrp="1"/>
          </p:cNvSpPr>
          <p:nvPr/>
        </p:nvSpPr>
        <p:spPr>
          <a:xfrm xmlns:a="http://schemas.openxmlformats.org/drawingml/2006/main">
            <a:off x="657225" y="1466850"/>
            <a:ext cx="234315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298">
                <a:solidFill>
                  <a:srgbClr val="002C5F"/>
                </a:solidFill>
                <a:latin typeface="Arial"/>
                <a:ea typeface="Arial"/>
                <a:cs typeface="Arial"/>
              </a:defRPr>
            </a:defPPr>
            <a:lvl1pPr algn="ctr">
              <a:defRPr sz="1298">
                <a:solidFill>
                  <a:srgbClr val="002C5F"/>
                </a:solidFill>
                <a:latin typeface="Arial"/>
                <a:ea typeface="Arial"/>
                <a:cs typeface="Arial"/>
              </a:defRPr>
            </a:lvl1pPr>
            <a:lvl2pPr algn="ctr">
              <a:defRPr sz="1298">
                <a:solidFill>
                  <a:srgbClr val="002C5F"/>
                </a:solidFill>
                <a:latin typeface="Arial"/>
                <a:ea typeface="Arial"/>
                <a:cs typeface="Arial"/>
              </a:defRPr>
            </a:lvl2pPr>
            <a:lvl3pPr algn="ctr">
              <a:defRPr sz="1298">
                <a:solidFill>
                  <a:srgbClr val="002C5F"/>
                </a:solidFill>
                <a:latin typeface="Arial"/>
                <a:ea typeface="Arial"/>
                <a:cs typeface="Arial"/>
              </a:defRPr>
            </a:lvl3pPr>
            <a:lvl4pPr algn="ctr">
              <a:defRPr sz="1298">
                <a:solidFill>
                  <a:srgbClr val="002C5F"/>
                </a:solidFill>
                <a:latin typeface="Arial"/>
                <a:ea typeface="Arial"/>
                <a:cs typeface="Arial"/>
              </a:defRPr>
            </a:lvl4pPr>
            <a:lvl5pPr algn="ctr">
              <a:defRPr sz="1298">
                <a:solidFill>
                  <a:srgbClr val="002C5F"/>
                </a:solidFill>
                <a:latin typeface="Arial"/>
                <a:ea typeface="Arial"/>
                <a:cs typeface="Arial"/>
              </a:defRPr>
            </a:lvl5pPr>
            <a:lvl6pPr algn="ctr">
              <a:defRPr sz="1298">
                <a:solidFill>
                  <a:srgbClr val="002C5F"/>
                </a:solidFill>
                <a:latin typeface="Arial"/>
                <a:ea typeface="Arial"/>
                <a:cs typeface="Arial"/>
              </a:defRPr>
            </a:lvl6pPr>
            <a:lvl7pPr algn="ctr">
              <a:defRPr sz="1298">
                <a:solidFill>
                  <a:srgbClr val="002C5F"/>
                </a:solidFill>
                <a:latin typeface="Arial"/>
                <a:ea typeface="Arial"/>
                <a:cs typeface="Arial"/>
              </a:defRPr>
            </a:lvl7pPr>
            <a:lvl8pPr algn="ctr">
              <a:defRPr sz="1298">
                <a:solidFill>
                  <a:srgbClr val="002C5F"/>
                </a:solidFill>
                <a:latin typeface="Arial"/>
                <a:ea typeface="Arial"/>
                <a:cs typeface="Arial"/>
              </a:defRPr>
            </a:lvl8pPr>
            <a:lvl9pPr algn="ctr">
              <a:defRPr sz="1298">
                <a:solidFill>
                  <a:srgbClr val="002C5F"/>
                </a:solidFill>
                <a:latin typeface="Arial"/>
                <a:ea typeface="Arial"/>
                <a:cs typeface="Arial"/>
              </a:defRPr>
            </a:lvl9pPr>
          </a:lstStyle>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Location and trip inputs</a:t>
            </a:r>
          </a:p>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GPS, clock, spare travel</a:t>
            </a:r>
          </a:p>
        </p:txBody>
      </p:sp>
      <p:sp>
        <p:nvSpPr>
          <p:cNvPr id="28" name="Recommendation module">
            <a:extLst xmlns:a="http://schemas.openxmlformats.org/drawingml/2006/main">
              <a:ext uri="{FF2B5EF4-FFF2-40B4-BE49-F238E27FC236}">
                <a16:creationId xmlns:a16="http://schemas.microsoft.com/office/drawing/2014/main" id="{B4ABD1C7-7109-4D25-8B27-9E471CA4FA04}"/>
              </a:ext>
            </a:extLst>
          </p:cNvPr>
          <p:cNvSpPr>
            <a:spLocks xmlns:a="http://schemas.openxmlformats.org/drawingml/2006/main" noGrp="1"/>
          </p:cNvSpPr>
          <p:nvPr/>
        </p:nvSpPr>
        <p:spPr>
          <a:xfrm xmlns:a="http://schemas.openxmlformats.org/drawingml/2006/main">
            <a:off x="3400425" y="1466850"/>
            <a:ext cx="234315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298">
                <a:solidFill>
                  <a:srgbClr val="002C5F"/>
                </a:solidFill>
                <a:latin typeface="Arial"/>
                <a:ea typeface="Arial"/>
                <a:cs typeface="Arial"/>
              </a:defRPr>
            </a:defPPr>
            <a:lvl1pPr algn="ctr">
              <a:defRPr sz="1298">
                <a:solidFill>
                  <a:srgbClr val="002C5F"/>
                </a:solidFill>
                <a:latin typeface="Arial"/>
                <a:ea typeface="Arial"/>
                <a:cs typeface="Arial"/>
              </a:defRPr>
            </a:lvl1pPr>
            <a:lvl2pPr algn="ctr">
              <a:defRPr sz="1298">
                <a:solidFill>
                  <a:srgbClr val="002C5F"/>
                </a:solidFill>
                <a:latin typeface="Arial"/>
                <a:ea typeface="Arial"/>
                <a:cs typeface="Arial"/>
              </a:defRPr>
            </a:lvl2pPr>
            <a:lvl3pPr algn="ctr">
              <a:defRPr sz="1298">
                <a:solidFill>
                  <a:srgbClr val="002C5F"/>
                </a:solidFill>
                <a:latin typeface="Arial"/>
                <a:ea typeface="Arial"/>
                <a:cs typeface="Arial"/>
              </a:defRPr>
            </a:lvl3pPr>
            <a:lvl4pPr algn="ctr">
              <a:defRPr sz="1298">
                <a:solidFill>
                  <a:srgbClr val="002C5F"/>
                </a:solidFill>
                <a:latin typeface="Arial"/>
                <a:ea typeface="Arial"/>
                <a:cs typeface="Arial"/>
              </a:defRPr>
            </a:lvl4pPr>
            <a:lvl5pPr algn="ctr">
              <a:defRPr sz="1298">
                <a:solidFill>
                  <a:srgbClr val="002C5F"/>
                </a:solidFill>
                <a:latin typeface="Arial"/>
                <a:ea typeface="Arial"/>
                <a:cs typeface="Arial"/>
              </a:defRPr>
            </a:lvl5pPr>
            <a:lvl6pPr algn="ctr">
              <a:defRPr sz="1298">
                <a:solidFill>
                  <a:srgbClr val="002C5F"/>
                </a:solidFill>
                <a:latin typeface="Arial"/>
                <a:ea typeface="Arial"/>
                <a:cs typeface="Arial"/>
              </a:defRPr>
            </a:lvl6pPr>
            <a:lvl7pPr algn="ctr">
              <a:defRPr sz="1298">
                <a:solidFill>
                  <a:srgbClr val="002C5F"/>
                </a:solidFill>
                <a:latin typeface="Arial"/>
                <a:ea typeface="Arial"/>
                <a:cs typeface="Arial"/>
              </a:defRPr>
            </a:lvl7pPr>
            <a:lvl8pPr algn="ctr">
              <a:defRPr sz="1298">
                <a:solidFill>
                  <a:srgbClr val="002C5F"/>
                </a:solidFill>
                <a:latin typeface="Arial"/>
                <a:ea typeface="Arial"/>
                <a:cs typeface="Arial"/>
              </a:defRPr>
            </a:lvl8pPr>
            <a:lvl9pPr algn="ctr">
              <a:defRPr sz="1298">
                <a:solidFill>
                  <a:srgbClr val="002C5F"/>
                </a:solidFill>
                <a:latin typeface="Arial"/>
                <a:ea typeface="Arial"/>
                <a:cs typeface="Arial"/>
              </a:defRPr>
            </a:lvl9pPr>
          </a:lstStyle>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Recommendation engine</a:t>
            </a:r>
          </a:p>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Projection, checks, ranking</a:t>
            </a:r>
          </a:p>
        </p:txBody>
      </p:sp>
      <p:sp>
        <p:nvSpPr>
          <p:cNvPr id="29" name="Mobile interface">
            <a:extLst xmlns:a="http://schemas.openxmlformats.org/drawingml/2006/main">
              <a:ext uri="{FF2B5EF4-FFF2-40B4-BE49-F238E27FC236}">
                <a16:creationId xmlns:a16="http://schemas.microsoft.com/office/drawing/2014/main" id="{BCD83E61-4FAB-4F58-A085-038BCB88B638}"/>
              </a:ext>
            </a:extLst>
          </p:cNvPr>
          <p:cNvSpPr>
            <a:spLocks xmlns:a="http://schemas.openxmlformats.org/drawingml/2006/main" noGrp="1"/>
          </p:cNvSpPr>
          <p:nvPr/>
        </p:nvSpPr>
        <p:spPr>
          <a:xfrm xmlns:a="http://schemas.openxmlformats.org/drawingml/2006/main">
            <a:off x="6143625" y="1466850"/>
            <a:ext cx="234315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298">
                <a:solidFill>
                  <a:srgbClr val="002C5F"/>
                </a:solidFill>
                <a:latin typeface="Arial"/>
                <a:ea typeface="Arial"/>
                <a:cs typeface="Arial"/>
              </a:defRPr>
            </a:defPPr>
            <a:lvl1pPr algn="ctr">
              <a:defRPr sz="1298">
                <a:solidFill>
                  <a:srgbClr val="002C5F"/>
                </a:solidFill>
                <a:latin typeface="Arial"/>
                <a:ea typeface="Arial"/>
                <a:cs typeface="Arial"/>
              </a:defRPr>
            </a:lvl1pPr>
            <a:lvl2pPr algn="ctr">
              <a:defRPr sz="1298">
                <a:solidFill>
                  <a:srgbClr val="002C5F"/>
                </a:solidFill>
                <a:latin typeface="Arial"/>
                <a:ea typeface="Arial"/>
                <a:cs typeface="Arial"/>
              </a:defRPr>
            </a:lvl2pPr>
            <a:lvl3pPr algn="ctr">
              <a:defRPr sz="1298">
                <a:solidFill>
                  <a:srgbClr val="002C5F"/>
                </a:solidFill>
                <a:latin typeface="Arial"/>
                <a:ea typeface="Arial"/>
                <a:cs typeface="Arial"/>
              </a:defRPr>
            </a:lvl3pPr>
            <a:lvl4pPr algn="ctr">
              <a:defRPr sz="1298">
                <a:solidFill>
                  <a:srgbClr val="002C5F"/>
                </a:solidFill>
                <a:latin typeface="Arial"/>
                <a:ea typeface="Arial"/>
                <a:cs typeface="Arial"/>
              </a:defRPr>
            </a:lvl4pPr>
            <a:lvl5pPr algn="ctr">
              <a:defRPr sz="1298">
                <a:solidFill>
                  <a:srgbClr val="002C5F"/>
                </a:solidFill>
                <a:latin typeface="Arial"/>
                <a:ea typeface="Arial"/>
                <a:cs typeface="Arial"/>
              </a:defRPr>
            </a:lvl5pPr>
            <a:lvl6pPr algn="ctr">
              <a:defRPr sz="1298">
                <a:solidFill>
                  <a:srgbClr val="002C5F"/>
                </a:solidFill>
                <a:latin typeface="Arial"/>
                <a:ea typeface="Arial"/>
                <a:cs typeface="Arial"/>
              </a:defRPr>
            </a:lvl6pPr>
            <a:lvl7pPr algn="ctr">
              <a:defRPr sz="1298">
                <a:solidFill>
                  <a:srgbClr val="002C5F"/>
                </a:solidFill>
                <a:latin typeface="Arial"/>
                <a:ea typeface="Arial"/>
                <a:cs typeface="Arial"/>
              </a:defRPr>
            </a:lvl7pPr>
            <a:lvl8pPr algn="ctr">
              <a:defRPr sz="1298">
                <a:solidFill>
                  <a:srgbClr val="002C5F"/>
                </a:solidFill>
                <a:latin typeface="Arial"/>
                <a:ea typeface="Arial"/>
                <a:cs typeface="Arial"/>
              </a:defRPr>
            </a:lvl8pPr>
            <a:lvl9pPr algn="ctr">
              <a:defRPr sz="1298">
                <a:solidFill>
                  <a:srgbClr val="002C5F"/>
                </a:solidFill>
                <a:latin typeface="Arial"/>
                <a:ea typeface="Arial"/>
                <a:cs typeface="Arial"/>
              </a:defRPr>
            </a:lvl9pPr>
          </a:lstStyle>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Mobile interface</a:t>
            </a:r>
          </a:p>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Map, list, alert and menu</a:t>
            </a:r>
          </a:p>
        </p:txBody>
      </p:sp>
      <p:sp>
        <p:nvSpPr>
          <p:cNvPr id="30" name="Reference data">
            <a:extLst xmlns:a="http://schemas.openxmlformats.org/drawingml/2006/main">
              <a:ext uri="{FF2B5EF4-FFF2-40B4-BE49-F238E27FC236}">
                <a16:creationId xmlns:a16="http://schemas.microsoft.com/office/drawing/2014/main" id="{D9F63CDC-CC3E-4EA7-A6B9-36134AFD0C98}"/>
              </a:ext>
            </a:extLst>
          </p:cNvPr>
          <p:cNvSpPr>
            <a:spLocks xmlns:a="http://schemas.openxmlformats.org/drawingml/2006/main" noGrp="1"/>
          </p:cNvSpPr>
          <p:nvPr/>
        </p:nvSpPr>
        <p:spPr>
          <a:xfrm xmlns:a="http://schemas.openxmlformats.org/drawingml/2006/main">
            <a:off x="657225" y="2876550"/>
            <a:ext cx="234315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298">
                <a:solidFill>
                  <a:srgbClr val="002C5F"/>
                </a:solidFill>
                <a:latin typeface="Arial"/>
                <a:ea typeface="Arial"/>
                <a:cs typeface="Arial"/>
              </a:defRPr>
            </a:defPPr>
            <a:lvl1pPr algn="ctr">
              <a:defRPr sz="1298">
                <a:solidFill>
                  <a:srgbClr val="002C5F"/>
                </a:solidFill>
                <a:latin typeface="Arial"/>
                <a:ea typeface="Arial"/>
                <a:cs typeface="Arial"/>
              </a:defRPr>
            </a:lvl1pPr>
            <a:lvl2pPr algn="ctr">
              <a:defRPr sz="1298">
                <a:solidFill>
                  <a:srgbClr val="002C5F"/>
                </a:solidFill>
                <a:latin typeface="Arial"/>
                <a:ea typeface="Arial"/>
                <a:cs typeface="Arial"/>
              </a:defRPr>
            </a:lvl2pPr>
            <a:lvl3pPr algn="ctr">
              <a:defRPr sz="1298">
                <a:solidFill>
                  <a:srgbClr val="002C5F"/>
                </a:solidFill>
                <a:latin typeface="Arial"/>
                <a:ea typeface="Arial"/>
                <a:cs typeface="Arial"/>
              </a:defRPr>
            </a:lvl3pPr>
            <a:lvl4pPr algn="ctr">
              <a:defRPr sz="1298">
                <a:solidFill>
                  <a:srgbClr val="002C5F"/>
                </a:solidFill>
                <a:latin typeface="Arial"/>
                <a:ea typeface="Arial"/>
                <a:cs typeface="Arial"/>
              </a:defRPr>
            </a:lvl4pPr>
            <a:lvl5pPr algn="ctr">
              <a:defRPr sz="1298">
                <a:solidFill>
                  <a:srgbClr val="002C5F"/>
                </a:solidFill>
                <a:latin typeface="Arial"/>
                <a:ea typeface="Arial"/>
                <a:cs typeface="Arial"/>
              </a:defRPr>
            </a:lvl5pPr>
            <a:lvl6pPr algn="ctr">
              <a:defRPr sz="1298">
                <a:solidFill>
                  <a:srgbClr val="002C5F"/>
                </a:solidFill>
                <a:latin typeface="Arial"/>
                <a:ea typeface="Arial"/>
                <a:cs typeface="Arial"/>
              </a:defRPr>
            </a:lvl6pPr>
            <a:lvl7pPr algn="ctr">
              <a:defRPr sz="1298">
                <a:solidFill>
                  <a:srgbClr val="002C5F"/>
                </a:solidFill>
                <a:latin typeface="Arial"/>
                <a:ea typeface="Arial"/>
                <a:cs typeface="Arial"/>
              </a:defRPr>
            </a:lvl7pPr>
            <a:lvl8pPr algn="ctr">
              <a:defRPr sz="1298">
                <a:solidFill>
                  <a:srgbClr val="002C5F"/>
                </a:solidFill>
                <a:latin typeface="Arial"/>
                <a:ea typeface="Arial"/>
                <a:cs typeface="Arial"/>
              </a:defRPr>
            </a:lvl8pPr>
            <a:lvl9pPr algn="ctr">
              <a:defRPr sz="1298">
                <a:solidFill>
                  <a:srgbClr val="002C5F"/>
                </a:solidFill>
                <a:latin typeface="Arial"/>
                <a:ea typeface="Arial"/>
                <a:cs typeface="Arial"/>
              </a:defRPr>
            </a:lvl9pPr>
          </a:lstStyle>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Bundled JSON data</a:t>
            </a:r>
          </a:p>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Route, venues, configuration</a:t>
            </a:r>
          </a:p>
        </p:txBody>
      </p:sp>
      <p:sp>
        <p:nvSpPr>
          <p:cNvPr id="31" name="Stored preferences">
            <a:extLst xmlns:a="http://schemas.openxmlformats.org/drawingml/2006/main">
              <a:ext uri="{FF2B5EF4-FFF2-40B4-BE49-F238E27FC236}">
                <a16:creationId xmlns:a16="http://schemas.microsoft.com/office/drawing/2014/main" id="{46CB8703-FE50-4A9B-8433-120CBE54CFCC}"/>
              </a:ext>
            </a:extLst>
          </p:cNvPr>
          <p:cNvSpPr>
            <a:spLocks xmlns:a="http://schemas.openxmlformats.org/drawingml/2006/main" noGrp="1"/>
          </p:cNvSpPr>
          <p:nvPr/>
        </p:nvSpPr>
        <p:spPr>
          <a:xfrm xmlns:a="http://schemas.openxmlformats.org/drawingml/2006/main">
            <a:off x="3400425" y="2876550"/>
            <a:ext cx="234315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298">
                <a:solidFill>
                  <a:srgbClr val="002C5F"/>
                </a:solidFill>
                <a:latin typeface="Arial"/>
                <a:ea typeface="Arial"/>
                <a:cs typeface="Arial"/>
              </a:defRPr>
            </a:defPPr>
            <a:lvl1pPr algn="ctr">
              <a:defRPr sz="1298">
                <a:solidFill>
                  <a:srgbClr val="002C5F"/>
                </a:solidFill>
                <a:latin typeface="Arial"/>
                <a:ea typeface="Arial"/>
                <a:cs typeface="Arial"/>
              </a:defRPr>
            </a:lvl1pPr>
            <a:lvl2pPr algn="ctr">
              <a:defRPr sz="1298">
                <a:solidFill>
                  <a:srgbClr val="002C5F"/>
                </a:solidFill>
                <a:latin typeface="Arial"/>
                <a:ea typeface="Arial"/>
                <a:cs typeface="Arial"/>
              </a:defRPr>
            </a:lvl2pPr>
            <a:lvl3pPr algn="ctr">
              <a:defRPr sz="1298">
                <a:solidFill>
                  <a:srgbClr val="002C5F"/>
                </a:solidFill>
                <a:latin typeface="Arial"/>
                <a:ea typeface="Arial"/>
                <a:cs typeface="Arial"/>
              </a:defRPr>
            </a:lvl3pPr>
            <a:lvl4pPr algn="ctr">
              <a:defRPr sz="1298">
                <a:solidFill>
                  <a:srgbClr val="002C5F"/>
                </a:solidFill>
                <a:latin typeface="Arial"/>
                <a:ea typeface="Arial"/>
                <a:cs typeface="Arial"/>
              </a:defRPr>
            </a:lvl4pPr>
            <a:lvl5pPr algn="ctr">
              <a:defRPr sz="1298">
                <a:solidFill>
                  <a:srgbClr val="002C5F"/>
                </a:solidFill>
                <a:latin typeface="Arial"/>
                <a:ea typeface="Arial"/>
                <a:cs typeface="Arial"/>
              </a:defRPr>
            </a:lvl5pPr>
            <a:lvl6pPr algn="ctr">
              <a:defRPr sz="1298">
                <a:solidFill>
                  <a:srgbClr val="002C5F"/>
                </a:solidFill>
                <a:latin typeface="Arial"/>
                <a:ea typeface="Arial"/>
                <a:cs typeface="Arial"/>
              </a:defRPr>
            </a:lvl6pPr>
            <a:lvl7pPr algn="ctr">
              <a:defRPr sz="1298">
                <a:solidFill>
                  <a:srgbClr val="002C5F"/>
                </a:solidFill>
                <a:latin typeface="Arial"/>
                <a:ea typeface="Arial"/>
                <a:cs typeface="Arial"/>
              </a:defRPr>
            </a:lvl7pPr>
            <a:lvl8pPr algn="ctr">
              <a:defRPr sz="1298">
                <a:solidFill>
                  <a:srgbClr val="002C5F"/>
                </a:solidFill>
                <a:latin typeface="Arial"/>
                <a:ea typeface="Arial"/>
                <a:cs typeface="Arial"/>
              </a:defRPr>
            </a:lvl8pPr>
            <a:lvl9pPr algn="ctr">
              <a:defRPr sz="1298">
                <a:solidFill>
                  <a:srgbClr val="002C5F"/>
                </a:solidFill>
                <a:latin typeface="Arial"/>
                <a:ea typeface="Arial"/>
                <a:cs typeface="Arial"/>
              </a:defRPr>
            </a:lvl9pPr>
          </a:lstStyle>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Feedback and trip state</a:t>
            </a:r>
          </a:p>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Preferences and routine records</a:t>
            </a:r>
          </a:p>
        </p:txBody>
      </p:sp>
      <p:sp>
        <p:nvSpPr>
          <p:cNvPr id="32" name="User choice">
            <a:extLst xmlns:a="http://schemas.openxmlformats.org/drawingml/2006/main">
              <a:ext uri="{FF2B5EF4-FFF2-40B4-BE49-F238E27FC236}">
                <a16:creationId xmlns:a16="http://schemas.microsoft.com/office/drawing/2014/main" id="{9C7690A3-7510-4D8C-A2ED-237E85ECC860}"/>
              </a:ext>
            </a:extLst>
          </p:cNvPr>
          <p:cNvSpPr>
            <a:spLocks xmlns:a="http://schemas.openxmlformats.org/drawingml/2006/main" noGrp="1"/>
          </p:cNvSpPr>
          <p:nvPr/>
        </p:nvSpPr>
        <p:spPr>
          <a:xfrm xmlns:a="http://schemas.openxmlformats.org/drawingml/2006/main">
            <a:off x="6143625" y="2876550"/>
            <a:ext cx="234315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298">
                <a:solidFill>
                  <a:srgbClr val="002C5F"/>
                </a:solidFill>
                <a:latin typeface="Arial"/>
                <a:ea typeface="Arial"/>
                <a:cs typeface="Arial"/>
              </a:defRPr>
            </a:defPPr>
            <a:lvl1pPr algn="ctr">
              <a:defRPr sz="1298">
                <a:solidFill>
                  <a:srgbClr val="002C5F"/>
                </a:solidFill>
                <a:latin typeface="Arial"/>
                <a:ea typeface="Arial"/>
                <a:cs typeface="Arial"/>
              </a:defRPr>
            </a:lvl1pPr>
            <a:lvl2pPr algn="ctr">
              <a:defRPr sz="1298">
                <a:solidFill>
                  <a:srgbClr val="002C5F"/>
                </a:solidFill>
                <a:latin typeface="Arial"/>
                <a:ea typeface="Arial"/>
                <a:cs typeface="Arial"/>
              </a:defRPr>
            </a:lvl2pPr>
            <a:lvl3pPr algn="ctr">
              <a:defRPr sz="1298">
                <a:solidFill>
                  <a:srgbClr val="002C5F"/>
                </a:solidFill>
                <a:latin typeface="Arial"/>
                <a:ea typeface="Arial"/>
                <a:cs typeface="Arial"/>
              </a:defRPr>
            </a:lvl3pPr>
            <a:lvl4pPr algn="ctr">
              <a:defRPr sz="1298">
                <a:solidFill>
                  <a:srgbClr val="002C5F"/>
                </a:solidFill>
                <a:latin typeface="Arial"/>
                <a:ea typeface="Arial"/>
                <a:cs typeface="Arial"/>
              </a:defRPr>
            </a:lvl4pPr>
            <a:lvl5pPr algn="ctr">
              <a:defRPr sz="1298">
                <a:solidFill>
                  <a:srgbClr val="002C5F"/>
                </a:solidFill>
                <a:latin typeface="Arial"/>
                <a:ea typeface="Arial"/>
                <a:cs typeface="Arial"/>
              </a:defRPr>
            </a:lvl5pPr>
            <a:lvl6pPr algn="ctr">
              <a:defRPr sz="1298">
                <a:solidFill>
                  <a:srgbClr val="002C5F"/>
                </a:solidFill>
                <a:latin typeface="Arial"/>
                <a:ea typeface="Arial"/>
                <a:cs typeface="Arial"/>
              </a:defRPr>
            </a:lvl6pPr>
            <a:lvl7pPr algn="ctr">
              <a:defRPr sz="1298">
                <a:solidFill>
                  <a:srgbClr val="002C5F"/>
                </a:solidFill>
                <a:latin typeface="Arial"/>
                <a:ea typeface="Arial"/>
                <a:cs typeface="Arial"/>
              </a:defRPr>
            </a:lvl7pPr>
            <a:lvl8pPr algn="ctr">
              <a:defRPr sz="1298">
                <a:solidFill>
                  <a:srgbClr val="002C5F"/>
                </a:solidFill>
                <a:latin typeface="Arial"/>
                <a:ea typeface="Arial"/>
                <a:cs typeface="Arial"/>
              </a:defRPr>
            </a:lvl8pPr>
            <a:lvl9pPr algn="ctr">
              <a:defRPr sz="1298">
                <a:solidFill>
                  <a:srgbClr val="002C5F"/>
                </a:solidFill>
                <a:latin typeface="Arial"/>
                <a:ea typeface="Arial"/>
                <a:cs typeface="Arial"/>
              </a:defRPr>
            </a:lvl9pPr>
          </a:lstStyle>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Passenger choice</a:t>
            </a:r>
          </a:p>
          <a:p xmlns:a="http://schemas.openxmlformats.org/drawingml/2006/main">
            <a:pPr algn="ctr">
              <a:defRPr sz="1298">
                <a:solidFill>
                  <a:srgbClr val="002C5F"/>
                </a:solidFill>
                <a:latin typeface="Arial"/>
                <a:ea typeface="Arial"/>
                <a:cs typeface="Arial"/>
              </a:defRPr>
            </a:pPr>
            <a:r>
              <a:rPr sz="1298">
                <a:solidFill>
                  <a:srgbClr val="002C5F"/>
                </a:solidFill>
                <a:latin typeface="Arial"/>
                <a:ea typeface="Arial"/>
                <a:cs typeface="Arial"/>
              </a:rPr>
              <a:t>Accept, reject or dismiss</a:t>
            </a:r>
          </a:p>
        </p:txBody>
      </p:sp>
      <p:cxnSp>
        <p:nvCxnSpPr>
          <p:cNvPr id="33" name="">
            <a:extLst xmlns:a="http://schemas.openxmlformats.org/drawingml/2006/main">
              <a:ext uri="{FF2B5EF4-FFF2-40B4-BE49-F238E27FC236}">
                <a16:creationId xmlns:a16="http://schemas.microsoft.com/office/drawing/2014/main" id="{532F7E18-D0FB-4B50-9438-546A31F18CE5}"/>
              </a:ext>
            </a:extLst>
          </p:cNvPr>
          <p:cNvCxnSpPr>
            <a:stCxn xmlns:a="http://schemas.openxmlformats.org/drawingml/2006/main" id="27" idx="3"/>
            <a:endCxn xmlns:a="http://schemas.openxmlformats.org/drawingml/2006/main" id="28" idx="1"/>
          </p:cNvCxnSpPr>
          <p:nvPr/>
        </p:nvCxnSpPr>
        <p:spPr>
          <a:xfrm xmlns:a="http://schemas.openxmlformats.org/drawingml/2006/main">
            <a:off x="3000375" y="1790700"/>
            <a:ext cx="400050" cy="0"/>
          </a:xfrm>
          <a:prstGeom xmlns:a="http://schemas.openxmlformats.org/drawingml/2006/main" prst="straightConnector1">
            <a:avLst/>
          </a:prstGeom>
          <a:ln xmlns:a="http://schemas.openxmlformats.org/drawingml/2006/main" w="16193">
            <a:solidFill>
              <a:srgbClr val="002C5F"/>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A2EC67DC-A5A8-4583-900B-EC3EDB80E36D}"/>
              </a:ext>
            </a:extLst>
          </p:cNvPr>
          <p:cNvCxnSpPr>
            <a:stCxn xmlns:a="http://schemas.openxmlformats.org/drawingml/2006/main" id="28" idx="3"/>
            <a:endCxn xmlns:a="http://schemas.openxmlformats.org/drawingml/2006/main" id="29" idx="1"/>
          </p:cNvCxnSpPr>
          <p:nvPr/>
        </p:nvCxnSpPr>
        <p:spPr>
          <a:xfrm xmlns:a="http://schemas.openxmlformats.org/drawingml/2006/main">
            <a:off x="5743575" y="1790700"/>
            <a:ext cx="400050" cy="0"/>
          </a:xfrm>
          <a:prstGeom xmlns:a="http://schemas.openxmlformats.org/drawingml/2006/main" prst="straightConnector1">
            <a:avLst/>
          </a:prstGeom>
          <a:ln xmlns:a="http://schemas.openxmlformats.org/drawingml/2006/main" w="16193">
            <a:solidFill>
              <a:srgbClr val="002C5F"/>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D76DC749-ABD4-4A22-AA99-ACB02DD58CAA}"/>
              </a:ext>
            </a:extLst>
          </p:cNvPr>
          <p:cNvCxnSpPr>
            <a:stCxn xmlns:a="http://schemas.openxmlformats.org/drawingml/2006/main" id="30" idx="0"/>
            <a:endCxn xmlns:a="http://schemas.openxmlformats.org/drawingml/2006/main" id="28" idx="2"/>
          </p:cNvCxnSpPr>
          <p:nvPr/>
        </p:nvCxnSpPr>
        <p:spPr>
          <a:xfrm xmlns:a="http://schemas.openxmlformats.org/drawingml/2006/main" flipV="1">
            <a:off x="1828800" y="2114550"/>
            <a:ext cx="2743200" cy="762000"/>
          </a:xfrm>
          <a:prstGeom xmlns:a="http://schemas.openxmlformats.org/drawingml/2006/main" prst="bentConnector4">
            <a:avLst>
              <a:gd name="adj1" fmla="val 0"/>
              <a:gd name="adj2" fmla="val 50000"/>
            </a:avLst>
          </a:prstGeom>
          <a:ln xmlns:a="http://schemas.openxmlformats.org/drawingml/2006/main" w="16193">
            <a:solidFill>
              <a:srgbClr val="002C5F"/>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C19580BE-915F-4210-9B04-92B88055AD7D}"/>
              </a:ext>
            </a:extLst>
          </p:cNvPr>
          <p:cNvCxnSpPr>
            <a:stCxn xmlns:a="http://schemas.openxmlformats.org/drawingml/2006/main" id="31" idx="0"/>
            <a:endCxn xmlns:a="http://schemas.openxmlformats.org/drawingml/2006/main" id="28" idx="2"/>
          </p:cNvCxnSpPr>
          <p:nvPr/>
        </p:nvCxnSpPr>
        <p:spPr>
          <a:xfrm xmlns:a="http://schemas.openxmlformats.org/drawingml/2006/main" flipV="1">
            <a:off x="4572000" y="2114550"/>
            <a:ext cx="0" cy="762000"/>
          </a:xfrm>
          <a:prstGeom xmlns:a="http://schemas.openxmlformats.org/drawingml/2006/main" prst="straightConnector1">
            <a:avLst/>
          </a:prstGeom>
          <a:ln xmlns:a="http://schemas.openxmlformats.org/drawingml/2006/main" w="16193">
            <a:solidFill>
              <a:srgbClr val="002C5F"/>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F6944CC7-2A40-4635-A365-CDD3340937D1}"/>
              </a:ext>
            </a:extLst>
          </p:cNvPr>
          <p:cNvCxnSpPr>
            <a:stCxn xmlns:a="http://schemas.openxmlformats.org/drawingml/2006/main" id="29" idx="2"/>
            <a:endCxn xmlns:a="http://schemas.openxmlformats.org/drawingml/2006/main" id="32" idx="0"/>
          </p:cNvCxnSpPr>
          <p:nvPr/>
        </p:nvCxnSpPr>
        <p:spPr>
          <a:xfrm xmlns:a="http://schemas.openxmlformats.org/drawingml/2006/main">
            <a:off x="7315200" y="2114550"/>
            <a:ext cx="0" cy="762000"/>
          </a:xfrm>
          <a:prstGeom xmlns:a="http://schemas.openxmlformats.org/drawingml/2006/main" prst="straightConnector1">
            <a:avLst/>
          </a:prstGeom>
          <a:ln xmlns:a="http://schemas.openxmlformats.org/drawingml/2006/main" w="16193">
            <a:solidFill>
              <a:srgbClr val="002C5F"/>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59B6195B-13DD-4175-8C52-2F23428252B4}"/>
              </a:ext>
            </a:extLst>
          </p:cNvPr>
          <p:cNvCxnSpPr>
            <a:stCxn xmlns:a="http://schemas.openxmlformats.org/drawingml/2006/main" id="32" idx="1"/>
            <a:endCxn xmlns:a="http://schemas.openxmlformats.org/drawingml/2006/main" id="31" idx="3"/>
          </p:cNvCxnSpPr>
          <p:nvPr/>
        </p:nvCxnSpPr>
        <p:spPr>
          <a:xfrm xmlns:a="http://schemas.openxmlformats.org/drawingml/2006/main" flipH="1">
            <a:off x="5743575" y="3200400"/>
            <a:ext cx="400050" cy="0"/>
          </a:xfrm>
          <a:prstGeom xmlns:a="http://schemas.openxmlformats.org/drawingml/2006/main" prst="straightConnector1">
            <a:avLst/>
          </a:prstGeom>
          <a:ln xmlns:a="http://schemas.openxmlformats.org/drawingml/2006/main" w="16193">
            <a:solidFill>
              <a:srgbClr val="002C5F"/>
            </a:solidFill>
            <a:prstDash val="solid"/>
            <a:tailEnd type="triangle" w="sm" len="sm"/>
          </a:ln>
        </p:spPr>
      </p:cxnSp>
      <p:sp>
        <p:nvSpPr>
          <p:cNvPr id="39" name="Architecture explanation">
            <a:extLst xmlns:a="http://schemas.openxmlformats.org/drawingml/2006/main">
              <a:ext uri="{FF2B5EF4-FFF2-40B4-BE49-F238E27FC236}">
                <a16:creationId xmlns:a16="http://schemas.microsoft.com/office/drawing/2014/main" id="{9DBF7243-FA1F-4758-B5B5-A32784BC19CF}"/>
              </a:ext>
            </a:extLst>
          </p:cNvPr>
          <p:cNvSpPr>
            <a:spLocks xmlns:a="http://schemas.openxmlformats.org/drawingml/2006/main" noGrp="1"/>
          </p:cNvSpPr>
          <p:nvPr/>
        </p:nvSpPr>
        <p:spPr>
          <a:xfrm xmlns:a="http://schemas.openxmlformats.org/drawingml/2006/main">
            <a:off x="657225" y="3886200"/>
            <a:ext cx="77819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The hosted files provide the app and reference data. Local storage retains feedback and completed-trip</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metadata. The recommendation engine does not call a cloud model or restaurant service.</a:t>
            </a:r>
          </a:p>
        </p:txBody>
      </p:sp>
    </p:spTree>
    <p:extLst>
      <p:ext uri="{BB962C8B-B14F-4D97-AF65-F5344CB8AC3E}">
        <p14:creationId xmlns:p14="http://schemas.microsoft.com/office/powerpoint/2010/main" val="46743983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Live GPS and replay modes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08</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Both modes use the same saved venues and recommendation rules</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BA58DA2A-B818-18A9-29C1-B697728D5BCE}" type="slidenum">
              <a:rPr sz="900" b="0">
                <a:solidFill>
                  <a:srgbClr val="626B73"/>
                </a:solidFill>
                <a:latin typeface="Arial"/>
                <a:ea typeface="Arial"/>
                <a:cs typeface="Arial"/>
              </a:rPr>
              <a:t>8</a:t>
            </a:fld>
            <a:endParaRPr/>
          </a:p>
        </p:txBody>
      </p:sp>
      <p:sp>
        <p:nvSpPr>
          <p:cNvPr id="26" name="Source note">
            <a:extLst xmlns:a="http://schemas.openxmlformats.org/drawingml/2006/main">
              <a:ext uri="{FF2B5EF4-FFF2-40B4-BE49-F238E27FC236}">
                <a16:creationId xmlns:a16="http://schemas.microsoft.com/office/drawing/2014/main" id="{CD412756-8077-4E15-9C46-BC9ACE14F1B5}"/>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app.js, gps-engine.js and routine-engine.js [S1]</a:t>
            </a:r>
          </a:p>
        </p:txBody>
      </p:sp>
      <p:graphicFrame>
        <p:nvGraphicFramePr>
          <p:cNvPr id="27" name="">
            <a:extLst xmlns:a="http://schemas.openxmlformats.org/drawingml/2006/main">
              <a:ext uri="{FF2B5EF4-FFF2-40B4-BE49-F238E27FC236}">
                <a16:creationId xmlns:a16="http://schemas.microsoft.com/office/drawing/2014/main" id="{7177DE1C-BE72-4168-AA9F-95C4208B8676}"/>
              </a:ext>
            </a:extLst>
          </p:cNvPr>
          <p:cNvGraphicFramePr/>
          <p:nvPr/>
        </p:nvGraphicFramePr>
        <p:xfrm>
          <a:off xmlns:a="http://schemas.openxmlformats.org/drawingml/2006/main" x="657225" y="1419225"/>
          <a:ext xmlns:a="http://schemas.openxmlformats.org/drawingml/2006/main" cx="7829550" cy="2686050"/>
        </p:xfrm>
        <a:graphic xmlns:a="http://schemas.openxmlformats.org/drawingml/2006/main">
          <a:graphicData uri="http://schemas.openxmlformats.org/drawingml/2006/table">
            <a:tbl>
              <a:tblPr firstRow="1" bandRow="0"/>
              <a:tblGrid>
                <a:gridCol w="1200150"/>
                <a:gridCol w="3314700"/>
                <a:gridCol w="3314700"/>
              </a:tblGrid>
              <a:tr h="447675">
                <a:tc>
                  <a:txBody>
                    <a:bodyPr wrap="square">
                      <a:noAutofit/>
                    </a:bodyPr>
                    <a:lstStyle/>
                    <a:p>
                      <a:pPr algn="l"/>
                      <a:r>
                        <a:rPr sz="1200" b="1">
                          <a:solidFill>
                            <a:srgbClr val="FFFFFF"/>
                          </a:solidFill>
                          <a:latin typeface="Arial"/>
                          <a:ea typeface="Arial"/>
                          <a:cs typeface="Arial"/>
                        </a:rPr>
                        <a:t>Aspect</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00" b="1">
                          <a:solidFill>
                            <a:srgbClr val="FFFFFF"/>
                          </a:solidFill>
                          <a:latin typeface="Arial"/>
                          <a:ea typeface="Arial"/>
                          <a:cs typeface="Arial"/>
                        </a:rPr>
                        <a:t>Live GPS</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00" b="1">
                          <a:solidFill>
                            <a:srgbClr val="FFFFFF"/>
                          </a:solidFill>
                          <a:latin typeface="Arial"/>
                          <a:ea typeface="Arial"/>
                          <a:cs typeface="Arial"/>
                        </a:rPr>
                        <a:t>Replay</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47675">
                <a:tc>
                  <a:txBody>
                    <a:bodyPr wrap="square">
                      <a:noAutofit/>
                    </a:bodyPr>
                    <a:lstStyle/>
                    <a:p>
                      <a:pPr algn="l"/>
                      <a:r>
                        <a:rPr sz="1200" b="0">
                          <a:solidFill>
                            <a:srgbClr val="002C5F"/>
                          </a:solidFill>
                          <a:latin typeface="Arial"/>
                          <a:ea typeface="Arial"/>
                          <a:cs typeface="Arial"/>
                        </a:rPr>
                        <a:t>Position</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Trusted phone location projected onto the route</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Timer advances a marker along the saved route</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47675">
                <a:tc>
                  <a:txBody>
                    <a:bodyPr wrap="square">
                      <a:noAutofit/>
                    </a:bodyPr>
                    <a:lstStyle/>
                    <a:p>
                      <a:pPr algn="l"/>
                      <a:r>
                        <a:rPr sz="1200" b="0">
                          <a:solidFill>
                            <a:srgbClr val="002C5F"/>
                          </a:solidFill>
                          <a:latin typeface="Arial"/>
                          <a:ea typeface="Arial"/>
                          <a:cs typeface="Arial"/>
                        </a:rPr>
                        <a:t>Clock</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00" b="0">
                          <a:solidFill>
                            <a:srgbClr val="002C5F"/>
                          </a:solidFill>
                          <a:latin typeface="Arial"/>
                          <a:ea typeface="Arial"/>
                          <a:cs typeface="Arial"/>
                        </a:rPr>
                        <a:t>Actual date and IST clock</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00" b="0">
                          <a:solidFill>
                            <a:srgbClr val="002C5F"/>
                          </a:solidFill>
                          <a:latin typeface="Arial"/>
                          <a:ea typeface="Arial"/>
                          <a:cs typeface="Arial"/>
                        </a:rPr>
                        <a:t>User-selected departure and replay date</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47675">
                <a:tc>
                  <a:txBody>
                    <a:bodyPr wrap="square">
                      <a:noAutofit/>
                    </a:bodyPr>
                    <a:lstStyle/>
                    <a:p>
                      <a:pPr algn="l"/>
                      <a:r>
                        <a:rPr sz="1200" b="0">
                          <a:solidFill>
                            <a:srgbClr val="002C5F"/>
                          </a:solidFill>
                          <a:latin typeface="Arial"/>
                          <a:ea typeface="Arial"/>
                          <a:cs typeface="Arial"/>
                        </a:rPr>
                        <a:t>Speed</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Measured moving speed, with validation and smoothing</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15 km/h simulated travel, played at 1x, 2x or 4x</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47675">
                <a:tc>
                  <a:txBody>
                    <a:bodyPr wrap="square">
                      <a:noAutofit/>
                    </a:bodyPr>
                    <a:lstStyle/>
                    <a:p>
                      <a:pPr algn="l"/>
                      <a:r>
                        <a:rPr sz="1200" b="0">
                          <a:solidFill>
                            <a:srgbClr val="002C5F"/>
                          </a:solidFill>
                          <a:latin typeface="Arial"/>
                          <a:ea typeface="Arial"/>
                          <a:cs typeface="Arial"/>
                        </a:rPr>
                        <a:t>History</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00" b="0">
                          <a:solidFill>
                            <a:srgbClr val="002C5F"/>
                          </a:solidFill>
                          <a:latin typeface="Arial"/>
                          <a:ea typeface="Arial"/>
                          <a:cs typeface="Arial"/>
                        </a:rPr>
                        <a:t>GPS completion requires origin, continuity and arrival checks</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00" b="0">
                          <a:solidFill>
                            <a:srgbClr val="002C5F"/>
                          </a:solidFill>
                          <a:latin typeface="Arial"/>
                          <a:ea typeface="Arial"/>
                          <a:cs typeface="Arial"/>
                        </a:rPr>
                        <a:t>Replay completion creates a separate replay record</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47675">
                <a:tc>
                  <a:txBody>
                    <a:bodyPr wrap="square">
                      <a:noAutofit/>
                    </a:bodyPr>
                    <a:lstStyle/>
                    <a:p>
                      <a:pPr algn="l"/>
                      <a:r>
                        <a:rPr sz="1200" b="0">
                          <a:solidFill>
                            <a:srgbClr val="002C5F"/>
                          </a:solidFill>
                          <a:latin typeface="Arial"/>
                          <a:ea typeface="Arial"/>
                          <a:cs typeface="Arial"/>
                        </a:rPr>
                        <a:t>Purpose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Demonstration of location-triggered operation</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Repeatable demonstration of time and preference effects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Speed fallback">
            <a:extLst xmlns:a="http://schemas.openxmlformats.org/drawingml/2006/main">
              <a:ext uri="{FF2B5EF4-FFF2-40B4-BE49-F238E27FC236}">
                <a16:creationId xmlns:a16="http://schemas.microsoft.com/office/drawing/2014/main" id="{4B664344-680C-49B1-A841-8C331DCED509}"/>
              </a:ext>
            </a:extLst>
          </p:cNvPr>
          <p:cNvSpPr>
            <a:spLocks xmlns:a="http://schemas.openxmlformats.org/drawingml/2006/main" noGrp="1"/>
          </p:cNvSpPr>
          <p:nvPr/>
        </p:nvSpPr>
        <p:spPr>
          <a:xfrm xmlns:a="http://schemas.openxmlformats.org/drawingml/2006/main">
            <a:off x="657225" y="4276725"/>
            <a:ext cx="7781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Until moving speed is available, stop estimates use a labelled 15 km/h assumption. GPS ETA remains</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unavailable when a reliable moving-speed estimate cannot support it.</a:t>
            </a:r>
          </a:p>
        </p:txBody>
      </p:sp>
    </p:spTree>
    <p:extLst>
      <p:ext uri="{BB962C8B-B14F-4D97-AF65-F5344CB8AC3E}">
        <p14:creationId xmlns:p14="http://schemas.microsoft.com/office/powerpoint/2010/main" val="46743983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Spatial projection and travel estimates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09</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Distances are geometric approximations rather than road-network detours</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388657AE-30A1-5A7A-6A7F-315D84436430}" type="slidenum">
              <a:rPr sz="900" b="0">
                <a:solidFill>
                  <a:srgbClr val="626B73"/>
                </a:solidFill>
                <a:latin typeface="Arial"/>
                <a:ea typeface="Arial"/>
                <a:cs typeface="Arial"/>
              </a:rPr>
              <a:t>9</a:t>
            </a:fld>
            <a:endParaRPr/>
          </a:p>
        </p:txBody>
      </p:sp>
      <p:sp>
        <p:nvSpPr>
          <p:cNvPr id="26" name="Source note">
            <a:extLst xmlns:a="http://schemas.openxmlformats.org/drawingml/2006/main">
              <a:ext uri="{FF2B5EF4-FFF2-40B4-BE49-F238E27FC236}">
                <a16:creationId xmlns:a16="http://schemas.microsoft.com/office/drawing/2014/main" id="{FC6CF735-F55D-4F0E-B653-1D304424BC58}"/>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prepareRoute(), measureCafe(), tripClockMinutes() and scoreCafe() [S1]</a:t>
            </a:r>
          </a:p>
        </p:txBody>
      </p:sp>
      <p:sp>
        <p:nvSpPr>
          <p:cNvPr id="27" name="Projection heading">
            <a:extLst xmlns:a="http://schemas.openxmlformats.org/drawingml/2006/main">
              <a:ext uri="{FF2B5EF4-FFF2-40B4-BE49-F238E27FC236}">
                <a16:creationId xmlns:a16="http://schemas.microsoft.com/office/drawing/2014/main" id="{81A6B98F-B9A1-48E6-989C-FA4A341AD9EB}"/>
              </a:ext>
            </a:extLst>
          </p:cNvPr>
          <p:cNvSpPr>
            <a:spLocks xmlns:a="http://schemas.openxmlformats.org/drawingml/2006/main" noGrp="1"/>
          </p:cNvSpPr>
          <p:nvPr/>
        </p:nvSpPr>
        <p:spPr>
          <a:xfrm xmlns:a="http://schemas.openxmlformats.org/drawingml/2006/main">
            <a:off x="657225" y="1362075"/>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Location relative to the route</a:t>
            </a:r>
          </a:p>
        </p:txBody>
      </p:sp>
      <p:sp>
        <p:nvSpPr>
          <p:cNvPr id="28" name="Projection explanation">
            <a:extLst xmlns:a="http://schemas.openxmlformats.org/drawingml/2006/main">
              <a:ext uri="{FF2B5EF4-FFF2-40B4-BE49-F238E27FC236}">
                <a16:creationId xmlns:a16="http://schemas.microsoft.com/office/drawing/2014/main" id="{CD35811B-034C-46F0-93B5-6A6185907134}"/>
              </a:ext>
            </a:extLst>
          </p:cNvPr>
          <p:cNvSpPr>
            <a:spLocks xmlns:a="http://schemas.openxmlformats.org/drawingml/2006/main" noGrp="1"/>
          </p:cNvSpPr>
          <p:nvPr/>
        </p:nvSpPr>
        <p:spPr>
          <a:xfrm xmlns:a="http://schemas.openxmlformats.org/drawingml/2006/main">
            <a:off x="657225" y="1676400"/>
            <a:ext cx="77819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app projects the phone and each venue onto the closest route segment.</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Let s be current route progress, sᵢ the venue route position and dᵢ its offset from the route.</a:t>
            </a:r>
          </a:p>
        </p:txBody>
      </p:sp>
      <p:sp>
        <p:nvSpPr>
          <p:cNvPr id="29" name="Travel equation">
            <a:extLst xmlns:a="http://schemas.openxmlformats.org/drawingml/2006/main">
              <a:ext uri="{FF2B5EF4-FFF2-40B4-BE49-F238E27FC236}">
                <a16:creationId xmlns:a16="http://schemas.microsoft.com/office/drawing/2014/main" id="{B1C02D38-B4E6-443E-A054-96426A51D921}"/>
              </a:ext>
            </a:extLst>
          </p:cNvPr>
          <p:cNvSpPr>
            <a:spLocks xmlns:a="http://schemas.openxmlformats.org/drawingml/2006/main" noGrp="1"/>
          </p:cNvSpPr>
          <p:nvPr/>
        </p:nvSpPr>
        <p:spPr>
          <a:xfrm xmlns:a="http://schemas.openxmlformats.org/drawingml/2006/main">
            <a:off x="657225" y="2295525"/>
            <a:ext cx="7829550" cy="447675"/>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a:solidFill>
                  <a:srgbClr val="002C5F"/>
                </a:solidFill>
                <a:latin typeface="Arial"/>
                <a:ea typeface="Arial"/>
                <a:cs typeface="Arial"/>
              </a:defRPr>
            </a:defPPr>
            <a:lvl1pPr algn="ctr">
              <a:defRPr sz="1725">
                <a:solidFill>
                  <a:srgbClr val="002C5F"/>
                </a:solidFill>
                <a:latin typeface="Arial"/>
                <a:ea typeface="Arial"/>
                <a:cs typeface="Arial"/>
              </a:defRPr>
            </a:lvl1pPr>
            <a:lvl2pPr algn="ctr">
              <a:defRPr sz="1725">
                <a:solidFill>
                  <a:srgbClr val="002C5F"/>
                </a:solidFill>
                <a:latin typeface="Arial"/>
                <a:ea typeface="Arial"/>
                <a:cs typeface="Arial"/>
              </a:defRPr>
            </a:lvl2pPr>
            <a:lvl3pPr algn="ctr">
              <a:defRPr sz="1725">
                <a:solidFill>
                  <a:srgbClr val="002C5F"/>
                </a:solidFill>
                <a:latin typeface="Arial"/>
                <a:ea typeface="Arial"/>
                <a:cs typeface="Arial"/>
              </a:defRPr>
            </a:lvl3pPr>
            <a:lvl4pPr algn="ctr">
              <a:defRPr sz="1725">
                <a:solidFill>
                  <a:srgbClr val="002C5F"/>
                </a:solidFill>
                <a:latin typeface="Arial"/>
                <a:ea typeface="Arial"/>
                <a:cs typeface="Arial"/>
              </a:defRPr>
            </a:lvl4pPr>
            <a:lvl5pPr algn="ctr">
              <a:defRPr sz="1725">
                <a:solidFill>
                  <a:srgbClr val="002C5F"/>
                </a:solidFill>
                <a:latin typeface="Arial"/>
                <a:ea typeface="Arial"/>
                <a:cs typeface="Arial"/>
              </a:defRPr>
            </a:lvl5pPr>
            <a:lvl6pPr algn="ctr">
              <a:defRPr sz="1725">
                <a:solidFill>
                  <a:srgbClr val="002C5F"/>
                </a:solidFill>
                <a:latin typeface="Arial"/>
                <a:ea typeface="Arial"/>
                <a:cs typeface="Arial"/>
              </a:defRPr>
            </a:lvl6pPr>
            <a:lvl7pPr algn="ctr">
              <a:defRPr sz="1725">
                <a:solidFill>
                  <a:srgbClr val="002C5F"/>
                </a:solidFill>
                <a:latin typeface="Arial"/>
                <a:ea typeface="Arial"/>
                <a:cs typeface="Arial"/>
              </a:defRPr>
            </a:lvl7pPr>
            <a:lvl8pPr algn="ctr">
              <a:defRPr sz="1725">
                <a:solidFill>
                  <a:srgbClr val="002C5F"/>
                </a:solidFill>
                <a:latin typeface="Arial"/>
                <a:ea typeface="Arial"/>
                <a:cs typeface="Arial"/>
              </a:defRPr>
            </a:lvl8pPr>
            <a:lvl9pPr algn="ctr">
              <a:defRPr sz="1725">
                <a:solidFill>
                  <a:srgbClr val="002C5F"/>
                </a:solidFill>
                <a:latin typeface="Arial"/>
                <a:ea typeface="Arial"/>
                <a:cs typeface="Arial"/>
              </a:defRPr>
            </a:lvl9pPr>
          </a:lstStyle>
          <a:p xmlns:a="http://schemas.openxmlformats.org/drawingml/2006/main">
            <a:pPr algn="ctr">
              <a:defRPr sz="1725">
                <a:solidFill>
                  <a:srgbClr val="002C5F"/>
                </a:solidFill>
                <a:latin typeface="Arial"/>
                <a:ea typeface="Arial"/>
                <a:cs typeface="Arial"/>
              </a:defRPr>
            </a:pPr>
            <a:r>
              <a:rPr sz="1725">
                <a:solidFill>
                  <a:srgbClr val="002C5F"/>
                </a:solidFill>
                <a:latin typeface="Arial"/>
                <a:ea typeface="Arial"/>
                <a:cs typeface="Arial"/>
              </a:rPr>
              <a:t>Extra travel:  Δtᵢ = 2 dᵢ / (60 v)</a:t>
            </a:r>
          </a:p>
        </p:txBody>
      </p:sp>
      <p:sp>
        <p:nvSpPr>
          <p:cNvPr id="30" name="Travel variable definitions">
            <a:extLst xmlns:a="http://schemas.openxmlformats.org/drawingml/2006/main">
              <a:ext uri="{FF2B5EF4-FFF2-40B4-BE49-F238E27FC236}">
                <a16:creationId xmlns:a16="http://schemas.microsoft.com/office/drawing/2014/main" id="{77AA5FB9-F03F-4BC5-9040-2E331E9CC3C1}"/>
              </a:ext>
            </a:extLst>
          </p:cNvPr>
          <p:cNvSpPr>
            <a:spLocks xmlns:a="http://schemas.openxmlformats.org/drawingml/2006/main" noGrp="1"/>
          </p:cNvSpPr>
          <p:nvPr/>
        </p:nvSpPr>
        <p:spPr>
          <a:xfrm xmlns:a="http://schemas.openxmlformats.org/drawingml/2006/main">
            <a:off x="657225" y="2867025"/>
            <a:ext cx="77819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dᵢ is in metres, v is planning speed in metres per second, and Δtᵢ is in minutes.</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factor 2 approximates travelling from the route to the venue and returning.</a:t>
            </a:r>
          </a:p>
        </p:txBody>
      </p:sp>
      <p:sp>
        <p:nvSpPr>
          <p:cNvPr id="31" name="Arrival equation">
            <a:extLst xmlns:a="http://schemas.openxmlformats.org/drawingml/2006/main">
              <a:ext uri="{FF2B5EF4-FFF2-40B4-BE49-F238E27FC236}">
                <a16:creationId xmlns:a16="http://schemas.microsoft.com/office/drawing/2014/main" id="{10F69E34-222F-4E5A-81C6-0FE134E45FA0}"/>
              </a:ext>
            </a:extLst>
          </p:cNvPr>
          <p:cNvSpPr>
            <a:spLocks xmlns:a="http://schemas.openxmlformats.org/drawingml/2006/main" noGrp="1"/>
          </p:cNvSpPr>
          <p:nvPr/>
        </p:nvSpPr>
        <p:spPr>
          <a:xfrm xmlns:a="http://schemas.openxmlformats.org/drawingml/2006/main">
            <a:off x="657225" y="3486150"/>
            <a:ext cx="7829550" cy="428625"/>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448">
                <a:solidFill>
                  <a:srgbClr val="002C5F"/>
                </a:solidFill>
                <a:latin typeface="Arial"/>
                <a:ea typeface="Arial"/>
                <a:cs typeface="Arial"/>
              </a:defRPr>
            </a:defPPr>
            <a:lvl1pPr algn="ctr">
              <a:defRPr sz="1448">
                <a:solidFill>
                  <a:srgbClr val="002C5F"/>
                </a:solidFill>
                <a:latin typeface="Arial"/>
                <a:ea typeface="Arial"/>
                <a:cs typeface="Arial"/>
              </a:defRPr>
            </a:lvl1pPr>
            <a:lvl2pPr algn="ctr">
              <a:defRPr sz="1448">
                <a:solidFill>
                  <a:srgbClr val="002C5F"/>
                </a:solidFill>
                <a:latin typeface="Arial"/>
                <a:ea typeface="Arial"/>
                <a:cs typeface="Arial"/>
              </a:defRPr>
            </a:lvl2pPr>
            <a:lvl3pPr algn="ctr">
              <a:defRPr sz="1448">
                <a:solidFill>
                  <a:srgbClr val="002C5F"/>
                </a:solidFill>
                <a:latin typeface="Arial"/>
                <a:ea typeface="Arial"/>
                <a:cs typeface="Arial"/>
              </a:defRPr>
            </a:lvl3pPr>
            <a:lvl4pPr algn="ctr">
              <a:defRPr sz="1448">
                <a:solidFill>
                  <a:srgbClr val="002C5F"/>
                </a:solidFill>
                <a:latin typeface="Arial"/>
                <a:ea typeface="Arial"/>
                <a:cs typeface="Arial"/>
              </a:defRPr>
            </a:lvl4pPr>
            <a:lvl5pPr algn="ctr">
              <a:defRPr sz="1448">
                <a:solidFill>
                  <a:srgbClr val="002C5F"/>
                </a:solidFill>
                <a:latin typeface="Arial"/>
                <a:ea typeface="Arial"/>
                <a:cs typeface="Arial"/>
              </a:defRPr>
            </a:lvl5pPr>
            <a:lvl6pPr algn="ctr">
              <a:defRPr sz="1448">
                <a:solidFill>
                  <a:srgbClr val="002C5F"/>
                </a:solidFill>
                <a:latin typeface="Arial"/>
                <a:ea typeface="Arial"/>
                <a:cs typeface="Arial"/>
              </a:defRPr>
            </a:lvl6pPr>
            <a:lvl7pPr algn="ctr">
              <a:defRPr sz="1448">
                <a:solidFill>
                  <a:srgbClr val="002C5F"/>
                </a:solidFill>
                <a:latin typeface="Arial"/>
                <a:ea typeface="Arial"/>
                <a:cs typeface="Arial"/>
              </a:defRPr>
            </a:lvl7pPr>
            <a:lvl8pPr algn="ctr">
              <a:defRPr sz="1448">
                <a:solidFill>
                  <a:srgbClr val="002C5F"/>
                </a:solidFill>
                <a:latin typeface="Arial"/>
                <a:ea typeface="Arial"/>
                <a:cs typeface="Arial"/>
              </a:defRPr>
            </a:lvl8pPr>
            <a:lvl9pPr algn="ctr">
              <a:defRPr sz="1448">
                <a:solidFill>
                  <a:srgbClr val="002C5F"/>
                </a:solidFill>
                <a:latin typeface="Arial"/>
                <a:ea typeface="Arial"/>
                <a:cs typeface="Arial"/>
              </a:defRPr>
            </a:lvl9pPr>
          </a:lstStyle>
          <a:p xmlns:a="http://schemas.openxmlformats.org/drawingml/2006/main">
            <a:pPr algn="ctr">
              <a:defRPr sz="1448">
                <a:solidFill>
                  <a:srgbClr val="002C5F"/>
                </a:solidFill>
                <a:latin typeface="Arial"/>
                <a:ea typeface="Arial"/>
                <a:cs typeface="Arial"/>
              </a:defRPr>
            </a:pPr>
            <a:r>
              <a:rPr sz="1448">
                <a:solidFill>
                  <a:srgbClr val="002C5F"/>
                </a:solidFill>
                <a:latin typeface="Arial"/>
                <a:ea typeface="Arial"/>
                <a:cs typeface="Arial"/>
              </a:rPr>
              <a:t>GPS arrival clock:  tᵢ = t₀ + max(0, sᵢ - s)/(60 v) + Δtᵢ/2 + Bᵢ</a:t>
            </a:r>
          </a:p>
        </p:txBody>
      </p:sp>
      <p:sp>
        <p:nvSpPr>
          <p:cNvPr id="32" name="Arrival variable definitions">
            <a:extLst xmlns:a="http://schemas.openxmlformats.org/drawingml/2006/main">
              <a:ext uri="{FF2B5EF4-FFF2-40B4-BE49-F238E27FC236}">
                <a16:creationId xmlns:a16="http://schemas.microsoft.com/office/drawing/2014/main" id="{81670A45-07DF-4AC3-AFFF-11683D3C0A31}"/>
              </a:ext>
            </a:extLst>
          </p:cNvPr>
          <p:cNvSpPr>
            <a:spLocks xmlns:a="http://schemas.openxmlformats.org/drawingml/2006/main" noGrp="1"/>
          </p:cNvSpPr>
          <p:nvPr/>
        </p:nvSpPr>
        <p:spPr>
          <a:xfrm xmlns:a="http://schemas.openxmlformats.org/drawingml/2006/main">
            <a:off x="657225" y="4076700"/>
            <a:ext cx="77819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t₀ is the current IST clock and tᵢ the arrival clock, in minutes. Bᵢ adds accepted travel before venue i.</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The arrival estimate excludes queues, food preparation and eating time.</a:t>
            </a:r>
          </a:p>
        </p:txBody>
      </p:sp>
    </p:spTree>
    <p:extLst>
      <p:ext uri="{BB962C8B-B14F-4D97-AF65-F5344CB8AC3E}">
        <p14:creationId xmlns:p14="http://schemas.microsoft.com/office/powerpoint/2010/main" val="46743983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Availability checks before ranking</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10</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An automatic suggestion must satisfy every relevant gate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DB7BEEEC-A170-5376-2B6E-CB54687B0CB1}" type="slidenum">
              <a:rPr sz="900" b="0">
                <a:solidFill>
                  <a:srgbClr val="626B73"/>
                </a:solidFill>
                <a:latin typeface="Arial"/>
                <a:ea typeface="Arial"/>
                <a:cs typeface="Arial"/>
              </a:rPr>
              <a:t>10</a:t>
            </a:fld>
            <a:endParaRPr/>
          </a:p>
        </p:txBody>
      </p:sp>
      <p:sp>
        <p:nvSpPr>
          <p:cNvPr id="26" name="Source note">
            <a:extLst xmlns:a="http://schemas.openxmlformats.org/drawingml/2006/main">
              <a:ext uri="{FF2B5EF4-FFF2-40B4-BE49-F238E27FC236}">
                <a16:creationId xmlns:a16="http://schemas.microsoft.com/office/drawing/2014/main" id="{4EACB433-AA69-4F67-8CB6-6D8FB64A6915}"/>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scoreCafe() and recordVenueChoice() in the final application [S1]</a:t>
            </a:r>
          </a:p>
        </p:txBody>
      </p:sp>
      <p:graphicFrame>
        <p:nvGraphicFramePr>
          <p:cNvPr id="27" name="">
            <a:extLst xmlns:a="http://schemas.openxmlformats.org/drawingml/2006/main">
              <a:ext uri="{FF2B5EF4-FFF2-40B4-BE49-F238E27FC236}">
                <a16:creationId xmlns:a16="http://schemas.microsoft.com/office/drawing/2014/main" id="{D2A4B53B-8582-49C0-BC24-4A8DCCDEEE80}"/>
              </a:ext>
            </a:extLst>
          </p:cNvPr>
          <p:cNvGraphicFramePr/>
          <p:nvPr/>
        </p:nvGraphicFramePr>
        <p:xfrm>
          <a:off xmlns:a="http://schemas.openxmlformats.org/drawingml/2006/main" x="657225" y="1419225"/>
          <a:ext xmlns:a="http://schemas.openxmlformats.org/drawingml/2006/main" cx="7829550" cy="2857500"/>
        </p:xfrm>
        <a:graphic xmlns:a="http://schemas.openxmlformats.org/drawingml/2006/main">
          <a:graphicData uri="http://schemas.openxmlformats.org/drawingml/2006/table">
            <a:tbl>
              <a:tblPr firstRow="1" bandRow="0"/>
              <a:tblGrid>
                <a:gridCol w="1809750"/>
                <a:gridCol w="6019800"/>
              </a:tblGrid>
              <a:tr h="408214">
                <a:tc>
                  <a:txBody>
                    <a:bodyPr wrap="square">
                      <a:noAutofit/>
                    </a:bodyPr>
                    <a:lstStyle/>
                    <a:p>
                      <a:pPr algn="l"/>
                      <a:r>
                        <a:rPr sz="1223" b="1">
                          <a:solidFill>
                            <a:srgbClr val="FFFFFF"/>
                          </a:solidFill>
                          <a:latin typeface="Arial"/>
                          <a:ea typeface="Arial"/>
                          <a:cs typeface="Arial"/>
                        </a:rPr>
                        <a:t>Check</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Condition</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08214">
                <a:tc>
                  <a:txBody>
                    <a:bodyPr wrap="square">
                      <a:noAutofit/>
                    </a:bodyPr>
                    <a:lstStyle/>
                    <a:p>
                      <a:pPr algn="l"/>
                      <a:r>
                        <a:rPr sz="1223" b="0">
                          <a:solidFill>
                            <a:srgbClr val="002C5F"/>
                          </a:solidFill>
                          <a:latin typeface="Arial"/>
                          <a:ea typeface="Arial"/>
                          <a:cs typeface="Arial"/>
                        </a:rPr>
                        <a:t>Reliable context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In GPS mode, the trip must be active with a fresh, trusted route fix.</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08214">
                <a:tc>
                  <a:txBody>
                    <a:bodyPr wrap="square">
                      <a:noAutofit/>
                    </a:bodyPr>
                    <a:lstStyle/>
                    <a:p>
                      <a:pPr algn="l"/>
                      <a:r>
                        <a:rPr sz="1223" b="0">
                          <a:solidFill>
                            <a:srgbClr val="002C5F"/>
                          </a:solidFill>
                          <a:latin typeface="Arial"/>
                          <a:ea typeface="Arial"/>
                          <a:cs typeface="Arial"/>
                        </a:rPr>
                        <a:t>Upcoming place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The venue projection must be ahead of current route progress.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08214">
                <a:tc>
                  <a:txBody>
                    <a:bodyPr wrap="square">
                      <a:noAutofit/>
                    </a:bodyPr>
                    <a:lstStyle/>
                    <a:p>
                      <a:pPr algn="l"/>
                      <a:r>
                        <a:rPr sz="1223" b="0">
                          <a:solidFill>
                            <a:srgbClr val="002C5F"/>
                          </a:solidFill>
                          <a:latin typeface="Arial"/>
                          <a:ea typeface="Arial"/>
                          <a:cs typeface="Arial"/>
                        </a:rPr>
                        <a:t>Route proximity</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Venue offset must be no more than 300 m.</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08214">
                <a:tc>
                  <a:txBody>
                    <a:bodyPr wrap="square">
                      <a:noAutofit/>
                    </a:bodyPr>
                    <a:lstStyle/>
                    <a:p>
                      <a:pPr algn="l"/>
                      <a:r>
                        <a:rPr sz="1223" b="0">
                          <a:solidFill>
                            <a:srgbClr val="002C5F"/>
                          </a:solidFill>
                          <a:latin typeface="Arial"/>
                          <a:ea typeface="Arial"/>
                          <a:cs typeface="Arial"/>
                        </a:rPr>
                        <a:t>Opening hours</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The saved hours must indicate open now and open at estimated arrival.</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08214">
                <a:tc>
                  <a:txBody>
                    <a:bodyPr wrap="square">
                      <a:noAutofit/>
                    </a:bodyPr>
                    <a:lstStyle/>
                    <a:p>
                      <a:pPr algn="l"/>
                      <a:r>
                        <a:rPr sz="1223" b="0">
                          <a:solidFill>
                            <a:srgbClr val="002C5F"/>
                          </a:solidFill>
                          <a:latin typeface="Arial"/>
                          <a:ea typeface="Arial"/>
                          <a:cs typeface="Arial"/>
                        </a:rPr>
                        <a:t>Travel allowance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Extra travel must fit both the 30 min detour limit and remaining spare travel.</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08214">
                <a:tc>
                  <a:txBody>
                    <a:bodyPr wrap="square">
                      <a:noAutofit/>
                    </a:bodyPr>
                    <a:lstStyle/>
                    <a:p>
                      <a:pPr algn="l"/>
                      <a:r>
                        <a:rPr sz="1223" b="0">
                          <a:solidFill>
                            <a:srgbClr val="002C5F"/>
                          </a:solidFill>
                          <a:latin typeface="Arial"/>
                          <a:ea typeface="Arial"/>
                          <a:cs typeface="Arial"/>
                        </a:rPr>
                        <a:t>Prompt eligibility</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The venue must not have been shown this trip, and score must be at least 0.50.</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bl>
          </a:graphicData>
        </a:graphic>
      </p:graphicFrame>
      <p:sp>
        <p:nvSpPr>
          <p:cNvPr id="28" name="Complete list distinction">
            <a:extLst xmlns:a="http://schemas.openxmlformats.org/drawingml/2006/main">
              <a:ext uri="{FF2B5EF4-FFF2-40B4-BE49-F238E27FC236}">
                <a16:creationId xmlns:a16="http://schemas.microsoft.com/office/drawing/2014/main" id="{AC40983E-4D88-444A-95B0-31D0EB512240}"/>
              </a:ext>
            </a:extLst>
          </p:cNvPr>
          <p:cNvSpPr>
            <a:spLocks xmlns:a="http://schemas.openxmlformats.org/drawingml/2006/main" noGrp="1"/>
          </p:cNvSpPr>
          <p:nvPr/>
        </p:nvSpPr>
        <p:spPr>
          <a:xfrm xmlns:a="http://schemas.openxmlformats.org/drawingml/2006/main">
            <a:off x="657225" y="4362450"/>
            <a:ext cx="77819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2" b="0">
                <a:solidFill>
                  <a:srgbClr val="002C5F"/>
                </a:solidFill>
                <a:latin typeface="Arial"/>
                <a:ea typeface="Arial"/>
                <a:cs typeface="Arial"/>
              </a:defRPr>
            </a:defPPr>
            <a:lvl1pPr algn="l">
              <a:defRPr sz="1102" b="0">
                <a:solidFill>
                  <a:srgbClr val="002C5F"/>
                </a:solidFill>
                <a:latin typeface="Arial"/>
                <a:ea typeface="Arial"/>
                <a:cs typeface="Arial"/>
              </a:defRPr>
            </a:lvl1pPr>
            <a:lvl2pPr algn="l">
              <a:defRPr sz="1102" b="0">
                <a:solidFill>
                  <a:srgbClr val="002C5F"/>
                </a:solidFill>
                <a:latin typeface="Arial"/>
                <a:ea typeface="Arial"/>
                <a:cs typeface="Arial"/>
              </a:defRPr>
            </a:lvl2pPr>
            <a:lvl3pPr algn="l">
              <a:defRPr sz="1102" b="0">
                <a:solidFill>
                  <a:srgbClr val="002C5F"/>
                </a:solidFill>
                <a:latin typeface="Arial"/>
                <a:ea typeface="Arial"/>
                <a:cs typeface="Arial"/>
              </a:defRPr>
            </a:lvl3pPr>
            <a:lvl4pPr algn="l">
              <a:defRPr sz="1102" b="0">
                <a:solidFill>
                  <a:srgbClr val="002C5F"/>
                </a:solidFill>
                <a:latin typeface="Arial"/>
                <a:ea typeface="Arial"/>
                <a:cs typeface="Arial"/>
              </a:defRPr>
            </a:lvl4pPr>
            <a:lvl5pPr algn="l">
              <a:defRPr sz="1102" b="0">
                <a:solidFill>
                  <a:srgbClr val="002C5F"/>
                </a:solidFill>
                <a:latin typeface="Arial"/>
                <a:ea typeface="Arial"/>
                <a:cs typeface="Arial"/>
              </a:defRPr>
            </a:lvl5pPr>
            <a:lvl6pPr algn="l">
              <a:defRPr sz="1102" b="0">
                <a:solidFill>
                  <a:srgbClr val="002C5F"/>
                </a:solidFill>
                <a:latin typeface="Arial"/>
                <a:ea typeface="Arial"/>
                <a:cs typeface="Arial"/>
              </a:defRPr>
            </a:lvl6pPr>
            <a:lvl7pPr algn="l">
              <a:defRPr sz="1102" b="0">
                <a:solidFill>
                  <a:srgbClr val="002C5F"/>
                </a:solidFill>
                <a:latin typeface="Arial"/>
                <a:ea typeface="Arial"/>
                <a:cs typeface="Arial"/>
              </a:defRPr>
            </a:lvl7pPr>
            <a:lvl8pPr algn="l">
              <a:defRPr sz="1102" b="0">
                <a:solidFill>
                  <a:srgbClr val="002C5F"/>
                </a:solidFill>
                <a:latin typeface="Arial"/>
                <a:ea typeface="Arial"/>
                <a:cs typeface="Arial"/>
              </a:defRPr>
            </a:lvl8pPr>
            <a:lvl9pPr algn="l">
              <a:defRPr sz="1102" b="0">
                <a:solidFill>
                  <a:srgbClr val="002C5F"/>
                </a:solidFill>
                <a:latin typeface="Arial"/>
                <a:ea typeface="Arial"/>
                <a:cs typeface="Arial"/>
              </a:defRPr>
            </a:lvl9pPr>
          </a:lstStyle>
          <a:p xmlns:a="http://schemas.openxmlformats.org/drawingml/2006/main">
            <a:pPr algn="l">
              <a:defRPr sz="1102" b="0">
                <a:solidFill>
                  <a:srgbClr val="002C5F"/>
                </a:solidFill>
                <a:latin typeface="Arial"/>
                <a:ea typeface="Arial"/>
                <a:cs typeface="Arial"/>
              </a:defRPr>
            </a:pPr>
            <a:r>
              <a:rPr sz="1102" b="0">
                <a:solidFill>
                  <a:srgbClr val="002C5F"/>
                </a:solidFill>
                <a:latin typeface="Arial"/>
                <a:ea typeface="Arial"/>
                <a:cs typeface="Arial"/>
              </a:rPr>
              <a:t>These checks govern availability and automatic alerts. All nine venues remain in the complete list</a:t>
            </a:r>
          </a:p>
          <a:p xmlns:a="http://schemas.openxmlformats.org/drawingml/2006/main">
            <a:pPr algn="l">
              <a:defRPr sz="1102" b="0">
                <a:solidFill>
                  <a:srgbClr val="002C5F"/>
                </a:solidFill>
                <a:latin typeface="Arial"/>
                <a:ea typeface="Arial"/>
                <a:cs typeface="Arial"/>
              </a:defRPr>
            </a:pPr>
            <a:r>
              <a:rPr sz="1102" b="0">
                <a:solidFill>
                  <a:srgbClr val="002C5F"/>
                </a:solidFill>
                <a:latin typeface="Arial"/>
                <a:ea typeface="Arial"/>
                <a:cs typeface="Arial"/>
              </a:rPr>
              <a:t>with their status, even when a venue is unavailable or has a low preference value.</a:t>
            </a:r>
          </a:p>
        </p:txBody>
      </p:sp>
    </p:spTree>
    <p:extLst>
      <p:ext uri="{BB962C8B-B14F-4D97-AF65-F5344CB8AC3E}">
        <p14:creationId xmlns:p14="http://schemas.microsoft.com/office/powerpoint/2010/main" val="46743983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Recommendation ranking</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11</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A fixed weighted score orders venues that pass the availability checks</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30394428-F1DC-E5F6-DB0C-7DE31F3D8A23}" type="slidenum">
              <a:rPr sz="900" b="0">
                <a:solidFill>
                  <a:srgbClr val="626B73"/>
                </a:solidFill>
                <a:latin typeface="Arial"/>
                <a:ea typeface="Arial"/>
                <a:cs typeface="Arial"/>
              </a:rPr>
              <a:t>11</a:t>
            </a:fld>
            <a:endParaRPr/>
          </a:p>
        </p:txBody>
      </p:sp>
      <p:sp>
        <p:nvSpPr>
          <p:cNvPr id="26" name="Source note">
            <a:extLst xmlns:a="http://schemas.openxmlformats.org/drawingml/2006/main">
              <a:ext uri="{FF2B5EF4-FFF2-40B4-BE49-F238E27FC236}">
                <a16:creationId xmlns:a16="http://schemas.microsoft.com/office/drawing/2014/main" id="{30730A12-C388-4122-91C5-3C56E4840421}"/>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scoreCafe() and weights in demo-settings.json [S1]</a:t>
            </a:r>
          </a:p>
        </p:txBody>
      </p:sp>
      <p:sp>
        <p:nvSpPr>
          <p:cNvPr id="27" name="Score equation">
            <a:extLst xmlns:a="http://schemas.openxmlformats.org/drawingml/2006/main">
              <a:ext uri="{FF2B5EF4-FFF2-40B4-BE49-F238E27FC236}">
                <a16:creationId xmlns:a16="http://schemas.microsoft.com/office/drawing/2014/main" id="{2B977B91-05D2-40BF-9DE2-D17787A786A9}"/>
              </a:ext>
            </a:extLst>
          </p:cNvPr>
          <p:cNvSpPr>
            <a:spLocks xmlns:a="http://schemas.openxmlformats.org/drawingml/2006/main" noGrp="1"/>
          </p:cNvSpPr>
          <p:nvPr/>
        </p:nvSpPr>
        <p:spPr>
          <a:xfrm xmlns:a="http://schemas.openxmlformats.org/drawingml/2006/main">
            <a:off x="657225" y="1371600"/>
            <a:ext cx="7829550" cy="466725"/>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a:solidFill>
                  <a:srgbClr val="002C5F"/>
                </a:solidFill>
                <a:latin typeface="Arial"/>
                <a:ea typeface="Arial"/>
                <a:cs typeface="Arial"/>
              </a:defRPr>
            </a:defPPr>
            <a:lvl1pPr algn="ctr">
              <a:defRPr sz="1800">
                <a:solidFill>
                  <a:srgbClr val="002C5F"/>
                </a:solidFill>
                <a:latin typeface="Arial"/>
                <a:ea typeface="Arial"/>
                <a:cs typeface="Arial"/>
              </a:defRPr>
            </a:lvl1pPr>
            <a:lvl2pPr algn="ctr">
              <a:defRPr sz="1800">
                <a:solidFill>
                  <a:srgbClr val="002C5F"/>
                </a:solidFill>
                <a:latin typeface="Arial"/>
                <a:ea typeface="Arial"/>
                <a:cs typeface="Arial"/>
              </a:defRPr>
            </a:lvl2pPr>
            <a:lvl3pPr algn="ctr">
              <a:defRPr sz="1800">
                <a:solidFill>
                  <a:srgbClr val="002C5F"/>
                </a:solidFill>
                <a:latin typeface="Arial"/>
                <a:ea typeface="Arial"/>
                <a:cs typeface="Arial"/>
              </a:defRPr>
            </a:lvl3pPr>
            <a:lvl4pPr algn="ctr">
              <a:defRPr sz="1800">
                <a:solidFill>
                  <a:srgbClr val="002C5F"/>
                </a:solidFill>
                <a:latin typeface="Arial"/>
                <a:ea typeface="Arial"/>
                <a:cs typeface="Arial"/>
              </a:defRPr>
            </a:lvl4pPr>
            <a:lvl5pPr algn="ctr">
              <a:defRPr sz="1800">
                <a:solidFill>
                  <a:srgbClr val="002C5F"/>
                </a:solidFill>
                <a:latin typeface="Arial"/>
                <a:ea typeface="Arial"/>
                <a:cs typeface="Arial"/>
              </a:defRPr>
            </a:lvl5pPr>
            <a:lvl6pPr algn="ctr">
              <a:defRPr sz="1800">
                <a:solidFill>
                  <a:srgbClr val="002C5F"/>
                </a:solidFill>
                <a:latin typeface="Arial"/>
                <a:ea typeface="Arial"/>
                <a:cs typeface="Arial"/>
              </a:defRPr>
            </a:lvl6pPr>
            <a:lvl7pPr algn="ctr">
              <a:defRPr sz="1800">
                <a:solidFill>
                  <a:srgbClr val="002C5F"/>
                </a:solidFill>
                <a:latin typeface="Arial"/>
                <a:ea typeface="Arial"/>
                <a:cs typeface="Arial"/>
              </a:defRPr>
            </a:lvl7pPr>
            <a:lvl8pPr algn="ctr">
              <a:defRPr sz="1800">
                <a:solidFill>
                  <a:srgbClr val="002C5F"/>
                </a:solidFill>
                <a:latin typeface="Arial"/>
                <a:ea typeface="Arial"/>
                <a:cs typeface="Arial"/>
              </a:defRPr>
            </a:lvl8pPr>
            <a:lvl9pPr algn="ctr">
              <a:defRPr sz="1800">
                <a:solidFill>
                  <a:srgbClr val="002C5F"/>
                </a:solidFill>
                <a:latin typeface="Arial"/>
                <a:ea typeface="Arial"/>
                <a:cs typeface="Arial"/>
              </a:defRPr>
            </a:lvl9pPr>
          </a:lstStyle>
          <a:p xmlns:a="http://schemas.openxmlformats.org/drawingml/2006/main">
            <a:pPr algn="ctr">
              <a:defRPr sz="1800">
                <a:solidFill>
                  <a:srgbClr val="002C5F"/>
                </a:solidFill>
                <a:latin typeface="Arial"/>
                <a:ea typeface="Arial"/>
                <a:cs typeface="Arial"/>
              </a:defRPr>
            </a:pPr>
            <a:r>
              <a:rPr sz="1800">
                <a:solidFill>
                  <a:srgbClr val="002C5F"/>
                </a:solidFill>
                <a:latin typeface="Arial"/>
                <a:ea typeface="Arial"/>
                <a:cs typeface="Arial"/>
              </a:rPr>
              <a:t>Sᵢ = 0.60 Aᵢ + 0.20 Tᵢ + 0.10 Rᵢ + 0.10 Dᵢ</a:t>
            </a:r>
          </a:p>
        </p:txBody>
      </p:sp>
      <p:graphicFrame>
        <p:nvGraphicFramePr>
          <p:cNvPr id="28" name="">
            <a:extLst xmlns:a="http://schemas.openxmlformats.org/drawingml/2006/main">
              <a:ext uri="{FF2B5EF4-FFF2-40B4-BE49-F238E27FC236}">
                <a16:creationId xmlns:a16="http://schemas.microsoft.com/office/drawing/2014/main" id="{57E73411-4252-4783-A81D-4D0221A6E1BD}"/>
              </a:ext>
            </a:extLst>
          </p:cNvPr>
          <p:cNvGraphicFramePr/>
          <p:nvPr/>
        </p:nvGraphicFramePr>
        <p:xfrm>
          <a:off xmlns:a="http://schemas.openxmlformats.org/drawingml/2006/main" x="657225" y="2009775"/>
          <a:ext xmlns:a="http://schemas.openxmlformats.org/drawingml/2006/main" cx="7829550" cy="1914525"/>
        </p:xfrm>
        <a:graphic xmlns:a="http://schemas.openxmlformats.org/drawingml/2006/main">
          <a:graphicData uri="http://schemas.openxmlformats.org/drawingml/2006/table">
            <a:tbl>
              <a:tblPr firstRow="1" bandRow="0"/>
              <a:tblGrid>
                <a:gridCol w="1714500"/>
                <a:gridCol w="5257800"/>
                <a:gridCol w="857250"/>
              </a:tblGrid>
              <a:tr h="382905">
                <a:tc>
                  <a:txBody>
                    <a:bodyPr wrap="square">
                      <a:noAutofit/>
                    </a:bodyPr>
                    <a:lstStyle/>
                    <a:p>
                      <a:pPr algn="l"/>
                      <a:r>
                        <a:rPr sz="1223" b="1">
                          <a:solidFill>
                            <a:srgbClr val="FFFFFF"/>
                          </a:solidFill>
                          <a:latin typeface="Arial"/>
                          <a:ea typeface="Arial"/>
                          <a:cs typeface="Arial"/>
                        </a:rPr>
                        <a:t>Term</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Definition</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Weight</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382905">
                <a:tc>
                  <a:txBody>
                    <a:bodyPr wrap="square">
                      <a:noAutofit/>
                    </a:bodyPr>
                    <a:lstStyle/>
                    <a:p>
                      <a:pPr algn="l"/>
                      <a:r>
                        <a:rPr sz="1223" b="0">
                          <a:solidFill>
                            <a:srgbClr val="002C5F"/>
                          </a:solidFill>
                          <a:latin typeface="Arial"/>
                          <a:ea typeface="Arial"/>
                          <a:cs typeface="Arial"/>
                        </a:rPr>
                        <a:t>Aᵢ: preference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0.8 x venue preference + 0.2 x category preference</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0.60</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82905">
                <a:tc>
                  <a:txBody>
                    <a:bodyPr wrap="square">
                      <a:noAutofit/>
                    </a:bodyPr>
                    <a:lstStyle/>
                    <a:p>
                      <a:pPr algn="l"/>
                      <a:r>
                        <a:rPr sz="1223" b="0">
                          <a:solidFill>
                            <a:srgbClr val="002C5F"/>
                          </a:solidFill>
                          <a:latin typeface="Arial"/>
                          <a:ea typeface="Arial"/>
                          <a:cs typeface="Arial"/>
                        </a:rPr>
                        <a:t>Tᵢ: time fit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Saved category value for the predicted arrival time band</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0.20</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382905">
                <a:tc>
                  <a:txBody>
                    <a:bodyPr wrap="square">
                      <a:noAutofit/>
                    </a:bodyPr>
                    <a:lstStyle/>
                    <a:p>
                      <a:pPr algn="l"/>
                      <a:r>
                        <a:rPr sz="1223" b="0">
                          <a:solidFill>
                            <a:srgbClr val="002C5F"/>
                          </a:solidFill>
                          <a:latin typeface="Arial"/>
                          <a:ea typeface="Arial"/>
                          <a:cs typeface="Arial"/>
                        </a:rPr>
                        <a:t>Rᵢ: rating</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Saved venue rating divided by 5</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0.10</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82905">
                <a:tc>
                  <a:txBody>
                    <a:bodyPr wrap="square">
                      <a:noAutofit/>
                    </a:bodyPr>
                    <a:lstStyle/>
                    <a:p>
                      <a:pPr algn="l"/>
                      <a:r>
                        <a:rPr sz="1223" b="0">
                          <a:solidFill>
                            <a:srgbClr val="002C5F"/>
                          </a:solidFill>
                          <a:latin typeface="Arial"/>
                          <a:ea typeface="Arial"/>
                          <a:cs typeface="Arial"/>
                        </a:rPr>
                        <a:t>Dᵢ: detour fit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1 - Δtᵢ/30, restricted to the interval from 0 to 1</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0.10</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bl>
          </a:graphicData>
        </a:graphic>
      </p:graphicFrame>
      <p:sp>
        <p:nvSpPr>
          <p:cNvPr id="29" name="Score interpretation">
            <a:extLst xmlns:a="http://schemas.openxmlformats.org/drawingml/2006/main">
              <a:ext uri="{FF2B5EF4-FFF2-40B4-BE49-F238E27FC236}">
                <a16:creationId xmlns:a16="http://schemas.microsoft.com/office/drawing/2014/main" id="{4A56F8CA-2FCF-4ADB-A610-3B7305E97CA7}"/>
              </a:ext>
            </a:extLst>
          </p:cNvPr>
          <p:cNvSpPr>
            <a:spLocks xmlns:a="http://schemas.openxmlformats.org/drawingml/2006/main" noGrp="1"/>
          </p:cNvSpPr>
          <p:nvPr/>
        </p:nvSpPr>
        <p:spPr>
          <a:xfrm xmlns:a="http://schemas.openxmlformats.org/drawingml/2006/main">
            <a:off x="657225" y="4124325"/>
            <a:ext cx="7781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Every component lies between 0 and 1. The weights are chosen configuration values.</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They have not been fitted to a training dataset or validated as an optimum.</a:t>
            </a:r>
          </a:p>
        </p:txBody>
      </p:sp>
    </p:spTree>
    <p:extLst>
      <p:ext uri="{BB962C8B-B14F-4D97-AF65-F5344CB8AC3E}">
        <p14:creationId xmlns:p14="http://schemas.microsoft.com/office/powerpoint/2010/main" val="46743983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Time-of-day context model</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12</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current time-fit values are developer-defined assumptions</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4DB16885-0D3F-A391-B669-3211DB3B26E8}" type="slidenum">
              <a:rPr sz="900" b="0">
                <a:solidFill>
                  <a:srgbClr val="626B73"/>
                </a:solidFill>
                <a:latin typeface="Arial"/>
                <a:ea typeface="Arial"/>
                <a:cs typeface="Arial"/>
              </a:rPr>
              <a:t>12</a:t>
            </a:fld>
            <a:endParaRPr/>
          </a:p>
        </p:txBody>
      </p:sp>
      <p:sp>
        <p:nvSpPr>
          <p:cNvPr id="26" name="Source note">
            <a:extLst xmlns:a="http://schemas.openxmlformats.org/drawingml/2006/main">
              <a:ext uri="{FF2B5EF4-FFF2-40B4-BE49-F238E27FC236}">
                <a16:creationId xmlns:a16="http://schemas.microsoft.com/office/drawing/2014/main" id="{8C448D61-651C-43C4-AFD0-C5744B2721C0}"/>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 timeFits in data/demo-settings.json. Categories refer to each venue label [S1].</a:t>
            </a:r>
          </a:p>
        </p:txBody>
      </p:sp>
      <p:graphicFrame>
        <p:nvGraphicFramePr>
          <p:cNvPr id="27" name="">
            <a:extLst xmlns:a="http://schemas.openxmlformats.org/drawingml/2006/main">
              <a:ext uri="{FF2B5EF4-FFF2-40B4-BE49-F238E27FC236}">
                <a16:creationId xmlns:a16="http://schemas.microsoft.com/office/drawing/2014/main" id="{D9E5895F-41BE-4159-A9C9-2E0CF43FF436}"/>
              </a:ext>
            </a:extLst>
          </p:cNvPr>
          <p:cNvGraphicFramePr/>
          <p:nvPr/>
        </p:nvGraphicFramePr>
        <p:xfrm>
          <a:off xmlns:a="http://schemas.openxmlformats.org/drawingml/2006/main" x="657225" y="1381125"/>
          <a:ext xmlns:a="http://schemas.openxmlformats.org/drawingml/2006/main" cx="7829550" cy="2714625"/>
        </p:xfrm>
        <a:graphic xmlns:a="http://schemas.openxmlformats.org/drawingml/2006/main">
          <a:graphicData uri="http://schemas.openxmlformats.org/drawingml/2006/table">
            <a:tbl>
              <a:tblPr firstRow="1" bandRow="0"/>
              <a:tblGrid>
                <a:gridCol w="2724150"/>
                <a:gridCol w="1276350"/>
                <a:gridCol w="1276350"/>
                <a:gridCol w="1276350"/>
                <a:gridCol w="1276350"/>
              </a:tblGrid>
              <a:tr h="452438">
                <a:tc>
                  <a:txBody>
                    <a:bodyPr wrap="square">
                      <a:noAutofit/>
                    </a:bodyPr>
                    <a:lstStyle/>
                    <a:p>
                      <a:pPr algn="l"/>
                      <a:r>
                        <a:rPr sz="1223" b="1">
                          <a:solidFill>
                            <a:srgbClr val="FFFFFF"/>
                          </a:solidFill>
                          <a:latin typeface="Arial"/>
                          <a:ea typeface="Arial"/>
                          <a:cs typeface="Arial"/>
                        </a:rPr>
                        <a:t>Arrival time band</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Tea</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Coffee</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Snacks</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Meals</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52438">
                <a:tc>
                  <a:txBody>
                    <a:bodyPr wrap="square">
                      <a:noAutofit/>
                    </a:bodyPr>
                    <a:lstStyle/>
                    <a:p>
                      <a:pPr algn="l"/>
                      <a:r>
                        <a:rPr sz="1223" b="0">
                          <a:solidFill>
                            <a:srgbClr val="002C5F"/>
                          </a:solidFill>
                          <a:latin typeface="Arial"/>
                          <a:ea typeface="Arial"/>
                          <a:cs typeface="Arial"/>
                        </a:rPr>
                        <a:t>morning</a:t>
                      </a:r>
                    </a:p>
                    <a:p>
                      <a:pPr algn="l"/>
                      <a:r>
                        <a:rPr sz="1223" b="0">
                          <a:solidFill>
                            <a:srgbClr val="002C5F"/>
                          </a:solidFill>
                          <a:latin typeface="Arial"/>
                          <a:ea typeface="Arial"/>
                          <a:cs typeface="Arial"/>
                        </a:rPr>
                        <a:t>06:00-12:00</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1.00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1.00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0.70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0.40</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52438">
                <a:tc>
                  <a:txBody>
                    <a:bodyPr wrap="square">
                      <a:noAutofit/>
                    </a:bodyPr>
                    <a:lstStyle/>
                    <a:p>
                      <a:pPr algn="l"/>
                      <a:r>
                        <a:rPr sz="1223" b="0">
                          <a:solidFill>
                            <a:srgbClr val="002C5F"/>
                          </a:solidFill>
                          <a:latin typeface="Arial"/>
                          <a:ea typeface="Arial"/>
                          <a:cs typeface="Arial"/>
                        </a:rPr>
                        <a:t>lunchtime</a:t>
                      </a:r>
                    </a:p>
                    <a:p>
                      <a:pPr algn="l"/>
                      <a:r>
                        <a:rPr sz="1223" b="0">
                          <a:solidFill>
                            <a:srgbClr val="002C5F"/>
                          </a:solidFill>
                          <a:latin typeface="Arial"/>
                          <a:ea typeface="Arial"/>
                          <a:cs typeface="Arial"/>
                        </a:rPr>
                        <a:t>12:00-15:00</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0.55</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0.60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0.70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1.00</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52438">
                <a:tc>
                  <a:txBody>
                    <a:bodyPr wrap="square">
                      <a:noAutofit/>
                    </a:bodyPr>
                    <a:lstStyle/>
                    <a:p>
                      <a:pPr algn="l"/>
                      <a:r>
                        <a:rPr sz="1223" b="0">
                          <a:solidFill>
                            <a:srgbClr val="002C5F"/>
                          </a:solidFill>
                          <a:latin typeface="Arial"/>
                          <a:ea typeface="Arial"/>
                          <a:cs typeface="Arial"/>
                        </a:rPr>
                        <a:t>afternoon</a:t>
                      </a:r>
                    </a:p>
                    <a:p>
                      <a:pPr algn="l"/>
                      <a:r>
                        <a:rPr sz="1223" b="0">
                          <a:solidFill>
                            <a:srgbClr val="002C5F"/>
                          </a:solidFill>
                          <a:latin typeface="Arial"/>
                          <a:ea typeface="Arial"/>
                          <a:cs typeface="Arial"/>
                        </a:rPr>
                        <a:t>15:00-17:00</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0.85</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0.80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0.85</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0.50</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52438">
                <a:tc>
                  <a:txBody>
                    <a:bodyPr wrap="square">
                      <a:noAutofit/>
                    </a:bodyPr>
                    <a:lstStyle/>
                    <a:p>
                      <a:pPr algn="l"/>
                      <a:r>
                        <a:rPr sz="1223" b="0">
                          <a:solidFill>
                            <a:srgbClr val="002C5F"/>
                          </a:solidFill>
                          <a:latin typeface="Arial"/>
                          <a:ea typeface="Arial"/>
                          <a:cs typeface="Arial"/>
                        </a:rPr>
                        <a:t>evening</a:t>
                      </a:r>
                    </a:p>
                    <a:p>
                      <a:pPr algn="l"/>
                      <a:r>
                        <a:rPr sz="1223" b="0">
                          <a:solidFill>
                            <a:srgbClr val="002C5F"/>
                          </a:solidFill>
                          <a:latin typeface="Arial"/>
                          <a:ea typeface="Arial"/>
                          <a:cs typeface="Arial"/>
                        </a:rPr>
                        <a:t>17:00-20:00</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1.00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0.80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1.00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0.60</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52438">
                <a:tc>
                  <a:txBody>
                    <a:bodyPr wrap="square">
                      <a:noAutofit/>
                    </a:bodyPr>
                    <a:lstStyle/>
                    <a:p>
                      <a:pPr algn="l"/>
                      <a:r>
                        <a:rPr sz="1223" b="0">
                          <a:solidFill>
                            <a:srgbClr val="002C5F"/>
                          </a:solidFill>
                          <a:latin typeface="Arial"/>
                          <a:ea typeface="Arial"/>
                          <a:cs typeface="Arial"/>
                        </a:rPr>
                        <a:t>night</a:t>
                      </a:r>
                    </a:p>
                    <a:p>
                      <a:pPr algn="l"/>
                      <a:r>
                        <a:rPr sz="1223" b="0">
                          <a:solidFill>
                            <a:srgbClr val="002C5F"/>
                          </a:solidFill>
                          <a:latin typeface="Arial"/>
                          <a:ea typeface="Arial"/>
                          <a:cs typeface="Arial"/>
                        </a:rPr>
                        <a:t>20:00-06:00</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0.65</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0.50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0.70</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0.90</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Time model interpretation">
            <a:extLst xmlns:a="http://schemas.openxmlformats.org/drawingml/2006/main">
              <a:ext uri="{FF2B5EF4-FFF2-40B4-BE49-F238E27FC236}">
                <a16:creationId xmlns:a16="http://schemas.microsoft.com/office/drawing/2014/main" id="{6DCB5275-A4A3-4C34-9970-2F5F7B501468}"/>
              </a:ext>
            </a:extLst>
          </p:cNvPr>
          <p:cNvSpPr>
            <a:spLocks xmlns:a="http://schemas.openxmlformats.org/drawingml/2006/main" noGrp="1"/>
          </p:cNvSpPr>
          <p:nvPr/>
        </p:nvSpPr>
        <p:spPr>
          <a:xfrm xmlns:a="http://schemas.openxmlformats.org/drawingml/2006/main">
            <a:off x="657225" y="4276725"/>
            <a:ext cx="7781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A value of 1 gives the largest time-fit contribution in the model. It is not a measured probability</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of wanting that category. Preference, rating and travel still affect the score.</a:t>
            </a:r>
          </a:p>
        </p:txBody>
      </p:sp>
    </p:spTree>
    <p:extLst>
      <p:ext uri="{BB962C8B-B14F-4D97-AF65-F5344CB8AC3E}">
        <p14:creationId xmlns:p14="http://schemas.microsoft.com/office/powerpoint/2010/main" val="46743983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Automatic alert scheduling</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13</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number and timing of prompts differ from the number of available venues</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2DD23107-4986-8758-3A93-3D74F35908CC}" type="slidenum">
              <a:rPr sz="900" b="0">
                <a:solidFill>
                  <a:srgbClr val="626B73"/>
                </a:solidFill>
                <a:latin typeface="Arial"/>
                <a:ea typeface="Arial"/>
                <a:cs typeface="Arial"/>
              </a:rPr>
              <a:t>13</a:t>
            </a:fld>
            <a:endParaRPr/>
          </a:p>
        </p:txBody>
      </p:sp>
      <p:sp>
        <p:nvSpPr>
          <p:cNvPr id="26" name="Source note">
            <a:extLst xmlns:a="http://schemas.openxmlformats.org/drawingml/2006/main">
              <a:ext uri="{FF2B5EF4-FFF2-40B4-BE49-F238E27FC236}">
                <a16:creationId xmlns:a16="http://schemas.microsoft.com/office/drawing/2014/main" id="{03C2493C-760E-4FF7-9CC7-F05884B8EA89}"/>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findLiveSuggestion(), findSuggestionBetween() and showSuggestion() [S1]</a:t>
            </a:r>
          </a:p>
        </p:txBody>
      </p:sp>
      <p:graphicFrame>
        <p:nvGraphicFramePr>
          <p:cNvPr id="27" name="">
            <a:extLst xmlns:a="http://schemas.openxmlformats.org/drawingml/2006/main">
              <a:ext uri="{FF2B5EF4-FFF2-40B4-BE49-F238E27FC236}">
                <a16:creationId xmlns:a16="http://schemas.microsoft.com/office/drawing/2014/main" id="{58B561D2-7ECE-4D7B-BE66-BA1FFB81FC9A}"/>
              </a:ext>
            </a:extLst>
          </p:cNvPr>
          <p:cNvGraphicFramePr/>
          <p:nvPr/>
        </p:nvGraphicFramePr>
        <p:xfrm>
          <a:off xmlns:a="http://schemas.openxmlformats.org/drawingml/2006/main" x="657225" y="1419225"/>
          <a:ext xmlns:a="http://schemas.openxmlformats.org/drawingml/2006/main" cx="7829550" cy="2838450"/>
        </p:xfrm>
        <a:graphic xmlns:a="http://schemas.openxmlformats.org/drawingml/2006/main">
          <a:graphicData uri="http://schemas.openxmlformats.org/drawingml/2006/table">
            <a:tbl>
              <a:tblPr firstRow="1" bandRow="0"/>
              <a:tblGrid>
                <a:gridCol w="1800225"/>
                <a:gridCol w="6029325"/>
              </a:tblGrid>
              <a:tr h="405493">
                <a:tc>
                  <a:txBody>
                    <a:bodyPr wrap="square">
                      <a:noAutofit/>
                    </a:bodyPr>
                    <a:lstStyle/>
                    <a:p>
                      <a:pPr algn="l"/>
                      <a:r>
                        <a:rPr sz="1200" b="1">
                          <a:solidFill>
                            <a:srgbClr val="FFFFFF"/>
                          </a:solidFill>
                          <a:latin typeface="Arial"/>
                          <a:ea typeface="Arial"/>
                          <a:cs typeface="Arial"/>
                        </a:rPr>
                        <a:t>Policy</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00" b="1">
                          <a:solidFill>
                            <a:srgbClr val="FFFFFF"/>
                          </a:solidFill>
                          <a:latin typeface="Arial"/>
                          <a:ea typeface="Arial"/>
                          <a:cs typeface="Arial"/>
                        </a:rPr>
                        <a:t>Implementation</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05493">
                <a:tc>
                  <a:txBody>
                    <a:bodyPr wrap="square">
                      <a:noAutofit/>
                    </a:bodyPr>
                    <a:lstStyle/>
                    <a:p>
                      <a:pPr algn="l"/>
                      <a:r>
                        <a:rPr sz="1200" b="0">
                          <a:solidFill>
                            <a:srgbClr val="002C5F"/>
                          </a:solidFill>
                          <a:latin typeface="Arial"/>
                          <a:ea typeface="Arial"/>
                          <a:cs typeface="Arial"/>
                        </a:rPr>
                        <a:t>GPS approach window</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Consider the highest-scoring eligible upcoming candidate. Show it when 300-400 m ahead.</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05493">
                <a:tc>
                  <a:txBody>
                    <a:bodyPr wrap="square">
                      <a:noAutofit/>
                    </a:bodyPr>
                    <a:lstStyle/>
                    <a:p>
                      <a:pPr algn="l"/>
                      <a:r>
                        <a:rPr sz="1200" b="0">
                          <a:solidFill>
                            <a:srgbClr val="002C5F"/>
                          </a:solidFill>
                          <a:latin typeface="Arial"/>
                          <a:ea typeface="Arial"/>
                          <a:cs typeface="Arial"/>
                        </a:rPr>
                        <a:t>Replay trigger</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00" b="0">
                          <a:solidFill>
                            <a:srgbClr val="002C5F"/>
                          </a:solidFill>
                          <a:latin typeface="Arial"/>
                          <a:ea typeface="Arial"/>
                          <a:cs typeface="Arial"/>
                        </a:rPr>
                        <a:t>Use the configured point 350 m before the venue route position.</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05493">
                <a:tc>
                  <a:txBody>
                    <a:bodyPr wrap="square">
                      <a:noAutofit/>
                    </a:bodyPr>
                    <a:lstStyle/>
                    <a:p>
                      <a:pPr algn="l"/>
                      <a:r>
                        <a:rPr sz="1200" b="0">
                          <a:solidFill>
                            <a:srgbClr val="002C5F"/>
                          </a:solidFill>
                          <a:latin typeface="Arial"/>
                          <a:ea typeface="Arial"/>
                          <a:cs typeface="Arial"/>
                        </a:rPr>
                        <a:t>Trip interruption limit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Show no more than two automatic suggestions during one trip.</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05493">
                <a:tc>
                  <a:txBody>
                    <a:bodyPr wrap="square">
                      <a:noAutofit/>
                    </a:bodyPr>
                    <a:lstStyle/>
                    <a:p>
                      <a:pPr algn="l"/>
                      <a:r>
                        <a:rPr sz="1200" b="0">
                          <a:solidFill>
                            <a:srgbClr val="002C5F"/>
                          </a:solidFill>
                          <a:latin typeface="Arial"/>
                          <a:ea typeface="Arial"/>
                          <a:cs typeface="Arial"/>
                        </a:rPr>
                        <a:t>Separation</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00" b="0">
                          <a:solidFill>
                            <a:srgbClr val="002C5F"/>
                          </a:solidFill>
                          <a:latin typeface="Arial"/>
                          <a:ea typeface="Arial"/>
                          <a:cs typeface="Arial"/>
                        </a:rPr>
                        <a:t>Require at least 250 m of route progress between shown suggestions.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05493">
                <a:tc>
                  <a:txBody>
                    <a:bodyPr wrap="square">
                      <a:noAutofit/>
                    </a:bodyPr>
                    <a:lstStyle/>
                    <a:p>
                      <a:pPr algn="l"/>
                      <a:r>
                        <a:rPr sz="1200" b="0">
                          <a:solidFill>
                            <a:srgbClr val="002C5F"/>
                          </a:solidFill>
                          <a:latin typeface="Arial"/>
                          <a:ea typeface="Arial"/>
                          <a:cs typeface="Arial"/>
                        </a:rPr>
                        <a:t>Dismissal</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00" b="0">
                          <a:solidFill>
                            <a:srgbClr val="002C5F"/>
                          </a:solidFill>
                          <a:latin typeface="Arial"/>
                          <a:ea typeface="Arial"/>
                          <a:cs typeface="Arial"/>
                        </a:rPr>
                        <a:t>Close after 12 s, or by close/outside tap/swipe. This does not record a rejection.</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05493">
                <a:tc>
                  <a:txBody>
                    <a:bodyPr wrap="square">
                      <a:noAutofit/>
                    </a:bodyPr>
                    <a:lstStyle/>
                    <a:p>
                      <a:pPr algn="l"/>
                      <a:r>
                        <a:rPr sz="1200" b="0">
                          <a:solidFill>
                            <a:srgbClr val="002C5F"/>
                          </a:solidFill>
                          <a:latin typeface="Arial"/>
                          <a:ea typeface="Arial"/>
                          <a:cs typeface="Arial"/>
                        </a:rPr>
                        <a:t>Competing screens</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00" b="0">
                          <a:solidFill>
                            <a:srgbClr val="002C5F"/>
                          </a:solidFill>
                          <a:latin typeface="Arial"/>
                          <a:ea typeface="Arial"/>
                          <a:cs typeface="Arial"/>
                        </a:rPr>
                        <a:t>Suspend new alerts while a menu or settings/history panel is open.</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bl>
          </a:graphicData>
        </a:graphic>
      </p:graphicFrame>
      <p:sp>
        <p:nvSpPr>
          <p:cNvPr id="28" name="Scheduling implication">
            <a:extLst xmlns:a="http://schemas.openxmlformats.org/drawingml/2006/main">
              <a:ext uri="{FF2B5EF4-FFF2-40B4-BE49-F238E27FC236}">
                <a16:creationId xmlns:a16="http://schemas.microsoft.com/office/drawing/2014/main" id="{46C7C605-C667-452D-8985-E48DBCA56C78}"/>
              </a:ext>
            </a:extLst>
          </p:cNvPr>
          <p:cNvSpPr>
            <a:spLocks xmlns:a="http://schemas.openxmlformats.org/drawingml/2006/main" noGrp="1"/>
          </p:cNvSpPr>
          <p:nvPr/>
        </p:nvSpPr>
        <p:spPr>
          <a:xfrm xmlns:a="http://schemas.openxmlformats.org/drawingml/2006/main">
            <a:off x="657225" y="4343400"/>
            <a:ext cx="7781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2" b="0">
                <a:solidFill>
                  <a:srgbClr val="002C5F"/>
                </a:solidFill>
                <a:latin typeface="Arial"/>
                <a:ea typeface="Arial"/>
                <a:cs typeface="Arial"/>
              </a:defRPr>
            </a:defPPr>
            <a:lvl1pPr algn="l">
              <a:defRPr sz="1102" b="0">
                <a:solidFill>
                  <a:srgbClr val="002C5F"/>
                </a:solidFill>
                <a:latin typeface="Arial"/>
                <a:ea typeface="Arial"/>
                <a:cs typeface="Arial"/>
              </a:defRPr>
            </a:lvl1pPr>
            <a:lvl2pPr algn="l">
              <a:defRPr sz="1102" b="0">
                <a:solidFill>
                  <a:srgbClr val="002C5F"/>
                </a:solidFill>
                <a:latin typeface="Arial"/>
                <a:ea typeface="Arial"/>
                <a:cs typeface="Arial"/>
              </a:defRPr>
            </a:lvl2pPr>
            <a:lvl3pPr algn="l">
              <a:defRPr sz="1102" b="0">
                <a:solidFill>
                  <a:srgbClr val="002C5F"/>
                </a:solidFill>
                <a:latin typeface="Arial"/>
                <a:ea typeface="Arial"/>
                <a:cs typeface="Arial"/>
              </a:defRPr>
            </a:lvl3pPr>
            <a:lvl4pPr algn="l">
              <a:defRPr sz="1102" b="0">
                <a:solidFill>
                  <a:srgbClr val="002C5F"/>
                </a:solidFill>
                <a:latin typeface="Arial"/>
                <a:ea typeface="Arial"/>
                <a:cs typeface="Arial"/>
              </a:defRPr>
            </a:lvl4pPr>
            <a:lvl5pPr algn="l">
              <a:defRPr sz="1102" b="0">
                <a:solidFill>
                  <a:srgbClr val="002C5F"/>
                </a:solidFill>
                <a:latin typeface="Arial"/>
                <a:ea typeface="Arial"/>
                <a:cs typeface="Arial"/>
              </a:defRPr>
            </a:lvl5pPr>
            <a:lvl6pPr algn="l">
              <a:defRPr sz="1102" b="0">
                <a:solidFill>
                  <a:srgbClr val="002C5F"/>
                </a:solidFill>
                <a:latin typeface="Arial"/>
                <a:ea typeface="Arial"/>
                <a:cs typeface="Arial"/>
              </a:defRPr>
            </a:lvl6pPr>
            <a:lvl7pPr algn="l">
              <a:defRPr sz="1102" b="0">
                <a:solidFill>
                  <a:srgbClr val="002C5F"/>
                </a:solidFill>
                <a:latin typeface="Arial"/>
                <a:ea typeface="Arial"/>
                <a:cs typeface="Arial"/>
              </a:defRPr>
            </a:lvl7pPr>
            <a:lvl8pPr algn="l">
              <a:defRPr sz="1102" b="0">
                <a:solidFill>
                  <a:srgbClr val="002C5F"/>
                </a:solidFill>
                <a:latin typeface="Arial"/>
                <a:ea typeface="Arial"/>
                <a:cs typeface="Arial"/>
              </a:defRPr>
            </a:lvl8pPr>
            <a:lvl9pPr algn="l">
              <a:defRPr sz="1102" b="0">
                <a:solidFill>
                  <a:srgbClr val="002C5F"/>
                </a:solidFill>
                <a:latin typeface="Arial"/>
                <a:ea typeface="Arial"/>
                <a:cs typeface="Arial"/>
              </a:defRPr>
            </a:lvl9pPr>
          </a:lstStyle>
          <a:p xmlns:a="http://schemas.openxmlformats.org/drawingml/2006/main">
            <a:pPr algn="l">
              <a:defRPr sz="1102" b="0">
                <a:solidFill>
                  <a:srgbClr val="002C5F"/>
                </a:solidFill>
                <a:latin typeface="Arial"/>
                <a:ea typeface="Arial"/>
                <a:cs typeface="Arial"/>
              </a:defRPr>
            </a:pPr>
            <a:r>
              <a:rPr sz="1102" b="0">
                <a:solidFill>
                  <a:srgbClr val="002C5F"/>
                </a:solidFill>
                <a:latin typeface="Arial"/>
                <a:ea typeface="Arial"/>
                <a:cs typeface="Arial"/>
              </a:rPr>
              <a:t>A venue can fit the travel allowance and still receive no alert. Ranking, spacing, the two-alert cap</a:t>
            </a:r>
          </a:p>
          <a:p xmlns:a="http://schemas.openxmlformats.org/drawingml/2006/main">
            <a:pPr algn="l">
              <a:defRPr sz="1102" b="0">
                <a:solidFill>
                  <a:srgbClr val="002C5F"/>
                </a:solidFill>
                <a:latin typeface="Arial"/>
                <a:ea typeface="Arial"/>
                <a:cs typeface="Arial"/>
              </a:defRPr>
            </a:pPr>
            <a:r>
              <a:rPr sz="1102" b="0">
                <a:solidFill>
                  <a:srgbClr val="002C5F"/>
                </a:solidFill>
                <a:latin typeface="Arial"/>
                <a:ea typeface="Arial"/>
                <a:cs typeface="Arial"/>
              </a:rPr>
              <a:t>and a missed approach window can all affect which venues appear.</a:t>
            </a:r>
          </a:p>
        </p:txBody>
      </p:sp>
    </p:spTree>
    <p:extLst>
      <p:ext uri="{BB962C8B-B14F-4D97-AF65-F5344CB8AC3E}">
        <p14:creationId xmlns:p14="http://schemas.microsoft.com/office/powerpoint/2010/main" val="46743983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Preference update from explicit feedback</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14</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learning mechanism is a bounded additive update with persistent local state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327921A4-25C4-3DB4-06B1-32693CEE2241}" type="slidenum">
              <a:rPr sz="900" b="0">
                <a:solidFill>
                  <a:srgbClr val="626B73"/>
                </a:solidFill>
                <a:latin typeface="Arial"/>
                <a:ea typeface="Arial"/>
                <a:cs typeface="Arial"/>
              </a:rPr>
              <a:t>14</a:t>
            </a:fld>
            <a:endParaRPr/>
          </a:p>
        </p:txBody>
      </p:sp>
      <p:sp>
        <p:nvSpPr>
          <p:cNvPr id="26" name="Source note">
            <a:extLst xmlns:a="http://schemas.openxmlformats.org/drawingml/2006/main">
              <a:ext uri="{FF2B5EF4-FFF2-40B4-BE49-F238E27FC236}">
                <a16:creationId xmlns:a16="http://schemas.microsoft.com/office/drawing/2014/main" id="{CCC77DD2-9B7D-447D-B2E8-C574252B37B6}"/>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feedback-learning.js and configured update steps. Plot is illustrative, not observed trips [S1].</a:t>
            </a:r>
          </a:p>
        </p:txBody>
      </p:sp>
      <p:sp>
        <p:nvSpPr>
          <p:cNvPr id="27" name="Learning equation">
            <a:extLst xmlns:a="http://schemas.openxmlformats.org/drawingml/2006/main">
              <a:ext uri="{FF2B5EF4-FFF2-40B4-BE49-F238E27FC236}">
                <a16:creationId xmlns:a16="http://schemas.microsoft.com/office/drawing/2014/main" id="{FF188F2C-530D-49DC-9F79-7EEFCAC7CCBD}"/>
              </a:ext>
            </a:extLst>
          </p:cNvPr>
          <p:cNvSpPr>
            <a:spLocks xmlns:a="http://schemas.openxmlformats.org/drawingml/2006/main" noGrp="1"/>
          </p:cNvSpPr>
          <p:nvPr/>
        </p:nvSpPr>
        <p:spPr>
          <a:xfrm xmlns:a="http://schemas.openxmlformats.org/drawingml/2006/main">
            <a:off x="657225" y="1362075"/>
            <a:ext cx="7829550" cy="409575"/>
          </a:xfrm>
          <a:prstGeom xmlns:a="http://schemas.openxmlformats.org/drawingml/2006/main" prst="rect">
            <a:avLst/>
          </a:prstGeom>
          <a:solidFill xmlns:a="http://schemas.openxmlformats.org/drawingml/2006/main">
            <a:srgbClr val="FFFFFF"/>
          </a:solidFill>
          <a:ln xmlns:a="http://schemas.openxmlformats.org/drawingml/2006/main" w="11430">
            <a:solidFill>
              <a:srgbClr val="00AAD2"/>
            </a:solidFill>
            <a:prstDash val="solid"/>
          </a:ln>
        </p:spPr>
        <p:txBody>
          <a:bodyPr xmlns:a="http://schemas.openxmlformats.org/drawingml/2006/main" wrap="square" lIns="76200" tIns="76200" rIns="76200" bIns="76200" anchor="ctr">
            <a:noAutofit/>
          </a:bodyPr>
          <a:lstStyle xmlns:a="http://schemas.openxmlformats.org/drawingml/2006/main">
            <a:defPPr algn="ctr">
              <a:defRPr sz="1448">
                <a:solidFill>
                  <a:srgbClr val="002C5F"/>
                </a:solidFill>
                <a:latin typeface="Arial"/>
                <a:ea typeface="Arial"/>
                <a:cs typeface="Arial"/>
              </a:defRPr>
            </a:defPPr>
            <a:lvl1pPr algn="ctr">
              <a:defRPr sz="1448">
                <a:solidFill>
                  <a:srgbClr val="002C5F"/>
                </a:solidFill>
                <a:latin typeface="Arial"/>
                <a:ea typeface="Arial"/>
                <a:cs typeface="Arial"/>
              </a:defRPr>
            </a:lvl1pPr>
            <a:lvl2pPr algn="ctr">
              <a:defRPr sz="1448">
                <a:solidFill>
                  <a:srgbClr val="002C5F"/>
                </a:solidFill>
                <a:latin typeface="Arial"/>
                <a:ea typeface="Arial"/>
                <a:cs typeface="Arial"/>
              </a:defRPr>
            </a:lvl2pPr>
            <a:lvl3pPr algn="ctr">
              <a:defRPr sz="1448">
                <a:solidFill>
                  <a:srgbClr val="002C5F"/>
                </a:solidFill>
                <a:latin typeface="Arial"/>
                <a:ea typeface="Arial"/>
                <a:cs typeface="Arial"/>
              </a:defRPr>
            </a:lvl3pPr>
            <a:lvl4pPr algn="ctr">
              <a:defRPr sz="1448">
                <a:solidFill>
                  <a:srgbClr val="002C5F"/>
                </a:solidFill>
                <a:latin typeface="Arial"/>
                <a:ea typeface="Arial"/>
                <a:cs typeface="Arial"/>
              </a:defRPr>
            </a:lvl4pPr>
            <a:lvl5pPr algn="ctr">
              <a:defRPr sz="1448">
                <a:solidFill>
                  <a:srgbClr val="002C5F"/>
                </a:solidFill>
                <a:latin typeface="Arial"/>
                <a:ea typeface="Arial"/>
                <a:cs typeface="Arial"/>
              </a:defRPr>
            </a:lvl5pPr>
            <a:lvl6pPr algn="ctr">
              <a:defRPr sz="1448">
                <a:solidFill>
                  <a:srgbClr val="002C5F"/>
                </a:solidFill>
                <a:latin typeface="Arial"/>
                <a:ea typeface="Arial"/>
                <a:cs typeface="Arial"/>
              </a:defRPr>
            </a:lvl6pPr>
            <a:lvl7pPr algn="ctr">
              <a:defRPr sz="1448">
                <a:solidFill>
                  <a:srgbClr val="002C5F"/>
                </a:solidFill>
                <a:latin typeface="Arial"/>
                <a:ea typeface="Arial"/>
                <a:cs typeface="Arial"/>
              </a:defRPr>
            </a:lvl7pPr>
            <a:lvl8pPr algn="ctr">
              <a:defRPr sz="1448">
                <a:solidFill>
                  <a:srgbClr val="002C5F"/>
                </a:solidFill>
                <a:latin typeface="Arial"/>
                <a:ea typeface="Arial"/>
                <a:cs typeface="Arial"/>
              </a:defRPr>
            </a:lvl8pPr>
            <a:lvl9pPr algn="ctr">
              <a:defRPr sz="1448">
                <a:solidFill>
                  <a:srgbClr val="002C5F"/>
                </a:solidFill>
                <a:latin typeface="Arial"/>
                <a:ea typeface="Arial"/>
                <a:cs typeface="Arial"/>
              </a:defRPr>
            </a:lvl9pPr>
          </a:lstStyle>
          <a:p xmlns:a="http://schemas.openxmlformats.org/drawingml/2006/main">
            <a:pPr algn="ctr">
              <a:defRPr sz="1448">
                <a:solidFill>
                  <a:srgbClr val="002C5F"/>
                </a:solidFill>
                <a:latin typeface="Arial"/>
                <a:ea typeface="Arial"/>
                <a:cs typeface="Arial"/>
              </a:defRPr>
            </a:pPr>
            <a:r>
              <a:rPr sz="1448">
                <a:solidFill>
                  <a:srgbClr val="002C5F"/>
                </a:solidFill>
                <a:latin typeface="Arial"/>
                <a:ea typeface="Arial"/>
                <a:cs typeface="Arial"/>
              </a:rPr>
              <a:t>New preference = min(1, max(0, previous preference + feedback step))</a:t>
            </a:r>
          </a:p>
        </p:txBody>
      </p:sp>
      <p:graphicFrame>
        <p:nvGraphicFramePr>
          <p:cNvPr id="28" name="Chart">
            <a:extLst xmlns:a="http://schemas.openxmlformats.org/drawingml/2006/main">
              <a:ext uri="{FF2B5EF4-FFF2-40B4-BE49-F238E27FC236}">
                <a16:creationId xmlns:a16="http://schemas.microsoft.com/office/drawing/2014/main" id="{BEC9A37F-DEF8-4680-97BF-3CE1F716780D}"/>
              </a:ext>
            </a:extLst>
          </p:cNvPr>
          <p:cNvGraphicFramePr/>
          <p:nvPr/>
        </p:nvGraphicFramePr>
        <p:xfrm>
          <a:off xmlns:a="http://schemas.openxmlformats.org/drawingml/2006/main" x="685800" y="1952625"/>
          <a:ext xmlns:a="http://schemas.openxmlformats.org/drawingml/2006/main" cx="4695825" cy="2476500"/>
        </p:xfrm>
        <a:graphic xmlns:a="http://schemas.openxmlformats.org/drawingml/2006/main">
          <a:graphicData uri="http://schemas.openxmlformats.org/drawingml/2006/chart">
            <c:chart xmlns:r="http://schemas.openxmlformats.org/officeDocument/2006/relationships" xmlns:c="http://schemas.openxmlformats.org/drawingml/2006/chart" r:id="Reec536e521554042"/>
          </a:graphicData>
        </a:graphic>
      </p:graphicFrame>
      <p:sp>
        <p:nvSpPr>
          <p:cNvPr id="29" name="Feedback rules heading">
            <a:extLst xmlns:a="http://schemas.openxmlformats.org/drawingml/2006/main">
              <a:ext uri="{FF2B5EF4-FFF2-40B4-BE49-F238E27FC236}">
                <a16:creationId xmlns:a16="http://schemas.microsoft.com/office/drawing/2014/main" id="{23192B75-DF6E-4F0C-8001-0471D1474308}"/>
              </a:ext>
            </a:extLst>
          </p:cNvPr>
          <p:cNvSpPr>
            <a:spLocks xmlns:a="http://schemas.openxmlformats.org/drawingml/2006/main" noGrp="1"/>
          </p:cNvSpPr>
          <p:nvPr/>
        </p:nvSpPr>
        <p:spPr>
          <a:xfrm xmlns:a="http://schemas.openxmlformats.org/drawingml/2006/main">
            <a:off x="5657850" y="2038350"/>
            <a:ext cx="2647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Update rules</a:t>
            </a:r>
          </a:p>
        </p:txBody>
      </p:sp>
      <p:sp>
        <p:nvSpPr>
          <p:cNvPr id="30" name="Feedback rules">
            <a:extLst xmlns:a="http://schemas.openxmlformats.org/drawingml/2006/main">
              <a:ext uri="{FF2B5EF4-FFF2-40B4-BE49-F238E27FC236}">
                <a16:creationId xmlns:a16="http://schemas.microsoft.com/office/drawing/2014/main" id="{66C5AD42-8879-416C-9667-8A5B09066564}"/>
              </a:ext>
            </a:extLst>
          </p:cNvPr>
          <p:cNvSpPr>
            <a:spLocks xmlns:a="http://schemas.openxmlformats.org/drawingml/2006/main" noGrp="1"/>
          </p:cNvSpPr>
          <p:nvPr/>
        </p:nvSpPr>
        <p:spPr>
          <a:xfrm xmlns:a="http://schemas.openxmlformats.org/drawingml/2006/main">
            <a:off x="5657850" y="2409825"/>
            <a:ext cx="2647950" cy="1933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Accept adds 0.10.</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Reject subtracts 0.05.</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Dismissal makes no change.</a:t>
            </a:r>
          </a:p>
          <a:p xmlns:a="http://schemas.openxmlformats.org/drawingml/2006/main">
            <a:r>
              <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The venue and its category both update.</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One final venue choice counts per trip.</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Later trips use the revised preferences.</a:t>
            </a:r>
          </a:p>
        </p:txBody>
      </p:sp>
    </p:spTree>
    <p:extLst>
      <p:ext uri="{BB962C8B-B14F-4D97-AF65-F5344CB8AC3E}">
        <p14:creationId xmlns:p14="http://schemas.microsoft.com/office/powerpoint/2010/main" val="46743983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Explanation and routine rules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15</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app uses explicit conditions before making a statement about user behaviour</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EA83FA91-883A-0168-8075-96CEB9DCA3C2}" type="slidenum">
              <a:rPr sz="900" b="0">
                <a:solidFill>
                  <a:srgbClr val="626B73"/>
                </a:solidFill>
                <a:latin typeface="Arial"/>
                <a:ea typeface="Arial"/>
                <a:cs typeface="Arial"/>
              </a:rPr>
              <a:t>15</a:t>
            </a:fld>
            <a:endParaRPr/>
          </a:p>
        </p:txBody>
      </p:sp>
      <p:sp>
        <p:nvSpPr>
          <p:cNvPr id="26" name="Source note">
            <a:extLst xmlns:a="http://schemas.openxmlformats.org/drawingml/2006/main">
              <a:ext uri="{FF2B5EF4-FFF2-40B4-BE49-F238E27FC236}">
                <a16:creationId xmlns:a16="http://schemas.microsoft.com/office/drawing/2014/main" id="{FA3B55BB-E51D-4103-9FB6-41B45D3D0A10}"/>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smartRemark(), detectRoutines() and matchingRoutine(). Export has no detected routine [S1, S3].</a:t>
            </a:r>
          </a:p>
        </p:txBody>
      </p:sp>
      <p:graphicFrame>
        <p:nvGraphicFramePr>
          <p:cNvPr id="27" name="">
            <a:extLst xmlns:a="http://schemas.openxmlformats.org/drawingml/2006/main">
              <a:ext uri="{FF2B5EF4-FFF2-40B4-BE49-F238E27FC236}">
                <a16:creationId xmlns:a16="http://schemas.microsoft.com/office/drawing/2014/main" id="{AA341543-681B-4C8B-BC6C-15BF542620F5}"/>
              </a:ext>
            </a:extLst>
          </p:cNvPr>
          <p:cNvGraphicFramePr/>
          <p:nvPr/>
        </p:nvGraphicFramePr>
        <p:xfrm>
          <a:off xmlns:a="http://schemas.openxmlformats.org/drawingml/2006/main" x="657225" y="1390650"/>
          <a:ext xmlns:a="http://schemas.openxmlformats.org/drawingml/2006/main" cx="7829550" cy="2781300"/>
        </p:xfrm>
        <a:graphic xmlns:a="http://schemas.openxmlformats.org/drawingml/2006/main">
          <a:graphicData uri="http://schemas.openxmlformats.org/drawingml/2006/table">
            <a:tbl>
              <a:tblPr firstRow="1" bandRow="0"/>
              <a:tblGrid>
                <a:gridCol w="2047875"/>
                <a:gridCol w="5781675"/>
              </a:tblGrid>
              <a:tr h="463550">
                <a:tc>
                  <a:txBody>
                    <a:bodyPr wrap="square">
                      <a:noAutofit/>
                    </a:bodyPr>
                    <a:lstStyle/>
                    <a:p>
                      <a:pPr algn="l"/>
                      <a:r>
                        <a:rPr sz="1177" b="1">
                          <a:solidFill>
                            <a:srgbClr val="FFFFFF"/>
                          </a:solidFill>
                          <a:latin typeface="Arial"/>
                          <a:ea typeface="Arial"/>
                          <a:cs typeface="Arial"/>
                        </a:rPr>
                        <a:t>Output</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77" b="1">
                          <a:solidFill>
                            <a:srgbClr val="FFFFFF"/>
                          </a:solidFill>
                          <a:latin typeface="Arial"/>
                          <a:ea typeface="Arial"/>
                          <a:cs typeface="Arial"/>
                        </a:rPr>
                        <a:t>Condition or basis</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63550">
                <a:tc>
                  <a:txBody>
                    <a:bodyPr wrap="square">
                      <a:noAutofit/>
                    </a:bodyPr>
                    <a:lstStyle/>
                    <a:p>
                      <a:pPr algn="l"/>
                      <a:r>
                        <a:rPr sz="1177" b="0">
                          <a:solidFill>
                            <a:srgbClr val="002C5F"/>
                          </a:solidFill>
                          <a:latin typeface="Arial"/>
                          <a:ea typeface="Arial"/>
                          <a:cs typeface="Arial"/>
                        </a:rPr>
                        <a:t>Previous-choice remark</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State the saved count when a venue has earlier accepts or rejects.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63550">
                <a:tc>
                  <a:txBody>
                    <a:bodyPr wrap="square">
                      <a:noAutofit/>
                    </a:bodyPr>
                    <a:lstStyle/>
                    <a:p>
                      <a:pPr algn="l"/>
                      <a:r>
                        <a:rPr sz="1177" b="0">
                          <a:solidFill>
                            <a:srgbClr val="002C5F"/>
                          </a:solidFill>
                          <a:latin typeface="Arial"/>
                          <a:ea typeface="Arial"/>
                          <a:cs typeface="Arial"/>
                        </a:rPr>
                        <a:t>Usual-choice remark</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77" b="0">
                          <a:solidFill>
                            <a:srgbClr val="002C5F"/>
                          </a:solidFill>
                          <a:latin typeface="Arial"/>
                          <a:ea typeface="Arial"/>
                          <a:cs typeface="Arial"/>
                        </a:rPr>
                        <a:t>At least three accepts for the venue and an acceptance share of at least two-thirds.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63550">
                <a:tc>
                  <a:txBody>
                    <a:bodyPr wrap="square">
                      <a:noAutofit/>
                    </a:bodyPr>
                    <a:lstStyle/>
                    <a:p>
                      <a:pPr algn="l"/>
                      <a:r>
                        <a:rPr sz="1177" b="0">
                          <a:solidFill>
                            <a:srgbClr val="002C5F"/>
                          </a:solidFill>
                          <a:latin typeface="Arial"/>
                          <a:ea typeface="Arial"/>
                          <a:cs typeface="Arial"/>
                        </a:rPr>
                        <a:t>Time-specific usual choice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Also require at least three accepts in that time band, exceeding its rejects.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63550">
                <a:tc>
                  <a:txBody>
                    <a:bodyPr wrap="square">
                      <a:noAutofit/>
                    </a:bodyPr>
                    <a:lstStyle/>
                    <a:p>
                      <a:pPr algn="l"/>
                      <a:r>
                        <a:rPr sz="1177" b="0">
                          <a:solidFill>
                            <a:srgbClr val="002C5F"/>
                          </a:solidFill>
                          <a:latin typeface="Arial"/>
                          <a:ea typeface="Arial"/>
                          <a:cs typeface="Arial"/>
                        </a:rPr>
                        <a:t>Meal or drink context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77" b="0">
                          <a:solidFill>
                            <a:srgbClr val="002C5F"/>
                          </a:solidFill>
                          <a:latin typeface="Arial"/>
                          <a:ea typeface="Arial"/>
                          <a:cs typeface="Arial"/>
                        </a:rPr>
                        <a:t>Use the time band and saved menu/category, for example a lunchtime noodle option.</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63550">
                <a:tc>
                  <a:txBody>
                    <a:bodyPr wrap="square">
                      <a:noAutofit/>
                    </a:bodyPr>
                    <a:lstStyle/>
                    <a:p>
                      <a:pPr algn="l"/>
                      <a:r>
                        <a:rPr sz="1177" b="0">
                          <a:solidFill>
                            <a:srgbClr val="002C5F"/>
                          </a:solidFill>
                          <a:latin typeface="Arial"/>
                          <a:ea typeface="Arial"/>
                          <a:cs typeface="Arial"/>
                        </a:rPr>
                        <a:t>Routine match</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At least three completed trips of one source, same weekday/weekend group, endpoints within 150 m and a total departure span no greater than 30 min.</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Routine status">
            <a:extLst xmlns:a="http://schemas.openxmlformats.org/drawingml/2006/main">
              <a:ext uri="{FF2B5EF4-FFF2-40B4-BE49-F238E27FC236}">
                <a16:creationId xmlns:a16="http://schemas.microsoft.com/office/drawing/2014/main" id="{91959912-651A-49AF-9897-D80F05875C80}"/>
              </a:ext>
            </a:extLst>
          </p:cNvPr>
          <p:cNvSpPr>
            <a:spLocks xmlns:a="http://schemas.openxmlformats.org/drawingml/2006/main" noGrp="1"/>
          </p:cNvSpPr>
          <p:nvPr/>
        </p:nvSpPr>
        <p:spPr>
          <a:xfrm xmlns:a="http://schemas.openxmlformats.org/drawingml/2006/main">
            <a:off x="657225" y="4286250"/>
            <a:ext cx="7781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GPS, replay and sample histories stay separate. The three available GPS departures do not satisfy</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the 30 min grouping condition, so this export supports no detected routine.</a:t>
            </a:r>
          </a:p>
        </p:txBody>
      </p:sp>
    </p:spTree>
    <p:extLst>
      <p:ext uri="{BB962C8B-B14F-4D97-AF65-F5344CB8AC3E}">
        <p14:creationId xmlns:p14="http://schemas.microsoft.com/office/powerpoint/2010/main" val="46743983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Menus and simulated pre-orders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16</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menu flow demonstrates a possible interaction beyond the recommendation</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DC9C7607-4BA3-B4DC-A00F-2E67A9FCFF7E}" type="slidenum">
              <a:rPr sz="900" b="0">
                <a:solidFill>
                  <a:srgbClr val="626B73"/>
                </a:solidFill>
                <a:latin typeface="Arial"/>
                <a:ea typeface="Arial"/>
                <a:cs typeface="Arial"/>
              </a:rPr>
              <a:t>16</a:t>
            </a:fld>
            <a:endParaRPr/>
          </a:p>
        </p:txBody>
      </p:sp>
      <p:sp>
        <p:nvSpPr>
          <p:cNvPr id="26" name="Source note">
            <a:extLst xmlns:a="http://schemas.openxmlformats.org/drawingml/2006/main">
              <a:ext uri="{FF2B5EF4-FFF2-40B4-BE49-F238E27FC236}">
                <a16:creationId xmlns:a16="http://schemas.microsoft.com/office/drawing/2014/main" id="{49BAC278-D468-4783-A4CC-429141BF81D1}"/>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order-engine.js, app.js and cafes.json [S1]</a:t>
            </a:r>
          </a:p>
        </p:txBody>
      </p:sp>
      <p:graphicFrame>
        <p:nvGraphicFramePr>
          <p:cNvPr id="27" name="">
            <a:extLst xmlns:a="http://schemas.openxmlformats.org/drawingml/2006/main">
              <a:ext uri="{FF2B5EF4-FFF2-40B4-BE49-F238E27FC236}">
                <a16:creationId xmlns:a16="http://schemas.microsoft.com/office/drawing/2014/main" id="{76688A60-C083-4F4B-B665-E8822F5B62CC}"/>
              </a:ext>
            </a:extLst>
          </p:cNvPr>
          <p:cNvGraphicFramePr/>
          <p:nvPr/>
        </p:nvGraphicFramePr>
        <p:xfrm>
          <a:off xmlns:a="http://schemas.openxmlformats.org/drawingml/2006/main" x="657225" y="1419225"/>
          <a:ext xmlns:a="http://schemas.openxmlformats.org/drawingml/2006/main" cx="7829550" cy="2562225"/>
        </p:xfrm>
        <a:graphic xmlns:a="http://schemas.openxmlformats.org/drawingml/2006/main">
          <a:graphicData uri="http://schemas.openxmlformats.org/drawingml/2006/table">
            <a:tbl>
              <a:tblPr firstRow="1" bandRow="0"/>
              <a:tblGrid>
                <a:gridCol w="1752600"/>
                <a:gridCol w="6076950"/>
              </a:tblGrid>
              <a:tr h="427038">
                <a:tc>
                  <a:txBody>
                    <a:bodyPr wrap="square">
                      <a:noAutofit/>
                    </a:bodyPr>
                    <a:lstStyle/>
                    <a:p>
                      <a:pPr algn="l"/>
                      <a:r>
                        <a:rPr sz="1223" b="1">
                          <a:solidFill>
                            <a:srgbClr val="FFFFFF"/>
                          </a:solidFill>
                          <a:latin typeface="Arial"/>
                          <a:ea typeface="Arial"/>
                          <a:cs typeface="Arial"/>
                        </a:rPr>
                        <a:t>Function</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Current implementation</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27038">
                <a:tc>
                  <a:txBody>
                    <a:bodyPr wrap="square">
                      <a:noAutofit/>
                    </a:bodyPr>
                    <a:lstStyle/>
                    <a:p>
                      <a:pPr algn="l"/>
                      <a:r>
                        <a:rPr sz="1223" b="0">
                          <a:solidFill>
                            <a:srgbClr val="002C5F"/>
                          </a:solidFill>
                          <a:latin typeface="Arial"/>
                          <a:ea typeface="Arial"/>
                          <a:cs typeface="Arial"/>
                        </a:rPr>
                        <a:t>Menu catalogue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Show supplied price ranges for all 40 saved menu entries.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27038">
                <a:tc>
                  <a:txBody>
                    <a:bodyPr wrap="square">
                      <a:noAutofit/>
                    </a:bodyPr>
                    <a:lstStyle/>
                    <a:p>
                      <a:pPr algn="l"/>
                      <a:r>
                        <a:rPr sz="1223" b="0">
                          <a:solidFill>
                            <a:srgbClr val="002C5F"/>
                          </a:solidFill>
                          <a:latin typeface="Arial"/>
                          <a:ea typeface="Arial"/>
                          <a:cs typeface="Arial"/>
                        </a:rPr>
                        <a:t>Cart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Allow integer quantities from 0 to 10 per item.</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27038">
                <a:tc>
                  <a:txBody>
                    <a:bodyPr wrap="square">
                      <a:noAutofit/>
                    </a:bodyPr>
                    <a:lstStyle/>
                    <a:p>
                      <a:pPr algn="l"/>
                      <a:r>
                        <a:rPr sz="1223" b="0">
                          <a:solidFill>
                            <a:srgbClr val="002C5F"/>
                          </a:solidFill>
                          <a:latin typeface="Arial"/>
                          <a:ea typeface="Arial"/>
                          <a:cs typeface="Arial"/>
                        </a:rPr>
                        <a:t>Demo amount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Use each range lower endpoint as the labelled demonstration unit price.</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27038">
                <a:tc>
                  <a:txBody>
                    <a:bodyPr wrap="square">
                      <a:noAutofit/>
                    </a:bodyPr>
                    <a:lstStyle/>
                    <a:p>
                      <a:pPr algn="l"/>
                      <a:r>
                        <a:rPr sz="1223" b="0">
                          <a:solidFill>
                            <a:srgbClr val="002C5F"/>
                          </a:solidFill>
                          <a:latin typeface="Arial"/>
                          <a:ea typeface="Arial"/>
                          <a:cs typeface="Arial"/>
                        </a:rPr>
                        <a:t>Confirmation</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Require an available venue and a non-empty cart. Confirmation records one Accept choice.</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27038">
                <a:tc>
                  <a:txBody>
                    <a:bodyPr wrap="square">
                      <a:noAutofit/>
                    </a:bodyPr>
                    <a:lstStyle/>
                    <a:p>
                      <a:pPr algn="l"/>
                      <a:r>
                        <a:rPr sz="1223" b="0">
                          <a:solidFill>
                            <a:srgbClr val="002C5F"/>
                          </a:solidFill>
                          <a:latin typeface="Arial"/>
                          <a:ea typeface="Arial"/>
                          <a:cs typeface="Arial"/>
                        </a:rPr>
                        <a:t>Receipt</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Create an in-session demo receipt with items, amount and the estimated arrival at confirmation.</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Order scope">
            <a:extLst xmlns:a="http://schemas.openxmlformats.org/drawingml/2006/main">
              <a:ext uri="{FF2B5EF4-FFF2-40B4-BE49-F238E27FC236}">
                <a16:creationId xmlns:a16="http://schemas.microsoft.com/office/drawing/2014/main" id="{F35C89A1-945E-4A7F-A448-6EF9491409D3}"/>
              </a:ext>
            </a:extLst>
          </p:cNvPr>
          <p:cNvSpPr>
            <a:spLocks xmlns:a="http://schemas.openxmlformats.org/drawingml/2006/main" noGrp="1"/>
          </p:cNvSpPr>
          <p:nvPr/>
        </p:nvSpPr>
        <p:spPr>
          <a:xfrm xmlns:a="http://schemas.openxmlformats.org/drawingml/2006/main">
            <a:off x="657225" y="4124325"/>
            <a:ext cx="77819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No order reaches a restaurant. Payment, stock, queue length and preparation time are absent.</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The displayed ready-by value is an arrival estimate, not a restaurant commitment.</a:t>
            </a:r>
          </a:p>
        </p:txBody>
      </p:sp>
    </p:spTree>
    <p:extLst>
      <p:ext uri="{BB962C8B-B14F-4D97-AF65-F5344CB8AC3E}">
        <p14:creationId xmlns:p14="http://schemas.microsoft.com/office/powerpoint/2010/main" val="46743983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Final mobile interface</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17</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installed phone app is the demonstrated prototype interface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90F7333B-44AC-F7E9-D49D-FE92F45E0477}" type="slidenum">
              <a:rPr sz="900" b="0">
                <a:solidFill>
                  <a:srgbClr val="626B73"/>
                </a:solidFill>
                <a:latin typeface="Arial"/>
                <a:ea typeface="Arial"/>
                <a:cs typeface="Arial"/>
              </a:rPr>
              <a:t>17</a:t>
            </a:fld>
            <a:endParaRPr/>
          </a:p>
        </p:txBody>
      </p:sp>
      <p:sp>
        <p:nvSpPr>
          <p:cNvPr id="26" name="Source note">
            <a:extLst xmlns:a="http://schemas.openxmlformats.org/drawingml/2006/main">
              <a:ext uri="{FF2B5EF4-FFF2-40B4-BE49-F238E27FC236}">
                <a16:creationId xmlns:a16="http://schemas.microsoft.com/office/drawing/2014/main" id="{40A0B04B-0C24-497E-83CB-30B632D7DFD0}"/>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 screenshot 4, 17 October 2026 at 18:32 IST. Map © OpenStreetMap contributors [S2].</a:t>
            </a:r>
          </a:p>
        </p:txBody>
      </p:sp>
      <p:pic>
        <p:nvPicPr>
          <p:cNvPr id="27" name="">
            <a:extLst xmlns:a="http://schemas.openxmlformats.org/drawingml/2006/main">
              <a:ext uri="{FF2B5EF4-FFF2-40B4-BE49-F238E27FC236}">
                <a16:creationId xmlns:a16="http://schemas.microsoft.com/office/drawing/2014/main" id="{FA32C0F9-FDDC-4E6F-84FF-374708A76DC2}"/>
              </a:ext>
            </a:extLst>
          </p:cNvPr>
          <p:cNvPicPr>
            <a:picLocks xmlns:a="http://schemas.openxmlformats.org/drawingml/2006/main" noChangeAspect="1"/>
          </p:cNvPicPr>
          <p:nvPr/>
        </p:nvPicPr>
        <p:blipFill>
          <a:blip xmlns:r="http://schemas.openxmlformats.org/officeDocument/2006/relationships" xmlns:a="http://schemas.openxmlformats.org/drawingml/2006/main" r:embed="R182a55be785b43c0"/>
          <a:srcRect xmlns:a="http://schemas.openxmlformats.org/drawingml/2006/main" l="37396" t="0" r="37500" b="0"/>
          <a:stretch xmlns:a="http://schemas.openxmlformats.org/drawingml/2006/main"/>
        </p:blipFill>
        <p:spPr>
          <a:xfrm xmlns:a="http://schemas.openxmlformats.org/drawingml/2006/main">
            <a:off x="857250" y="1295400"/>
            <a:ext cx="1476375" cy="3308033"/>
          </a:xfrm>
          <a:prstGeom xmlns:a="http://schemas.openxmlformats.org/drawingml/2006/main" prst="rect">
            <a:avLst/>
          </a:prstGeom>
        </p:spPr>
      </p:pic>
      <p:sp>
        <p:nvSpPr>
          <p:cNvPr id="28" name="Mobile information heading">
            <a:extLst xmlns:a="http://schemas.openxmlformats.org/drawingml/2006/main">
              <a:ext uri="{FF2B5EF4-FFF2-40B4-BE49-F238E27FC236}">
                <a16:creationId xmlns:a16="http://schemas.microsoft.com/office/drawing/2014/main" id="{DD3677E5-578D-4629-903B-C5644B9A92DD}"/>
              </a:ext>
            </a:extLst>
          </p:cNvPr>
          <p:cNvSpPr>
            <a:spLocks xmlns:a="http://schemas.openxmlformats.org/drawingml/2006/main" noGrp="1"/>
          </p:cNvSpPr>
          <p:nvPr/>
        </p:nvSpPr>
        <p:spPr>
          <a:xfrm xmlns:a="http://schemas.openxmlformats.org/drawingml/2006/main">
            <a:off x="2771775" y="1390650"/>
            <a:ext cx="5429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Information during an active journey</a:t>
            </a:r>
          </a:p>
        </p:txBody>
      </p:sp>
      <p:sp>
        <p:nvSpPr>
          <p:cNvPr id="29" name="Mobile information">
            <a:extLst xmlns:a="http://schemas.openxmlformats.org/drawingml/2006/main">
              <a:ext uri="{FF2B5EF4-FFF2-40B4-BE49-F238E27FC236}">
                <a16:creationId xmlns:a16="http://schemas.microsoft.com/office/drawing/2014/main" id="{3FD34908-61A1-4E45-A318-B452AC47225E}"/>
              </a:ext>
            </a:extLst>
          </p:cNvPr>
          <p:cNvSpPr>
            <a:spLocks xmlns:a="http://schemas.openxmlformats.org/drawingml/2006/main" noGrp="1"/>
          </p:cNvSpPr>
          <p:nvPr/>
        </p:nvSpPr>
        <p:spPr>
          <a:xfrm xmlns:a="http://schemas.openxmlformats.org/drawingml/2006/main">
            <a:off x="2771775" y="1790700"/>
            <a:ext cx="54864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 compact header displays date, IST time and measured speed.</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map occupies approximately 65% of the phone display.</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 moving marker shows progress on the saved route.</a:t>
            </a:r>
          </a:p>
          <a:p xmlns:a="http://schemas.openxmlformats.org/drawingml/2006/main">
            <a:r>
              <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Bottom controls show remaining distance, ETA and spare travel.</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Trip settings minimise after the journey starts.</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complete venue list and tools remain accessible.</a:t>
            </a:r>
          </a:p>
        </p:txBody>
      </p:sp>
      <p:sp>
        <p:nvSpPr>
          <p:cNvPr id="30" name="Interaction heading">
            <a:extLst xmlns:a="http://schemas.openxmlformats.org/drawingml/2006/main">
              <a:ext uri="{FF2B5EF4-FFF2-40B4-BE49-F238E27FC236}">
                <a16:creationId xmlns:a16="http://schemas.microsoft.com/office/drawing/2014/main" id="{62C17BBC-4CBD-450E-997B-E64D0D091501}"/>
              </a:ext>
            </a:extLst>
          </p:cNvPr>
          <p:cNvSpPr>
            <a:spLocks xmlns:a="http://schemas.openxmlformats.org/drawingml/2006/main" noGrp="1"/>
          </p:cNvSpPr>
          <p:nvPr/>
        </p:nvSpPr>
        <p:spPr>
          <a:xfrm xmlns:a="http://schemas.openxmlformats.org/drawingml/2006/main">
            <a:off x="2771775" y="3743325"/>
            <a:ext cx="5486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Interaction behaviour</a:t>
            </a:r>
          </a:p>
        </p:txBody>
      </p:sp>
      <p:sp>
        <p:nvSpPr>
          <p:cNvPr id="31" name="Interaction behaviour">
            <a:extLst xmlns:a="http://schemas.openxmlformats.org/drawingml/2006/main">
              <a:ext uri="{FF2B5EF4-FFF2-40B4-BE49-F238E27FC236}">
                <a16:creationId xmlns:a16="http://schemas.microsoft.com/office/drawing/2014/main" id="{FC2F4AEF-10C3-470A-AD2F-2BD6CC4C8D26}"/>
              </a:ext>
            </a:extLst>
          </p:cNvPr>
          <p:cNvSpPr>
            <a:spLocks xmlns:a="http://schemas.openxmlformats.org/drawingml/2006/main" noGrp="1"/>
          </p:cNvSpPr>
          <p:nvPr/>
        </p:nvSpPr>
        <p:spPr>
          <a:xfrm xmlns:a="http://schemas.openxmlformats.org/drawingml/2006/main">
            <a:off x="2771775" y="4095750"/>
            <a:ext cx="5486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GPS continues while menus and history panels are open.</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New automatic alerts wait until those panels close.</a:t>
            </a:r>
          </a:p>
        </p:txBody>
      </p:sp>
    </p:spTree>
    <p:extLst>
      <p:ext uri="{BB962C8B-B14F-4D97-AF65-F5344CB8AC3E}">
        <p14:creationId xmlns:p14="http://schemas.microsoft.com/office/powerpoint/2010/main" val="46743983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Observed advance suggestions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18</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Two recorded alerts from the same evening GPS journey</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B1C6C81E-38B9-7560-621D-5A151A79DF9B}" type="slidenum">
              <a:rPr sz="900" b="0">
                <a:solidFill>
                  <a:srgbClr val="626B73"/>
                </a:solidFill>
                <a:latin typeface="Arial"/>
                <a:ea typeface="Arial"/>
                <a:cs typeface="Arial"/>
              </a:rPr>
              <a:t>18</a:t>
            </a:fld>
            <a:endParaRPr/>
          </a:p>
        </p:txBody>
      </p:sp>
      <p:sp>
        <p:nvSpPr>
          <p:cNvPr id="26" name="Source note">
            <a:extLst xmlns:a="http://schemas.openxmlformats.org/drawingml/2006/main">
              <a:ext uri="{FF2B5EF4-FFF2-40B4-BE49-F238E27FC236}">
                <a16:creationId xmlns:a16="http://schemas.microsoft.com/office/drawing/2014/main" id="{D75EB868-BC24-4100-BA1C-C0D81970FB7E}"/>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screenshots 2 and 6, 17 October 2026. Values are on-screen estimates [S2].</a:t>
            </a:r>
          </a:p>
        </p:txBody>
      </p:sp>
      <p:sp>
        <p:nvSpPr>
          <p:cNvPr id="27" name="Chaayos observation">
            <a:extLst xmlns:a="http://schemas.openxmlformats.org/drawingml/2006/main">
              <a:ext uri="{FF2B5EF4-FFF2-40B4-BE49-F238E27FC236}">
                <a16:creationId xmlns:a16="http://schemas.microsoft.com/office/drawing/2014/main" id="{20C833B7-5D48-4220-817C-68E79F69696F}"/>
              </a:ext>
            </a:extLst>
          </p:cNvPr>
          <p:cNvSpPr>
            <a:spLocks xmlns:a="http://schemas.openxmlformats.org/drawingml/2006/main" noGrp="1"/>
          </p:cNvSpPr>
          <p:nvPr/>
        </p:nvSpPr>
        <p:spPr>
          <a:xfrm xmlns:a="http://schemas.openxmlformats.org/drawingml/2006/main">
            <a:off x="657225" y="1362075"/>
            <a:ext cx="361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Chaayos, 18:19 IST</a:t>
            </a:r>
          </a:p>
        </p:txBody>
      </p:sp>
      <p:sp>
        <p:nvSpPr>
          <p:cNvPr id="28" name="Tealogy observation">
            <a:extLst xmlns:a="http://schemas.openxmlformats.org/drawingml/2006/main">
              <a:ext uri="{FF2B5EF4-FFF2-40B4-BE49-F238E27FC236}">
                <a16:creationId xmlns:a16="http://schemas.microsoft.com/office/drawing/2014/main" id="{F990D4E9-0AE9-49E7-A496-025A657527B6}"/>
              </a:ext>
            </a:extLst>
          </p:cNvPr>
          <p:cNvSpPr>
            <a:spLocks xmlns:a="http://schemas.openxmlformats.org/drawingml/2006/main" noGrp="1"/>
          </p:cNvSpPr>
          <p:nvPr/>
        </p:nvSpPr>
        <p:spPr>
          <a:xfrm xmlns:a="http://schemas.openxmlformats.org/drawingml/2006/main">
            <a:off x="4772025" y="1362075"/>
            <a:ext cx="361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Tealogy, 18:36 IST</a:t>
            </a:r>
          </a:p>
        </p:txBody>
      </p:sp>
      <p:pic>
        <p:nvPicPr>
          <p:cNvPr id="29" name="">
            <a:extLst xmlns:a="http://schemas.openxmlformats.org/drawingml/2006/main">
              <a:ext uri="{FF2B5EF4-FFF2-40B4-BE49-F238E27FC236}">
                <a16:creationId xmlns:a16="http://schemas.microsoft.com/office/drawing/2014/main" id="{847D07D2-5890-4411-8A13-09F2E8C91FDC}"/>
              </a:ext>
            </a:extLst>
          </p:cNvPr>
          <p:cNvPicPr>
            <a:picLocks xmlns:a="http://schemas.openxmlformats.org/drawingml/2006/main" noChangeAspect="1"/>
          </p:cNvPicPr>
          <p:nvPr/>
        </p:nvPicPr>
        <p:blipFill>
          <a:blip xmlns:r="http://schemas.openxmlformats.org/officeDocument/2006/relationships" xmlns:a="http://schemas.openxmlformats.org/drawingml/2006/main" r:embed="Rf20e2f5eec52464e"/>
          <a:srcRect xmlns:a="http://schemas.openxmlformats.org/drawingml/2006/main" l="38125" t="48148" r="38177" b="10556"/>
          <a:stretch xmlns:a="http://schemas.openxmlformats.org/drawingml/2006/main"/>
        </p:blipFill>
        <p:spPr>
          <a:xfrm xmlns:a="http://schemas.openxmlformats.org/drawingml/2006/main">
            <a:off x="1066800" y="1724025"/>
            <a:ext cx="2466975" cy="2418398"/>
          </a:xfrm>
          <a:prstGeom xmlns:a="http://schemas.openxmlformats.org/drawingml/2006/main" prst="rect">
            <a:avLst/>
          </a:prstGeom>
        </p:spPr>
      </p:pic>
      <p:pic>
        <p:nvPicPr>
          <p:cNvPr id="30" name="">
            <a:extLst xmlns:a="http://schemas.openxmlformats.org/drawingml/2006/main">
              <a:ext uri="{FF2B5EF4-FFF2-40B4-BE49-F238E27FC236}">
                <a16:creationId xmlns:a16="http://schemas.microsoft.com/office/drawing/2014/main" id="{6C7B68F8-ACC8-43E0-B6A7-870D8C6349B5}"/>
              </a:ext>
            </a:extLst>
          </p:cNvPr>
          <p:cNvPicPr>
            <a:picLocks xmlns:a="http://schemas.openxmlformats.org/drawingml/2006/main" noChangeAspect="1"/>
          </p:cNvPicPr>
          <p:nvPr/>
        </p:nvPicPr>
        <p:blipFill>
          <a:blip xmlns:r="http://schemas.openxmlformats.org/officeDocument/2006/relationships" xmlns:a="http://schemas.openxmlformats.org/drawingml/2006/main" r:embed="Rc6ae5a5cdca84611"/>
          <a:srcRect xmlns:a="http://schemas.openxmlformats.org/drawingml/2006/main" l="38125" t="48148" r="38177" b="10556"/>
          <a:stretch xmlns:a="http://schemas.openxmlformats.org/drawingml/2006/main"/>
        </p:blipFill>
        <p:spPr>
          <a:xfrm xmlns:a="http://schemas.openxmlformats.org/drawingml/2006/main">
            <a:off x="5191125" y="1724025"/>
            <a:ext cx="2466975" cy="2418398"/>
          </a:xfrm>
          <a:prstGeom xmlns:a="http://schemas.openxmlformats.org/drawingml/2006/main" prst="rect">
            <a:avLst/>
          </a:prstGeom>
        </p:spPr>
      </p:pic>
      <p:sp>
        <p:nvSpPr>
          <p:cNvPr id="31" name="Chaayos evidence detail">
            <a:extLst xmlns:a="http://schemas.openxmlformats.org/drawingml/2006/main">
              <a:ext uri="{FF2B5EF4-FFF2-40B4-BE49-F238E27FC236}">
                <a16:creationId xmlns:a16="http://schemas.microsoft.com/office/drawing/2014/main" id="{3566D53B-E833-49D3-BC7D-20529A60861E}"/>
              </a:ext>
            </a:extLst>
          </p:cNvPr>
          <p:cNvSpPr>
            <a:spLocks xmlns:a="http://schemas.openxmlformats.org/drawingml/2006/main" noGrp="1"/>
          </p:cNvSpPr>
          <p:nvPr/>
        </p:nvSpPr>
        <p:spPr>
          <a:xfrm xmlns:a="http://schemas.openxmlformats.org/drawingml/2006/main">
            <a:off x="657225" y="4257675"/>
            <a:ext cx="3714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399 m ahead, approximately +40 s travel.</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The passenger can accept, reject or dismiss.</a:t>
            </a:r>
          </a:p>
        </p:txBody>
      </p:sp>
      <p:sp>
        <p:nvSpPr>
          <p:cNvPr id="32" name="Tealogy evidence detail">
            <a:extLst xmlns:a="http://schemas.openxmlformats.org/drawingml/2006/main">
              <a:ext uri="{FF2B5EF4-FFF2-40B4-BE49-F238E27FC236}">
                <a16:creationId xmlns:a16="http://schemas.microsoft.com/office/drawing/2014/main" id="{90071860-AB1B-4E2E-AF52-B09E371CBFB2}"/>
              </a:ext>
            </a:extLst>
          </p:cNvPr>
          <p:cNvSpPr>
            <a:spLocks xmlns:a="http://schemas.openxmlformats.org/drawingml/2006/main" noGrp="1"/>
          </p:cNvSpPr>
          <p:nvPr/>
        </p:nvSpPr>
        <p:spPr>
          <a:xfrm xmlns:a="http://schemas.openxmlformats.org/drawingml/2006/main">
            <a:off x="4772025" y="4257675"/>
            <a:ext cx="3714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397 m ahead, approximately +18 s travel.</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The card indicates open at predicted arrival.</a:t>
            </a:r>
          </a:p>
        </p:txBody>
      </p:sp>
    </p:spTree>
    <p:extLst>
      <p:ext uri="{BB962C8B-B14F-4D97-AF65-F5344CB8AC3E}">
        <p14:creationId xmlns:p14="http://schemas.microsoft.com/office/powerpoint/2010/main" val="46743983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Observed progression on the route</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19</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Selected frames from one evening journey, 17 October 2026</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CCF91274-D221-1BB4-3BF9-836E3AD31EBE}" type="slidenum">
              <a:rPr sz="900" b="0">
                <a:solidFill>
                  <a:srgbClr val="626B73"/>
                </a:solidFill>
                <a:latin typeface="Arial"/>
                <a:ea typeface="Arial"/>
                <a:cs typeface="Arial"/>
              </a:rPr>
              <a:t>19</a:t>
            </a:fld>
            <a:endParaRPr/>
          </a:p>
        </p:txBody>
      </p:sp>
      <p:sp>
        <p:nvSpPr>
          <p:cNvPr id="26" name="Source note">
            <a:extLst xmlns:a="http://schemas.openxmlformats.org/drawingml/2006/main">
              <a:ext uri="{FF2B5EF4-FFF2-40B4-BE49-F238E27FC236}">
                <a16:creationId xmlns:a16="http://schemas.microsoft.com/office/drawing/2014/main" id="{245C1A27-9158-4D68-B43E-88B244890727}"/>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screenshots 1, 3, 5, 7 and 8. Maps © OpenStreetMap contributors [S2].</a:t>
            </a:r>
          </a:p>
        </p:txBody>
      </p:sp>
      <p:sp>
        <p:nvSpPr>
          <p:cNvPr id="27" name="Time frame 0">
            <a:extLst xmlns:a="http://schemas.openxmlformats.org/drawingml/2006/main">
              <a:ext uri="{FF2B5EF4-FFF2-40B4-BE49-F238E27FC236}">
                <a16:creationId xmlns:a16="http://schemas.microsoft.com/office/drawing/2014/main" id="{CA5BA08E-CFD9-4F2F-8792-40A9B93D5095}"/>
              </a:ext>
            </a:extLst>
          </p:cNvPr>
          <p:cNvSpPr>
            <a:spLocks xmlns:a="http://schemas.openxmlformats.org/drawingml/2006/main" noGrp="1"/>
          </p:cNvSpPr>
          <p:nvPr/>
        </p:nvSpPr>
        <p:spPr>
          <a:xfrm xmlns:a="http://schemas.openxmlformats.org/drawingml/2006/main">
            <a:off x="657225" y="1409700"/>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1">
                <a:solidFill>
                  <a:srgbClr val="002C5F"/>
                </a:solidFill>
                <a:latin typeface="Arial"/>
                <a:ea typeface="Arial"/>
                <a:cs typeface="Arial"/>
              </a:defRPr>
            </a:defPPr>
            <a:lvl1pPr algn="l">
              <a:defRPr sz="1298" b="1">
                <a:solidFill>
                  <a:srgbClr val="002C5F"/>
                </a:solidFill>
                <a:latin typeface="Arial"/>
                <a:ea typeface="Arial"/>
                <a:cs typeface="Arial"/>
              </a:defRPr>
            </a:lvl1pPr>
            <a:lvl2pPr algn="l">
              <a:defRPr sz="1298" b="1">
                <a:solidFill>
                  <a:srgbClr val="002C5F"/>
                </a:solidFill>
                <a:latin typeface="Arial"/>
                <a:ea typeface="Arial"/>
                <a:cs typeface="Arial"/>
              </a:defRPr>
            </a:lvl2pPr>
            <a:lvl3pPr algn="l">
              <a:defRPr sz="1298" b="1">
                <a:solidFill>
                  <a:srgbClr val="002C5F"/>
                </a:solidFill>
                <a:latin typeface="Arial"/>
                <a:ea typeface="Arial"/>
                <a:cs typeface="Arial"/>
              </a:defRPr>
            </a:lvl3pPr>
            <a:lvl4pPr algn="l">
              <a:defRPr sz="1298" b="1">
                <a:solidFill>
                  <a:srgbClr val="002C5F"/>
                </a:solidFill>
                <a:latin typeface="Arial"/>
                <a:ea typeface="Arial"/>
                <a:cs typeface="Arial"/>
              </a:defRPr>
            </a:lvl4pPr>
            <a:lvl5pPr algn="l">
              <a:defRPr sz="1298" b="1">
                <a:solidFill>
                  <a:srgbClr val="002C5F"/>
                </a:solidFill>
                <a:latin typeface="Arial"/>
                <a:ea typeface="Arial"/>
                <a:cs typeface="Arial"/>
              </a:defRPr>
            </a:lvl5pPr>
            <a:lvl6pPr algn="l">
              <a:defRPr sz="1298" b="1">
                <a:solidFill>
                  <a:srgbClr val="002C5F"/>
                </a:solidFill>
                <a:latin typeface="Arial"/>
                <a:ea typeface="Arial"/>
                <a:cs typeface="Arial"/>
              </a:defRPr>
            </a:lvl6pPr>
            <a:lvl7pPr algn="l">
              <a:defRPr sz="1298" b="1">
                <a:solidFill>
                  <a:srgbClr val="002C5F"/>
                </a:solidFill>
                <a:latin typeface="Arial"/>
                <a:ea typeface="Arial"/>
                <a:cs typeface="Arial"/>
              </a:defRPr>
            </a:lvl7pPr>
            <a:lvl8pPr algn="l">
              <a:defRPr sz="1298" b="1">
                <a:solidFill>
                  <a:srgbClr val="002C5F"/>
                </a:solidFill>
                <a:latin typeface="Arial"/>
                <a:ea typeface="Arial"/>
                <a:cs typeface="Arial"/>
              </a:defRPr>
            </a:lvl8pPr>
            <a:lvl9pPr algn="l">
              <a:defRPr sz="1298" b="1">
                <a:solidFill>
                  <a:srgbClr val="002C5F"/>
                </a:solidFill>
                <a:latin typeface="Arial"/>
                <a:ea typeface="Arial"/>
                <a:cs typeface="Arial"/>
              </a:defRPr>
            </a:lvl9pPr>
          </a:lstStyle>
          <a:p xmlns:a="http://schemas.openxmlformats.org/drawingml/2006/main">
            <a:pPr algn="l">
              <a:defRPr sz="1298" b="1">
                <a:solidFill>
                  <a:srgbClr val="002C5F"/>
                </a:solidFill>
                <a:latin typeface="Arial"/>
                <a:ea typeface="Arial"/>
                <a:cs typeface="Arial"/>
              </a:defRPr>
            </a:pPr>
            <a:r>
              <a:rPr sz="1298" b="1">
                <a:solidFill>
                  <a:srgbClr val="002C5F"/>
                </a:solidFill>
                <a:latin typeface="Arial"/>
                <a:ea typeface="Arial"/>
                <a:cs typeface="Arial"/>
              </a:rPr>
              <a:t>18:18 IST</a:t>
            </a:r>
          </a:p>
        </p:txBody>
      </p:sp>
      <p:pic>
        <p:nvPicPr>
          <p:cNvPr id="28" name="">
            <a:extLst xmlns:a="http://schemas.openxmlformats.org/drawingml/2006/main">
              <a:ext uri="{FF2B5EF4-FFF2-40B4-BE49-F238E27FC236}">
                <a16:creationId xmlns:a16="http://schemas.microsoft.com/office/drawing/2014/main" id="{734F3A98-A25D-4F6D-8927-D62240CF6133}"/>
              </a:ext>
            </a:extLst>
          </p:cNvPr>
          <p:cNvPicPr>
            <a:picLocks xmlns:a="http://schemas.openxmlformats.org/drawingml/2006/main" noChangeAspect="1"/>
          </p:cNvPicPr>
          <p:nvPr/>
        </p:nvPicPr>
        <p:blipFill>
          <a:blip xmlns:r="http://schemas.openxmlformats.org/officeDocument/2006/relationships" xmlns:a="http://schemas.openxmlformats.org/drawingml/2006/main" r:embed="R9e57a27f7a894db5"/>
          <a:srcRect xmlns:a="http://schemas.openxmlformats.org/drawingml/2006/main" l="37396" t="31944" r="37500" b="7870"/>
          <a:stretch xmlns:a="http://schemas.openxmlformats.org/drawingml/2006/main"/>
        </p:blipFill>
        <p:spPr>
          <a:xfrm xmlns:a="http://schemas.openxmlformats.org/drawingml/2006/main">
            <a:off x="657225" y="1800225"/>
            <a:ext cx="1466850" cy="1978343"/>
          </a:xfrm>
          <a:prstGeom xmlns:a="http://schemas.openxmlformats.org/drawingml/2006/main" prst="rect">
            <a:avLst/>
          </a:prstGeom>
        </p:spPr>
      </p:pic>
      <p:sp>
        <p:nvSpPr>
          <p:cNvPr id="29" name="Distance and progress 0">
            <a:extLst xmlns:a="http://schemas.openxmlformats.org/drawingml/2006/main">
              <a:ext uri="{FF2B5EF4-FFF2-40B4-BE49-F238E27FC236}">
                <a16:creationId xmlns:a16="http://schemas.microsoft.com/office/drawing/2014/main" id="{6C62D616-A242-4C23-B8B8-423C5B7D218F}"/>
              </a:ext>
            </a:extLst>
          </p:cNvPr>
          <p:cNvSpPr>
            <a:spLocks xmlns:a="http://schemas.openxmlformats.org/drawingml/2006/main" noGrp="1"/>
          </p:cNvSpPr>
          <p:nvPr/>
        </p:nvSpPr>
        <p:spPr>
          <a:xfrm xmlns:a="http://schemas.openxmlformats.org/drawingml/2006/main">
            <a:off x="657225" y="3914775"/>
            <a:ext cx="14859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1.81 km remaining</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11% progress</a:t>
            </a:r>
          </a:p>
        </p:txBody>
      </p:sp>
      <p:sp>
        <p:nvSpPr>
          <p:cNvPr id="30" name="Time frame 1">
            <a:extLst xmlns:a="http://schemas.openxmlformats.org/drawingml/2006/main">
              <a:ext uri="{FF2B5EF4-FFF2-40B4-BE49-F238E27FC236}">
                <a16:creationId xmlns:a16="http://schemas.microsoft.com/office/drawing/2014/main" id="{F52EFC55-E8ED-4BB5-862E-B3D5D234FD87}"/>
              </a:ext>
            </a:extLst>
          </p:cNvPr>
          <p:cNvSpPr>
            <a:spLocks xmlns:a="http://schemas.openxmlformats.org/drawingml/2006/main" noGrp="1"/>
          </p:cNvSpPr>
          <p:nvPr/>
        </p:nvSpPr>
        <p:spPr>
          <a:xfrm xmlns:a="http://schemas.openxmlformats.org/drawingml/2006/main">
            <a:off x="2247900" y="1409700"/>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1">
                <a:solidFill>
                  <a:srgbClr val="002C5F"/>
                </a:solidFill>
                <a:latin typeface="Arial"/>
                <a:ea typeface="Arial"/>
                <a:cs typeface="Arial"/>
              </a:defRPr>
            </a:defPPr>
            <a:lvl1pPr algn="l">
              <a:defRPr sz="1298" b="1">
                <a:solidFill>
                  <a:srgbClr val="002C5F"/>
                </a:solidFill>
                <a:latin typeface="Arial"/>
                <a:ea typeface="Arial"/>
                <a:cs typeface="Arial"/>
              </a:defRPr>
            </a:lvl1pPr>
            <a:lvl2pPr algn="l">
              <a:defRPr sz="1298" b="1">
                <a:solidFill>
                  <a:srgbClr val="002C5F"/>
                </a:solidFill>
                <a:latin typeface="Arial"/>
                <a:ea typeface="Arial"/>
                <a:cs typeface="Arial"/>
              </a:defRPr>
            </a:lvl2pPr>
            <a:lvl3pPr algn="l">
              <a:defRPr sz="1298" b="1">
                <a:solidFill>
                  <a:srgbClr val="002C5F"/>
                </a:solidFill>
                <a:latin typeface="Arial"/>
                <a:ea typeface="Arial"/>
                <a:cs typeface="Arial"/>
              </a:defRPr>
            </a:lvl3pPr>
            <a:lvl4pPr algn="l">
              <a:defRPr sz="1298" b="1">
                <a:solidFill>
                  <a:srgbClr val="002C5F"/>
                </a:solidFill>
                <a:latin typeface="Arial"/>
                <a:ea typeface="Arial"/>
                <a:cs typeface="Arial"/>
              </a:defRPr>
            </a:lvl4pPr>
            <a:lvl5pPr algn="l">
              <a:defRPr sz="1298" b="1">
                <a:solidFill>
                  <a:srgbClr val="002C5F"/>
                </a:solidFill>
                <a:latin typeface="Arial"/>
                <a:ea typeface="Arial"/>
                <a:cs typeface="Arial"/>
              </a:defRPr>
            </a:lvl5pPr>
            <a:lvl6pPr algn="l">
              <a:defRPr sz="1298" b="1">
                <a:solidFill>
                  <a:srgbClr val="002C5F"/>
                </a:solidFill>
                <a:latin typeface="Arial"/>
                <a:ea typeface="Arial"/>
                <a:cs typeface="Arial"/>
              </a:defRPr>
            </a:lvl6pPr>
            <a:lvl7pPr algn="l">
              <a:defRPr sz="1298" b="1">
                <a:solidFill>
                  <a:srgbClr val="002C5F"/>
                </a:solidFill>
                <a:latin typeface="Arial"/>
                <a:ea typeface="Arial"/>
                <a:cs typeface="Arial"/>
              </a:defRPr>
            </a:lvl7pPr>
            <a:lvl8pPr algn="l">
              <a:defRPr sz="1298" b="1">
                <a:solidFill>
                  <a:srgbClr val="002C5F"/>
                </a:solidFill>
                <a:latin typeface="Arial"/>
                <a:ea typeface="Arial"/>
                <a:cs typeface="Arial"/>
              </a:defRPr>
            </a:lvl8pPr>
            <a:lvl9pPr algn="l">
              <a:defRPr sz="1298" b="1">
                <a:solidFill>
                  <a:srgbClr val="002C5F"/>
                </a:solidFill>
                <a:latin typeface="Arial"/>
                <a:ea typeface="Arial"/>
                <a:cs typeface="Arial"/>
              </a:defRPr>
            </a:lvl9pPr>
          </a:lstStyle>
          <a:p xmlns:a="http://schemas.openxmlformats.org/drawingml/2006/main">
            <a:pPr algn="l">
              <a:defRPr sz="1298" b="1">
                <a:solidFill>
                  <a:srgbClr val="002C5F"/>
                </a:solidFill>
                <a:latin typeface="Arial"/>
                <a:ea typeface="Arial"/>
                <a:cs typeface="Arial"/>
              </a:defRPr>
            </a:pPr>
            <a:r>
              <a:rPr sz="1298" b="1">
                <a:solidFill>
                  <a:srgbClr val="002C5F"/>
                </a:solidFill>
                <a:latin typeface="Arial"/>
                <a:ea typeface="Arial"/>
                <a:cs typeface="Arial"/>
              </a:rPr>
              <a:t>18:26 IST</a:t>
            </a:r>
          </a:p>
        </p:txBody>
      </p:sp>
      <p:pic>
        <p:nvPicPr>
          <p:cNvPr id="31" name="">
            <a:extLst xmlns:a="http://schemas.openxmlformats.org/drawingml/2006/main">
              <a:ext uri="{FF2B5EF4-FFF2-40B4-BE49-F238E27FC236}">
                <a16:creationId xmlns:a16="http://schemas.microsoft.com/office/drawing/2014/main" id="{6704F3A1-E59B-4E21-ADB2-D399D3A668E8}"/>
              </a:ext>
            </a:extLst>
          </p:cNvPr>
          <p:cNvPicPr>
            <a:picLocks xmlns:a="http://schemas.openxmlformats.org/drawingml/2006/main" noChangeAspect="1"/>
          </p:cNvPicPr>
          <p:nvPr/>
        </p:nvPicPr>
        <p:blipFill>
          <a:blip xmlns:r="http://schemas.openxmlformats.org/officeDocument/2006/relationships" xmlns:a="http://schemas.openxmlformats.org/drawingml/2006/main" r:embed="Rc569f0fdd1e64a7d"/>
          <a:srcRect xmlns:a="http://schemas.openxmlformats.org/drawingml/2006/main" l="37396" t="31944" r="37500" b="7870"/>
          <a:stretch xmlns:a="http://schemas.openxmlformats.org/drawingml/2006/main"/>
        </p:blipFill>
        <p:spPr>
          <a:xfrm xmlns:a="http://schemas.openxmlformats.org/drawingml/2006/main">
            <a:off x="2247900" y="1800225"/>
            <a:ext cx="1466850" cy="1978343"/>
          </a:xfrm>
          <a:prstGeom xmlns:a="http://schemas.openxmlformats.org/drawingml/2006/main" prst="rect">
            <a:avLst/>
          </a:prstGeom>
        </p:spPr>
      </p:pic>
      <p:sp>
        <p:nvSpPr>
          <p:cNvPr id="32" name="Distance and progress 1">
            <a:extLst xmlns:a="http://schemas.openxmlformats.org/drawingml/2006/main">
              <a:ext uri="{FF2B5EF4-FFF2-40B4-BE49-F238E27FC236}">
                <a16:creationId xmlns:a16="http://schemas.microsoft.com/office/drawing/2014/main" id="{9E3EB397-82C1-402D-AF3F-C7DB6F27DE8B}"/>
              </a:ext>
            </a:extLst>
          </p:cNvPr>
          <p:cNvSpPr>
            <a:spLocks xmlns:a="http://schemas.openxmlformats.org/drawingml/2006/main" noGrp="1"/>
          </p:cNvSpPr>
          <p:nvPr/>
        </p:nvSpPr>
        <p:spPr>
          <a:xfrm xmlns:a="http://schemas.openxmlformats.org/drawingml/2006/main">
            <a:off x="2247900" y="3914775"/>
            <a:ext cx="14859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1.15 km remaining</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43% progress</a:t>
            </a:r>
          </a:p>
        </p:txBody>
      </p:sp>
      <p:sp>
        <p:nvSpPr>
          <p:cNvPr id="33" name="Time frame 2">
            <a:extLst xmlns:a="http://schemas.openxmlformats.org/drawingml/2006/main">
              <a:ext uri="{FF2B5EF4-FFF2-40B4-BE49-F238E27FC236}">
                <a16:creationId xmlns:a16="http://schemas.microsoft.com/office/drawing/2014/main" id="{F1C200CC-2B4D-4DEA-997B-1BB4269B16EB}"/>
              </a:ext>
            </a:extLst>
          </p:cNvPr>
          <p:cNvSpPr>
            <a:spLocks xmlns:a="http://schemas.openxmlformats.org/drawingml/2006/main" noGrp="1"/>
          </p:cNvSpPr>
          <p:nvPr/>
        </p:nvSpPr>
        <p:spPr>
          <a:xfrm xmlns:a="http://schemas.openxmlformats.org/drawingml/2006/main">
            <a:off x="3838575" y="1409700"/>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1">
                <a:solidFill>
                  <a:srgbClr val="002C5F"/>
                </a:solidFill>
                <a:latin typeface="Arial"/>
                <a:ea typeface="Arial"/>
                <a:cs typeface="Arial"/>
              </a:defRPr>
            </a:defPPr>
            <a:lvl1pPr algn="l">
              <a:defRPr sz="1298" b="1">
                <a:solidFill>
                  <a:srgbClr val="002C5F"/>
                </a:solidFill>
                <a:latin typeface="Arial"/>
                <a:ea typeface="Arial"/>
                <a:cs typeface="Arial"/>
              </a:defRPr>
            </a:lvl1pPr>
            <a:lvl2pPr algn="l">
              <a:defRPr sz="1298" b="1">
                <a:solidFill>
                  <a:srgbClr val="002C5F"/>
                </a:solidFill>
                <a:latin typeface="Arial"/>
                <a:ea typeface="Arial"/>
                <a:cs typeface="Arial"/>
              </a:defRPr>
            </a:lvl2pPr>
            <a:lvl3pPr algn="l">
              <a:defRPr sz="1298" b="1">
                <a:solidFill>
                  <a:srgbClr val="002C5F"/>
                </a:solidFill>
                <a:latin typeface="Arial"/>
                <a:ea typeface="Arial"/>
                <a:cs typeface="Arial"/>
              </a:defRPr>
            </a:lvl3pPr>
            <a:lvl4pPr algn="l">
              <a:defRPr sz="1298" b="1">
                <a:solidFill>
                  <a:srgbClr val="002C5F"/>
                </a:solidFill>
                <a:latin typeface="Arial"/>
                <a:ea typeface="Arial"/>
                <a:cs typeface="Arial"/>
              </a:defRPr>
            </a:lvl4pPr>
            <a:lvl5pPr algn="l">
              <a:defRPr sz="1298" b="1">
                <a:solidFill>
                  <a:srgbClr val="002C5F"/>
                </a:solidFill>
                <a:latin typeface="Arial"/>
                <a:ea typeface="Arial"/>
                <a:cs typeface="Arial"/>
              </a:defRPr>
            </a:lvl5pPr>
            <a:lvl6pPr algn="l">
              <a:defRPr sz="1298" b="1">
                <a:solidFill>
                  <a:srgbClr val="002C5F"/>
                </a:solidFill>
                <a:latin typeface="Arial"/>
                <a:ea typeface="Arial"/>
                <a:cs typeface="Arial"/>
              </a:defRPr>
            </a:lvl6pPr>
            <a:lvl7pPr algn="l">
              <a:defRPr sz="1298" b="1">
                <a:solidFill>
                  <a:srgbClr val="002C5F"/>
                </a:solidFill>
                <a:latin typeface="Arial"/>
                <a:ea typeface="Arial"/>
                <a:cs typeface="Arial"/>
              </a:defRPr>
            </a:lvl7pPr>
            <a:lvl8pPr algn="l">
              <a:defRPr sz="1298" b="1">
                <a:solidFill>
                  <a:srgbClr val="002C5F"/>
                </a:solidFill>
                <a:latin typeface="Arial"/>
                <a:ea typeface="Arial"/>
                <a:cs typeface="Arial"/>
              </a:defRPr>
            </a:lvl8pPr>
            <a:lvl9pPr algn="l">
              <a:defRPr sz="1298" b="1">
                <a:solidFill>
                  <a:srgbClr val="002C5F"/>
                </a:solidFill>
                <a:latin typeface="Arial"/>
                <a:ea typeface="Arial"/>
                <a:cs typeface="Arial"/>
              </a:defRPr>
            </a:lvl9pPr>
          </a:lstStyle>
          <a:p xmlns:a="http://schemas.openxmlformats.org/drawingml/2006/main">
            <a:pPr algn="l">
              <a:defRPr sz="1298" b="1">
                <a:solidFill>
                  <a:srgbClr val="002C5F"/>
                </a:solidFill>
                <a:latin typeface="Arial"/>
                <a:ea typeface="Arial"/>
                <a:cs typeface="Arial"/>
              </a:defRPr>
            </a:pPr>
            <a:r>
              <a:rPr sz="1298" b="1">
                <a:solidFill>
                  <a:srgbClr val="002C5F"/>
                </a:solidFill>
                <a:latin typeface="Arial"/>
                <a:ea typeface="Arial"/>
                <a:cs typeface="Arial"/>
              </a:rPr>
              <a:t>18:38 IST</a:t>
            </a:r>
          </a:p>
        </p:txBody>
      </p:sp>
      <p:pic>
        <p:nvPicPr>
          <p:cNvPr id="34" name="">
            <a:extLst xmlns:a="http://schemas.openxmlformats.org/drawingml/2006/main">
              <a:ext uri="{FF2B5EF4-FFF2-40B4-BE49-F238E27FC236}">
                <a16:creationId xmlns:a16="http://schemas.microsoft.com/office/drawing/2014/main" id="{769DD955-AAFB-498B-A042-6E56D378D01C}"/>
              </a:ext>
            </a:extLst>
          </p:cNvPr>
          <p:cNvPicPr>
            <a:picLocks xmlns:a="http://schemas.openxmlformats.org/drawingml/2006/main" noChangeAspect="1"/>
          </p:cNvPicPr>
          <p:nvPr/>
        </p:nvPicPr>
        <p:blipFill>
          <a:blip xmlns:r="http://schemas.openxmlformats.org/officeDocument/2006/relationships" xmlns:a="http://schemas.openxmlformats.org/drawingml/2006/main" r:embed="Rfc190db1e1ca4feb"/>
          <a:srcRect xmlns:a="http://schemas.openxmlformats.org/drawingml/2006/main" l="37396" t="31944" r="37500" b="7870"/>
          <a:stretch xmlns:a="http://schemas.openxmlformats.org/drawingml/2006/main"/>
        </p:blipFill>
        <p:spPr>
          <a:xfrm xmlns:a="http://schemas.openxmlformats.org/drawingml/2006/main">
            <a:off x="3838575" y="1800225"/>
            <a:ext cx="1466850" cy="1978343"/>
          </a:xfrm>
          <a:prstGeom xmlns:a="http://schemas.openxmlformats.org/drawingml/2006/main" prst="rect">
            <a:avLst/>
          </a:prstGeom>
        </p:spPr>
      </p:pic>
      <p:sp>
        <p:nvSpPr>
          <p:cNvPr id="35" name="Distance and progress 2">
            <a:extLst xmlns:a="http://schemas.openxmlformats.org/drawingml/2006/main">
              <a:ext uri="{FF2B5EF4-FFF2-40B4-BE49-F238E27FC236}">
                <a16:creationId xmlns:a16="http://schemas.microsoft.com/office/drawing/2014/main" id="{A9E4E63D-8695-44B4-95D5-31C369000F75}"/>
              </a:ext>
            </a:extLst>
          </p:cNvPr>
          <p:cNvSpPr>
            <a:spLocks xmlns:a="http://schemas.openxmlformats.org/drawingml/2006/main" noGrp="1"/>
          </p:cNvSpPr>
          <p:nvPr/>
        </p:nvSpPr>
        <p:spPr>
          <a:xfrm xmlns:a="http://schemas.openxmlformats.org/drawingml/2006/main">
            <a:off x="3838575" y="3914775"/>
            <a:ext cx="14859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278 m remaining</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86% progress</a:t>
            </a:r>
          </a:p>
        </p:txBody>
      </p:sp>
      <p:sp>
        <p:nvSpPr>
          <p:cNvPr id="36" name="Time frame 3">
            <a:extLst xmlns:a="http://schemas.openxmlformats.org/drawingml/2006/main">
              <a:ext uri="{FF2B5EF4-FFF2-40B4-BE49-F238E27FC236}">
                <a16:creationId xmlns:a16="http://schemas.microsoft.com/office/drawing/2014/main" id="{04473AD2-29B2-4CF4-9CDC-6ADED086C917}"/>
              </a:ext>
            </a:extLst>
          </p:cNvPr>
          <p:cNvSpPr>
            <a:spLocks xmlns:a="http://schemas.openxmlformats.org/drawingml/2006/main" noGrp="1"/>
          </p:cNvSpPr>
          <p:nvPr/>
        </p:nvSpPr>
        <p:spPr>
          <a:xfrm xmlns:a="http://schemas.openxmlformats.org/drawingml/2006/main">
            <a:off x="5429250" y="1409700"/>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1">
                <a:solidFill>
                  <a:srgbClr val="002C5F"/>
                </a:solidFill>
                <a:latin typeface="Arial"/>
                <a:ea typeface="Arial"/>
                <a:cs typeface="Arial"/>
              </a:defRPr>
            </a:defPPr>
            <a:lvl1pPr algn="l">
              <a:defRPr sz="1298" b="1">
                <a:solidFill>
                  <a:srgbClr val="002C5F"/>
                </a:solidFill>
                <a:latin typeface="Arial"/>
                <a:ea typeface="Arial"/>
                <a:cs typeface="Arial"/>
              </a:defRPr>
            </a:lvl1pPr>
            <a:lvl2pPr algn="l">
              <a:defRPr sz="1298" b="1">
                <a:solidFill>
                  <a:srgbClr val="002C5F"/>
                </a:solidFill>
                <a:latin typeface="Arial"/>
                <a:ea typeface="Arial"/>
                <a:cs typeface="Arial"/>
              </a:defRPr>
            </a:lvl2pPr>
            <a:lvl3pPr algn="l">
              <a:defRPr sz="1298" b="1">
                <a:solidFill>
                  <a:srgbClr val="002C5F"/>
                </a:solidFill>
                <a:latin typeface="Arial"/>
                <a:ea typeface="Arial"/>
                <a:cs typeface="Arial"/>
              </a:defRPr>
            </a:lvl3pPr>
            <a:lvl4pPr algn="l">
              <a:defRPr sz="1298" b="1">
                <a:solidFill>
                  <a:srgbClr val="002C5F"/>
                </a:solidFill>
                <a:latin typeface="Arial"/>
                <a:ea typeface="Arial"/>
                <a:cs typeface="Arial"/>
              </a:defRPr>
            </a:lvl4pPr>
            <a:lvl5pPr algn="l">
              <a:defRPr sz="1298" b="1">
                <a:solidFill>
                  <a:srgbClr val="002C5F"/>
                </a:solidFill>
                <a:latin typeface="Arial"/>
                <a:ea typeface="Arial"/>
                <a:cs typeface="Arial"/>
              </a:defRPr>
            </a:lvl5pPr>
            <a:lvl6pPr algn="l">
              <a:defRPr sz="1298" b="1">
                <a:solidFill>
                  <a:srgbClr val="002C5F"/>
                </a:solidFill>
                <a:latin typeface="Arial"/>
                <a:ea typeface="Arial"/>
                <a:cs typeface="Arial"/>
              </a:defRPr>
            </a:lvl6pPr>
            <a:lvl7pPr algn="l">
              <a:defRPr sz="1298" b="1">
                <a:solidFill>
                  <a:srgbClr val="002C5F"/>
                </a:solidFill>
                <a:latin typeface="Arial"/>
                <a:ea typeface="Arial"/>
                <a:cs typeface="Arial"/>
              </a:defRPr>
            </a:lvl7pPr>
            <a:lvl8pPr algn="l">
              <a:defRPr sz="1298" b="1">
                <a:solidFill>
                  <a:srgbClr val="002C5F"/>
                </a:solidFill>
                <a:latin typeface="Arial"/>
                <a:ea typeface="Arial"/>
                <a:cs typeface="Arial"/>
              </a:defRPr>
            </a:lvl8pPr>
            <a:lvl9pPr algn="l">
              <a:defRPr sz="1298" b="1">
                <a:solidFill>
                  <a:srgbClr val="002C5F"/>
                </a:solidFill>
                <a:latin typeface="Arial"/>
                <a:ea typeface="Arial"/>
                <a:cs typeface="Arial"/>
              </a:defRPr>
            </a:lvl9pPr>
          </a:lstStyle>
          <a:p xmlns:a="http://schemas.openxmlformats.org/drawingml/2006/main">
            <a:pPr algn="l">
              <a:defRPr sz="1298" b="1">
                <a:solidFill>
                  <a:srgbClr val="002C5F"/>
                </a:solidFill>
                <a:latin typeface="Arial"/>
                <a:ea typeface="Arial"/>
                <a:cs typeface="Arial"/>
              </a:defRPr>
            </a:pPr>
            <a:r>
              <a:rPr sz="1298" b="1">
                <a:solidFill>
                  <a:srgbClr val="002C5F"/>
                </a:solidFill>
                <a:latin typeface="Arial"/>
                <a:ea typeface="Arial"/>
                <a:cs typeface="Arial"/>
              </a:rPr>
              <a:t>18:39 IST</a:t>
            </a:r>
          </a:p>
        </p:txBody>
      </p:sp>
      <p:pic>
        <p:nvPicPr>
          <p:cNvPr id="37" name="">
            <a:extLst xmlns:a="http://schemas.openxmlformats.org/drawingml/2006/main">
              <a:ext uri="{FF2B5EF4-FFF2-40B4-BE49-F238E27FC236}">
                <a16:creationId xmlns:a16="http://schemas.microsoft.com/office/drawing/2014/main" id="{9D591786-77F8-4383-AFAF-FD293B56E778}"/>
              </a:ext>
            </a:extLst>
          </p:cNvPr>
          <p:cNvPicPr>
            <a:picLocks xmlns:a="http://schemas.openxmlformats.org/drawingml/2006/main" noChangeAspect="1"/>
          </p:cNvPicPr>
          <p:nvPr/>
        </p:nvPicPr>
        <p:blipFill>
          <a:blip xmlns:r="http://schemas.openxmlformats.org/officeDocument/2006/relationships" xmlns:a="http://schemas.openxmlformats.org/drawingml/2006/main" r:embed="R6638480898274fba"/>
          <a:srcRect xmlns:a="http://schemas.openxmlformats.org/drawingml/2006/main" l="37396" t="31944" r="37500" b="7870"/>
          <a:stretch xmlns:a="http://schemas.openxmlformats.org/drawingml/2006/main"/>
        </p:blipFill>
        <p:spPr>
          <a:xfrm xmlns:a="http://schemas.openxmlformats.org/drawingml/2006/main">
            <a:off x="5429250" y="1800225"/>
            <a:ext cx="1466850" cy="1978343"/>
          </a:xfrm>
          <a:prstGeom xmlns:a="http://schemas.openxmlformats.org/drawingml/2006/main" prst="rect">
            <a:avLst/>
          </a:prstGeom>
        </p:spPr>
      </p:pic>
      <p:sp>
        <p:nvSpPr>
          <p:cNvPr id="38" name="Distance and progress 3">
            <a:extLst xmlns:a="http://schemas.openxmlformats.org/drawingml/2006/main">
              <a:ext uri="{FF2B5EF4-FFF2-40B4-BE49-F238E27FC236}">
                <a16:creationId xmlns:a16="http://schemas.microsoft.com/office/drawing/2014/main" id="{72F3230E-8C3A-4ABB-A400-27952469DF0F}"/>
              </a:ext>
            </a:extLst>
          </p:cNvPr>
          <p:cNvSpPr>
            <a:spLocks xmlns:a="http://schemas.openxmlformats.org/drawingml/2006/main" noGrp="1"/>
          </p:cNvSpPr>
          <p:nvPr/>
        </p:nvSpPr>
        <p:spPr>
          <a:xfrm xmlns:a="http://schemas.openxmlformats.org/drawingml/2006/main">
            <a:off x="5429250" y="3914775"/>
            <a:ext cx="14859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175 m remaining</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91% progress</a:t>
            </a:r>
          </a:p>
        </p:txBody>
      </p:sp>
      <p:sp>
        <p:nvSpPr>
          <p:cNvPr id="39" name="Time frame 4">
            <a:extLst xmlns:a="http://schemas.openxmlformats.org/drawingml/2006/main">
              <a:ext uri="{FF2B5EF4-FFF2-40B4-BE49-F238E27FC236}">
                <a16:creationId xmlns:a16="http://schemas.microsoft.com/office/drawing/2014/main" id="{F80E7487-FC43-4D1F-8336-3722557E09CB}"/>
              </a:ext>
            </a:extLst>
          </p:cNvPr>
          <p:cNvSpPr>
            <a:spLocks xmlns:a="http://schemas.openxmlformats.org/drawingml/2006/main" noGrp="1"/>
          </p:cNvSpPr>
          <p:nvPr/>
        </p:nvSpPr>
        <p:spPr>
          <a:xfrm xmlns:a="http://schemas.openxmlformats.org/drawingml/2006/main">
            <a:off x="7019925" y="1409700"/>
            <a:ext cx="1476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1">
                <a:solidFill>
                  <a:srgbClr val="002C5F"/>
                </a:solidFill>
                <a:latin typeface="Arial"/>
                <a:ea typeface="Arial"/>
                <a:cs typeface="Arial"/>
              </a:defRPr>
            </a:defPPr>
            <a:lvl1pPr algn="l">
              <a:defRPr sz="1298" b="1">
                <a:solidFill>
                  <a:srgbClr val="002C5F"/>
                </a:solidFill>
                <a:latin typeface="Arial"/>
                <a:ea typeface="Arial"/>
                <a:cs typeface="Arial"/>
              </a:defRPr>
            </a:lvl1pPr>
            <a:lvl2pPr algn="l">
              <a:defRPr sz="1298" b="1">
                <a:solidFill>
                  <a:srgbClr val="002C5F"/>
                </a:solidFill>
                <a:latin typeface="Arial"/>
                <a:ea typeface="Arial"/>
                <a:cs typeface="Arial"/>
              </a:defRPr>
            </a:lvl2pPr>
            <a:lvl3pPr algn="l">
              <a:defRPr sz="1298" b="1">
                <a:solidFill>
                  <a:srgbClr val="002C5F"/>
                </a:solidFill>
                <a:latin typeface="Arial"/>
                <a:ea typeface="Arial"/>
                <a:cs typeface="Arial"/>
              </a:defRPr>
            </a:lvl3pPr>
            <a:lvl4pPr algn="l">
              <a:defRPr sz="1298" b="1">
                <a:solidFill>
                  <a:srgbClr val="002C5F"/>
                </a:solidFill>
                <a:latin typeface="Arial"/>
                <a:ea typeface="Arial"/>
                <a:cs typeface="Arial"/>
              </a:defRPr>
            </a:lvl4pPr>
            <a:lvl5pPr algn="l">
              <a:defRPr sz="1298" b="1">
                <a:solidFill>
                  <a:srgbClr val="002C5F"/>
                </a:solidFill>
                <a:latin typeface="Arial"/>
                <a:ea typeface="Arial"/>
                <a:cs typeface="Arial"/>
              </a:defRPr>
            </a:lvl5pPr>
            <a:lvl6pPr algn="l">
              <a:defRPr sz="1298" b="1">
                <a:solidFill>
                  <a:srgbClr val="002C5F"/>
                </a:solidFill>
                <a:latin typeface="Arial"/>
                <a:ea typeface="Arial"/>
                <a:cs typeface="Arial"/>
              </a:defRPr>
            </a:lvl6pPr>
            <a:lvl7pPr algn="l">
              <a:defRPr sz="1298" b="1">
                <a:solidFill>
                  <a:srgbClr val="002C5F"/>
                </a:solidFill>
                <a:latin typeface="Arial"/>
                <a:ea typeface="Arial"/>
                <a:cs typeface="Arial"/>
              </a:defRPr>
            </a:lvl7pPr>
            <a:lvl8pPr algn="l">
              <a:defRPr sz="1298" b="1">
                <a:solidFill>
                  <a:srgbClr val="002C5F"/>
                </a:solidFill>
                <a:latin typeface="Arial"/>
                <a:ea typeface="Arial"/>
                <a:cs typeface="Arial"/>
              </a:defRPr>
            </a:lvl8pPr>
            <a:lvl9pPr algn="l">
              <a:defRPr sz="1298" b="1">
                <a:solidFill>
                  <a:srgbClr val="002C5F"/>
                </a:solidFill>
                <a:latin typeface="Arial"/>
                <a:ea typeface="Arial"/>
                <a:cs typeface="Arial"/>
              </a:defRPr>
            </a:lvl9pPr>
          </a:lstStyle>
          <a:p xmlns:a="http://schemas.openxmlformats.org/drawingml/2006/main">
            <a:pPr algn="l">
              <a:defRPr sz="1298" b="1">
                <a:solidFill>
                  <a:srgbClr val="002C5F"/>
                </a:solidFill>
                <a:latin typeface="Arial"/>
                <a:ea typeface="Arial"/>
                <a:cs typeface="Arial"/>
              </a:defRPr>
            </a:pPr>
            <a:r>
              <a:rPr sz="1298" b="1">
                <a:solidFill>
                  <a:srgbClr val="002C5F"/>
                </a:solidFill>
                <a:latin typeface="Arial"/>
                <a:ea typeface="Arial"/>
                <a:cs typeface="Arial"/>
              </a:rPr>
              <a:t>18:40 IST</a:t>
            </a:r>
          </a:p>
        </p:txBody>
      </p:sp>
      <p:pic>
        <p:nvPicPr>
          <p:cNvPr id="40" name="">
            <a:extLst xmlns:a="http://schemas.openxmlformats.org/drawingml/2006/main">
              <a:ext uri="{FF2B5EF4-FFF2-40B4-BE49-F238E27FC236}">
                <a16:creationId xmlns:a16="http://schemas.microsoft.com/office/drawing/2014/main" id="{B0FE3531-34A1-4F12-B7AA-0EA966D2CEF2}"/>
              </a:ext>
            </a:extLst>
          </p:cNvPr>
          <p:cNvPicPr>
            <a:picLocks xmlns:a="http://schemas.openxmlformats.org/drawingml/2006/main" noChangeAspect="1"/>
          </p:cNvPicPr>
          <p:nvPr/>
        </p:nvPicPr>
        <p:blipFill>
          <a:blip xmlns:r="http://schemas.openxmlformats.org/officeDocument/2006/relationships" xmlns:a="http://schemas.openxmlformats.org/drawingml/2006/main" r:embed="R0f1ab64c61064a06"/>
          <a:srcRect xmlns:a="http://schemas.openxmlformats.org/drawingml/2006/main" l="37396" t="31944" r="37500" b="7870"/>
          <a:stretch xmlns:a="http://schemas.openxmlformats.org/drawingml/2006/main"/>
        </p:blipFill>
        <p:spPr>
          <a:xfrm xmlns:a="http://schemas.openxmlformats.org/drawingml/2006/main">
            <a:off x="7019925" y="1800225"/>
            <a:ext cx="1466850" cy="1978343"/>
          </a:xfrm>
          <a:prstGeom xmlns:a="http://schemas.openxmlformats.org/drawingml/2006/main" prst="rect">
            <a:avLst/>
          </a:prstGeom>
        </p:spPr>
      </p:pic>
      <p:sp>
        <p:nvSpPr>
          <p:cNvPr id="41" name="Distance and progress 4">
            <a:extLst xmlns:a="http://schemas.openxmlformats.org/drawingml/2006/main">
              <a:ext uri="{FF2B5EF4-FFF2-40B4-BE49-F238E27FC236}">
                <a16:creationId xmlns:a16="http://schemas.microsoft.com/office/drawing/2014/main" id="{6DD1A78F-B641-408C-8807-CA8E995C7A5B}"/>
              </a:ext>
            </a:extLst>
          </p:cNvPr>
          <p:cNvSpPr>
            <a:spLocks xmlns:a="http://schemas.openxmlformats.org/drawingml/2006/main" noGrp="1"/>
          </p:cNvSpPr>
          <p:nvPr/>
        </p:nvSpPr>
        <p:spPr>
          <a:xfrm xmlns:a="http://schemas.openxmlformats.org/drawingml/2006/main">
            <a:off x="7019925" y="3914775"/>
            <a:ext cx="14859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64 m remaining</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96% progress</a:t>
            </a:r>
          </a:p>
        </p:txBody>
      </p:sp>
      <p:sp>
        <p:nvSpPr>
          <p:cNvPr id="42" name="Evidence scope">
            <a:extLst xmlns:a="http://schemas.openxmlformats.org/drawingml/2006/main">
              <a:ext uri="{FF2B5EF4-FFF2-40B4-BE49-F238E27FC236}">
                <a16:creationId xmlns:a16="http://schemas.microsoft.com/office/drawing/2014/main" id="{8B4291AC-0B13-4F28-A106-F182BA286122}"/>
              </a:ext>
            </a:extLst>
          </p:cNvPr>
          <p:cNvSpPr>
            <a:spLocks xmlns:a="http://schemas.openxmlformats.org/drawingml/2006/main" noGrp="1"/>
          </p:cNvSpPr>
          <p:nvPr/>
        </p:nvSpPr>
        <p:spPr>
          <a:xfrm xmlns:a="http://schemas.openxmlformats.org/drawingml/2006/main">
            <a:off x="657225" y="4410075"/>
            <a:ext cx="7781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These frames show changing route progress. The last view is near arrival, with 64 m still remaining.</a:t>
            </a:r>
          </a:p>
        </p:txBody>
      </p:sp>
    </p:spTree>
    <p:extLst>
      <p:ext uri="{BB962C8B-B14F-4D97-AF65-F5344CB8AC3E}">
        <p14:creationId xmlns:p14="http://schemas.microsoft.com/office/powerpoint/2010/main" val="46743983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Evidence from the saved trip export</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20</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available export provides completed-trip metadata and explicit choice events</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844E025A-983C-6D44-79C6-4612AACD43FC}" type="slidenum">
              <a:rPr sz="900" b="0">
                <a:solidFill>
                  <a:srgbClr val="626B73"/>
                </a:solidFill>
                <a:latin typeface="Arial"/>
                <a:ea typeface="Arial"/>
                <a:cs typeface="Arial"/>
              </a:rPr>
              <a:t>20</a:t>
            </a:fld>
            <a:endParaRPr/>
          </a:p>
        </p:txBody>
      </p:sp>
      <p:sp>
        <p:nvSpPr>
          <p:cNvPr id="26" name="Source note">
            <a:extLst xmlns:a="http://schemas.openxmlformats.org/drawingml/2006/main">
              <a:ext uri="{FF2B5EF4-FFF2-40B4-BE49-F238E27FC236}">
                <a16:creationId xmlns:a16="http://schemas.microsoft.com/office/drawing/2014/main" id="{29270BF4-CBD9-436A-865D-CCC148B7FA39}"/>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 InVehicle_History_2026-10-17 (3).json, supplied by the author [S3]</a:t>
            </a:r>
          </a:p>
        </p:txBody>
      </p:sp>
      <p:graphicFrame>
        <p:nvGraphicFramePr>
          <p:cNvPr id="27" name="">
            <a:extLst xmlns:a="http://schemas.openxmlformats.org/drawingml/2006/main">
              <a:ext uri="{FF2B5EF4-FFF2-40B4-BE49-F238E27FC236}">
                <a16:creationId xmlns:a16="http://schemas.microsoft.com/office/drawing/2014/main" id="{0BBBE999-9BF0-414C-9962-CA6BF53B9A48}"/>
              </a:ext>
            </a:extLst>
          </p:cNvPr>
          <p:cNvGraphicFramePr/>
          <p:nvPr/>
        </p:nvGraphicFramePr>
        <p:xfrm>
          <a:off xmlns:a="http://schemas.openxmlformats.org/drawingml/2006/main" x="657225" y="1390650"/>
          <a:ext xmlns:a="http://schemas.openxmlformats.org/drawingml/2006/main" cx="7829550" cy="1400175"/>
        </p:xfrm>
        <a:graphic xmlns:a="http://schemas.openxmlformats.org/drawingml/2006/main">
          <a:graphicData uri="http://schemas.openxmlformats.org/drawingml/2006/table">
            <a:tbl>
              <a:tblPr firstRow="1" bandRow="0"/>
              <a:tblGrid>
                <a:gridCol w="1095375"/>
                <a:gridCol w="1905000"/>
                <a:gridCol w="1714500"/>
                <a:gridCol w="1428750"/>
                <a:gridCol w="1685925"/>
              </a:tblGrid>
              <a:tr h="350044">
                <a:tc>
                  <a:txBody>
                    <a:bodyPr wrap="square">
                      <a:noAutofit/>
                    </a:bodyPr>
                    <a:lstStyle/>
                    <a:p>
                      <a:pPr algn="l"/>
                      <a:r>
                        <a:rPr sz="1275" b="1">
                          <a:solidFill>
                            <a:srgbClr val="FFFFFF"/>
                          </a:solidFill>
                          <a:latin typeface="Arial"/>
                          <a:ea typeface="Arial"/>
                          <a:cs typeface="Arial"/>
                        </a:rPr>
                        <a:t>Record</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75" b="1">
                          <a:solidFill>
                            <a:srgbClr val="FFFFFF"/>
                          </a:solidFill>
                          <a:latin typeface="Arial"/>
                          <a:ea typeface="Arial"/>
                          <a:cs typeface="Arial"/>
                        </a:rPr>
                        <a:t>Date</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75" b="1">
                          <a:solidFill>
                            <a:srgbClr val="FFFFFF"/>
                          </a:solidFill>
                          <a:latin typeface="Arial"/>
                          <a:ea typeface="Arial"/>
                          <a:cs typeface="Arial"/>
                        </a:rPr>
                        <a:t>Departure IST</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75" b="1">
                          <a:solidFill>
                            <a:srgbClr val="FFFFFF"/>
                          </a:solidFill>
                          <a:latin typeface="Arial"/>
                          <a:ea typeface="Arial"/>
                          <a:cs typeface="Arial"/>
                        </a:rPr>
                        <a:t>Source</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75" b="1">
                          <a:solidFill>
                            <a:srgbClr val="FFFFFF"/>
                          </a:solidFill>
                          <a:latin typeface="Arial"/>
                          <a:ea typeface="Arial"/>
                          <a:cs typeface="Arial"/>
                        </a:rPr>
                        <a:t>Completed</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350044">
                <a:tc>
                  <a:txBody>
                    <a:bodyPr wrap="square">
                      <a:noAutofit/>
                    </a:bodyPr>
                    <a:lstStyle/>
                    <a:p>
                      <a:pPr algn="l"/>
                      <a:r>
                        <a:rPr sz="1275" b="0">
                          <a:solidFill>
                            <a:srgbClr val="002C5F"/>
                          </a:solidFill>
                          <a:latin typeface="Arial"/>
                          <a:ea typeface="Arial"/>
                          <a:cs typeface="Arial"/>
                        </a:rPr>
                        <a:t>gps-1</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75" b="0">
                          <a:solidFill>
                            <a:srgbClr val="002C5F"/>
                          </a:solidFill>
                          <a:latin typeface="Arial"/>
                          <a:ea typeface="Arial"/>
                          <a:cs typeface="Arial"/>
                        </a:rPr>
                        <a:t>2026-10-17</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75" b="0">
                          <a:solidFill>
                            <a:srgbClr val="002C5F"/>
                          </a:solidFill>
                          <a:latin typeface="Arial"/>
                          <a:ea typeface="Arial"/>
                          <a:cs typeface="Arial"/>
                        </a:rPr>
                        <a:t>12:09</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75" b="0">
                          <a:solidFill>
                            <a:srgbClr val="002C5F"/>
                          </a:solidFill>
                          <a:latin typeface="Arial"/>
                          <a:ea typeface="Arial"/>
                          <a:cs typeface="Arial"/>
                        </a:rPr>
                        <a:t>gps</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75" b="0">
                          <a:solidFill>
                            <a:srgbClr val="002C5F"/>
                          </a:solidFill>
                          <a:latin typeface="Arial"/>
                          <a:ea typeface="Arial"/>
                          <a:cs typeface="Arial"/>
                        </a:rPr>
                        <a:t>yes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50044">
                <a:tc>
                  <a:txBody>
                    <a:bodyPr wrap="square">
                      <a:noAutofit/>
                    </a:bodyPr>
                    <a:lstStyle/>
                    <a:p>
                      <a:pPr algn="l"/>
                      <a:r>
                        <a:rPr sz="1275" b="0">
                          <a:solidFill>
                            <a:srgbClr val="002C5F"/>
                          </a:solidFill>
                          <a:latin typeface="Arial"/>
                          <a:ea typeface="Arial"/>
                          <a:cs typeface="Arial"/>
                        </a:rPr>
                        <a:t>gps-2</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75" b="0">
                          <a:solidFill>
                            <a:srgbClr val="002C5F"/>
                          </a:solidFill>
                          <a:latin typeface="Arial"/>
                          <a:ea typeface="Arial"/>
                          <a:cs typeface="Arial"/>
                        </a:rPr>
                        <a:t>2026-10-17</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75" b="0">
                          <a:solidFill>
                            <a:srgbClr val="002C5F"/>
                          </a:solidFill>
                          <a:latin typeface="Arial"/>
                          <a:ea typeface="Arial"/>
                          <a:cs typeface="Arial"/>
                        </a:rPr>
                        <a:t>12:49</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75" b="0">
                          <a:solidFill>
                            <a:srgbClr val="002C5F"/>
                          </a:solidFill>
                          <a:latin typeface="Arial"/>
                          <a:ea typeface="Arial"/>
                          <a:cs typeface="Arial"/>
                        </a:rPr>
                        <a:t>gps</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75" b="0">
                          <a:solidFill>
                            <a:srgbClr val="002C5F"/>
                          </a:solidFill>
                          <a:latin typeface="Arial"/>
                          <a:ea typeface="Arial"/>
                          <a:cs typeface="Arial"/>
                        </a:rPr>
                        <a:t>yes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350044">
                <a:tc>
                  <a:txBody>
                    <a:bodyPr wrap="square">
                      <a:noAutofit/>
                    </a:bodyPr>
                    <a:lstStyle/>
                    <a:p>
                      <a:pPr algn="l"/>
                      <a:r>
                        <a:rPr sz="1275" b="0">
                          <a:solidFill>
                            <a:srgbClr val="002C5F"/>
                          </a:solidFill>
                          <a:latin typeface="Arial"/>
                          <a:ea typeface="Arial"/>
                          <a:cs typeface="Arial"/>
                        </a:rPr>
                        <a:t>gps-3</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75" b="0">
                          <a:solidFill>
                            <a:srgbClr val="002C5F"/>
                          </a:solidFill>
                          <a:latin typeface="Arial"/>
                          <a:ea typeface="Arial"/>
                          <a:cs typeface="Arial"/>
                        </a:rPr>
                        <a:t>2026-10-17</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75" b="0">
                          <a:solidFill>
                            <a:srgbClr val="002C5F"/>
                          </a:solidFill>
                          <a:latin typeface="Arial"/>
                          <a:ea typeface="Arial"/>
                          <a:cs typeface="Arial"/>
                        </a:rPr>
                        <a:t>18:16</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75" b="0">
                          <a:solidFill>
                            <a:srgbClr val="002C5F"/>
                          </a:solidFill>
                          <a:latin typeface="Arial"/>
                          <a:ea typeface="Arial"/>
                          <a:cs typeface="Arial"/>
                        </a:rPr>
                        <a:t>gps</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75" b="0">
                          <a:solidFill>
                            <a:srgbClr val="002C5F"/>
                          </a:solidFill>
                          <a:latin typeface="Arial"/>
                          <a:ea typeface="Arial"/>
                          <a:cs typeface="Arial"/>
                        </a:rPr>
                        <a:t>yes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Feedback evidence heading">
            <a:extLst xmlns:a="http://schemas.openxmlformats.org/drawingml/2006/main">
              <a:ext uri="{FF2B5EF4-FFF2-40B4-BE49-F238E27FC236}">
                <a16:creationId xmlns:a16="http://schemas.microsoft.com/office/drawing/2014/main" id="{0A03A521-3D56-4DE7-BB67-3AE360CD075B}"/>
              </a:ext>
            </a:extLst>
          </p:cNvPr>
          <p:cNvSpPr>
            <a:spLocks xmlns:a="http://schemas.openxmlformats.org/drawingml/2006/main" noGrp="1"/>
          </p:cNvSpPr>
          <p:nvPr/>
        </p:nvSpPr>
        <p:spPr>
          <a:xfrm xmlns:a="http://schemas.openxmlformats.org/drawingml/2006/main">
            <a:off x="657225" y="3009900"/>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Retained feedback in this export</a:t>
            </a:r>
          </a:p>
        </p:txBody>
      </p:sp>
      <p:sp>
        <p:nvSpPr>
          <p:cNvPr id="29" name="Feedback evidence">
            <a:extLst xmlns:a="http://schemas.openxmlformats.org/drawingml/2006/main">
              <a:ext uri="{FF2B5EF4-FFF2-40B4-BE49-F238E27FC236}">
                <a16:creationId xmlns:a16="http://schemas.microsoft.com/office/drawing/2014/main" id="{79BB15EC-E281-47FE-828A-C43BF53C4A5F}"/>
              </a:ext>
            </a:extLst>
          </p:cNvPr>
          <p:cNvSpPr>
            <a:spLocks xmlns:a="http://schemas.openxmlformats.org/drawingml/2006/main" noGrp="1"/>
          </p:cNvSpPr>
          <p:nvPr/>
        </p:nvSpPr>
        <p:spPr>
          <a:xfrm xmlns:a="http://schemas.openxmlformats.org/drawingml/2006/main">
            <a:off x="657225" y="3333750"/>
            <a:ext cx="77819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One explicit event records an Accept for Naivedyam at lunchtime.</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Reconstructed venue preference is 0.60. The meals-category preference is also 0.60.</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No Reject event and no completed replay record appear in this particular export.</a:t>
            </a:r>
          </a:p>
        </p:txBody>
      </p:sp>
      <p:sp>
        <p:nvSpPr>
          <p:cNvPr id="30" name="Session count caution">
            <a:extLst xmlns:a="http://schemas.openxmlformats.org/drawingml/2006/main">
              <a:ext uri="{FF2B5EF4-FFF2-40B4-BE49-F238E27FC236}">
                <a16:creationId xmlns:a16="http://schemas.microsoft.com/office/drawing/2014/main" id="{27E0EE97-5269-4AC9-85A6-ADAEE520B12E}"/>
              </a:ext>
            </a:extLst>
          </p:cNvPr>
          <p:cNvSpPr>
            <a:spLocks xmlns:a="http://schemas.openxmlformats.org/drawingml/2006/main" noGrp="1"/>
          </p:cNvSpPr>
          <p:nvPr/>
        </p:nvSpPr>
        <p:spPr>
          <a:xfrm xmlns:a="http://schemas.openxmlformats.org/drawingml/2006/main">
            <a:off x="657225" y="4267200"/>
            <a:ext cx="7781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002C5F"/>
                </a:solidFill>
                <a:latin typeface="Arial"/>
                <a:ea typeface="Arial"/>
                <a:cs typeface="Arial"/>
              </a:defRPr>
            </a:defPPr>
            <a:lvl1pPr algn="l">
              <a:defRPr sz="1073" b="0">
                <a:solidFill>
                  <a:srgbClr val="002C5F"/>
                </a:solidFill>
                <a:latin typeface="Arial"/>
                <a:ea typeface="Arial"/>
                <a:cs typeface="Arial"/>
              </a:defRPr>
            </a:lvl1pPr>
            <a:lvl2pPr algn="l">
              <a:defRPr sz="1073" b="0">
                <a:solidFill>
                  <a:srgbClr val="002C5F"/>
                </a:solidFill>
                <a:latin typeface="Arial"/>
                <a:ea typeface="Arial"/>
                <a:cs typeface="Arial"/>
              </a:defRPr>
            </a:lvl2pPr>
            <a:lvl3pPr algn="l">
              <a:defRPr sz="1073" b="0">
                <a:solidFill>
                  <a:srgbClr val="002C5F"/>
                </a:solidFill>
                <a:latin typeface="Arial"/>
                <a:ea typeface="Arial"/>
                <a:cs typeface="Arial"/>
              </a:defRPr>
            </a:lvl3pPr>
            <a:lvl4pPr algn="l">
              <a:defRPr sz="1073" b="0">
                <a:solidFill>
                  <a:srgbClr val="002C5F"/>
                </a:solidFill>
                <a:latin typeface="Arial"/>
                <a:ea typeface="Arial"/>
                <a:cs typeface="Arial"/>
              </a:defRPr>
            </a:lvl4pPr>
            <a:lvl5pPr algn="l">
              <a:defRPr sz="1073" b="0">
                <a:solidFill>
                  <a:srgbClr val="002C5F"/>
                </a:solidFill>
                <a:latin typeface="Arial"/>
                <a:ea typeface="Arial"/>
                <a:cs typeface="Arial"/>
              </a:defRPr>
            </a:lvl5pPr>
            <a:lvl6pPr algn="l">
              <a:defRPr sz="1073" b="0">
                <a:solidFill>
                  <a:srgbClr val="002C5F"/>
                </a:solidFill>
                <a:latin typeface="Arial"/>
                <a:ea typeface="Arial"/>
                <a:cs typeface="Arial"/>
              </a:defRPr>
            </a:lvl6pPr>
            <a:lvl7pPr algn="l">
              <a:defRPr sz="1073" b="0">
                <a:solidFill>
                  <a:srgbClr val="002C5F"/>
                </a:solidFill>
                <a:latin typeface="Arial"/>
                <a:ea typeface="Arial"/>
                <a:cs typeface="Arial"/>
              </a:defRPr>
            </a:lvl7pPr>
            <a:lvl8pPr algn="l">
              <a:defRPr sz="1073" b="0">
                <a:solidFill>
                  <a:srgbClr val="002C5F"/>
                </a:solidFill>
                <a:latin typeface="Arial"/>
                <a:ea typeface="Arial"/>
                <a:cs typeface="Arial"/>
              </a:defRPr>
            </a:lvl8pPr>
            <a:lvl9pPr algn="l">
              <a:defRPr sz="1073" b="0">
                <a:solidFill>
                  <a:srgbClr val="002C5F"/>
                </a:solidFill>
                <a:latin typeface="Arial"/>
                <a:ea typeface="Arial"/>
                <a:cs typeface="Arial"/>
              </a:defRPr>
            </a:lvl9pPr>
          </a:lstStyle>
          <a:p xmlns:a="http://schemas.openxmlformats.org/drawingml/2006/main">
            <a:pPr algn="l">
              <a:defRPr sz="1073" b="0">
                <a:solidFill>
                  <a:srgbClr val="002C5F"/>
                </a:solidFill>
                <a:latin typeface="Arial"/>
                <a:ea typeface="Arial"/>
                <a:cs typeface="Arial"/>
              </a:defRPr>
            </a:pPr>
            <a:r>
              <a:rPr sz="1073" b="0">
                <a:solidFill>
                  <a:srgbClr val="002C5F"/>
                </a:solidFill>
                <a:latin typeface="Arial"/>
                <a:ea typeface="Arial"/>
                <a:cs typeface="Arial"/>
              </a:rPr>
              <a:t>The profile also contains 45 session entries, many without feedback. Starts and resets create such entries.</a:t>
            </a:r>
          </a:p>
          <a:p xmlns:a="http://schemas.openxmlformats.org/drawingml/2006/main">
            <a:pPr algn="l">
              <a:defRPr sz="1073" b="0">
                <a:solidFill>
                  <a:srgbClr val="002C5F"/>
                </a:solidFill>
                <a:latin typeface="Arial"/>
                <a:ea typeface="Arial"/>
                <a:cs typeface="Arial"/>
              </a:defRPr>
            </a:pPr>
            <a:r>
              <a:rPr sz="1073" b="0">
                <a:solidFill>
                  <a:srgbClr val="002C5F"/>
                </a:solidFill>
                <a:latin typeface="Arial"/>
                <a:ea typeface="Arial"/>
                <a:cs typeface="Arial"/>
              </a:rPr>
              <a:t>They must not be counted as 45 completed journeys or 45 independent learning observations.</a:t>
            </a:r>
          </a:p>
        </p:txBody>
      </p:sp>
    </p:spTree>
    <p:extLst>
      <p:ext uri="{BB962C8B-B14F-4D97-AF65-F5344CB8AC3E}">
        <p14:creationId xmlns:p14="http://schemas.microsoft.com/office/powerpoint/2010/main" val="46743983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Data persistence and backup</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21</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phone stores app history locally, scoped to its web origin</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F6DF2BE2-2DFA-1C03-677D-BDC2260D6D92}" type="slidenum">
              <a:rPr sz="900" b="0">
                <a:solidFill>
                  <a:srgbClr val="626B73"/>
                </a:solidFill>
                <a:latin typeface="Arial"/>
                <a:ea typeface="Arial"/>
                <a:cs typeface="Arial"/>
              </a:rPr>
              <a:t>21</a:t>
            </a:fld>
            <a:endParaRPr/>
          </a:p>
        </p:txBody>
      </p:sp>
      <p:sp>
        <p:nvSpPr>
          <p:cNvPr id="26" name="Source note">
            <a:extLst xmlns:a="http://schemas.openxmlformats.org/drawingml/2006/main">
              <a:ext uri="{FF2B5EF4-FFF2-40B4-BE49-F238E27FC236}">
                <a16:creationId xmlns:a16="http://schemas.microsoft.com/office/drawing/2014/main" id="{DA20CF9D-2C4F-4E9C-8A86-D13AD837548A}"/>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persistLearning(), persistHistory() and history-backup.js [S1]</a:t>
            </a:r>
          </a:p>
        </p:txBody>
      </p:sp>
      <p:graphicFrame>
        <p:nvGraphicFramePr>
          <p:cNvPr id="27" name="">
            <a:extLst xmlns:a="http://schemas.openxmlformats.org/drawingml/2006/main">
              <a:ext uri="{FF2B5EF4-FFF2-40B4-BE49-F238E27FC236}">
                <a16:creationId xmlns:a16="http://schemas.microsoft.com/office/drawing/2014/main" id="{D731DECA-627B-499B-8833-6F61F666140C}"/>
              </a:ext>
            </a:extLst>
          </p:cNvPr>
          <p:cNvGraphicFramePr/>
          <p:nvPr/>
        </p:nvGraphicFramePr>
        <p:xfrm>
          <a:off xmlns:a="http://schemas.openxmlformats.org/drawingml/2006/main" x="657225" y="1419225"/>
          <a:ext xmlns:a="http://schemas.openxmlformats.org/drawingml/2006/main" cx="7829550" cy="2524125"/>
        </p:xfrm>
        <a:graphic xmlns:a="http://schemas.openxmlformats.org/drawingml/2006/main">
          <a:graphicData uri="http://schemas.openxmlformats.org/drawingml/2006/table">
            <a:tbl>
              <a:tblPr firstRow="1" bandRow="0"/>
              <a:tblGrid>
                <a:gridCol w="1905000"/>
                <a:gridCol w="5924550"/>
              </a:tblGrid>
              <a:tr h="420688">
                <a:tc>
                  <a:txBody>
                    <a:bodyPr wrap="square">
                      <a:noAutofit/>
                    </a:bodyPr>
                    <a:lstStyle/>
                    <a:p>
                      <a:pPr algn="l"/>
                      <a:r>
                        <a:rPr sz="1223" b="1">
                          <a:solidFill>
                            <a:srgbClr val="FFFFFF"/>
                          </a:solidFill>
                          <a:latin typeface="Arial"/>
                          <a:ea typeface="Arial"/>
                          <a:cs typeface="Arial"/>
                        </a:rPr>
                        <a:t>Data</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Storage and lifecycle</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20688">
                <a:tc>
                  <a:txBody>
                    <a:bodyPr wrap="square">
                      <a:noAutofit/>
                    </a:bodyPr>
                    <a:lstStyle/>
                    <a:p>
                      <a:pPr algn="l"/>
                      <a:r>
                        <a:rPr sz="1223" b="0">
                          <a:solidFill>
                            <a:srgbClr val="002C5F"/>
                          </a:solidFill>
                          <a:latin typeface="Arial"/>
                          <a:ea typeface="Arial"/>
                          <a:cs typeface="Arial"/>
                        </a:rPr>
                        <a:t>Choice profile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localStorage retains trip sessions and explicit venue/category choice events.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20688">
                <a:tc>
                  <a:txBody>
                    <a:bodyPr wrap="square">
                      <a:noAutofit/>
                    </a:bodyPr>
                    <a:lstStyle/>
                    <a:p>
                      <a:pPr algn="l"/>
                      <a:r>
                        <a:rPr sz="1223" b="0">
                          <a:solidFill>
                            <a:srgbClr val="002C5F"/>
                          </a:solidFill>
                          <a:latin typeface="Arial"/>
                          <a:ea typeface="Arial"/>
                          <a:cs typeface="Arial"/>
                        </a:rPr>
                        <a:t>Completed-trip history</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A separate localStorage record retains source, date, departure and endpoints.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20688">
                <a:tc>
                  <a:txBody>
                    <a:bodyPr wrap="square">
                      <a:noAutofit/>
                    </a:bodyPr>
                    <a:lstStyle/>
                    <a:p>
                      <a:pPr algn="l"/>
                      <a:r>
                        <a:rPr sz="1223" b="0">
                          <a:solidFill>
                            <a:srgbClr val="002C5F"/>
                          </a:solidFill>
                          <a:latin typeface="Arial"/>
                          <a:ea typeface="Arial"/>
                          <a:cs typeface="Arial"/>
                        </a:rPr>
                        <a:t>Current journey state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Progress, planned stops, cart and demo receipts are transient.</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20688">
                <a:tc>
                  <a:txBody>
                    <a:bodyPr wrap="square">
                      <a:noAutofit/>
                    </a:bodyPr>
                    <a:lstStyle/>
                    <a:p>
                      <a:pPr algn="l"/>
                      <a:r>
                        <a:rPr sz="1223" b="0">
                          <a:solidFill>
                            <a:srgbClr val="002C5F"/>
                          </a:solidFill>
                          <a:latin typeface="Arial"/>
                          <a:ea typeface="Arial"/>
                          <a:cs typeface="Arial"/>
                        </a:rPr>
                        <a:t>Backup</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JSON export includes the choice profile and completed-trip history for this route.</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20688">
                <a:tc>
                  <a:txBody>
                    <a:bodyPr wrap="square">
                      <a:noAutofit/>
                    </a:bodyPr>
                    <a:lstStyle/>
                    <a:p>
                      <a:pPr algn="l"/>
                      <a:r>
                        <a:rPr sz="1223" b="0">
                          <a:solidFill>
                            <a:srgbClr val="002C5F"/>
                          </a:solidFill>
                          <a:latin typeface="Arial"/>
                          <a:ea typeface="Arial"/>
                          <a:cs typeface="Arial"/>
                        </a:rPr>
                        <a:t>Restore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Validate format, route and records, preview counts, then explicitly replace local history.</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Data boundary">
            <a:extLst xmlns:a="http://schemas.openxmlformats.org/drawingml/2006/main">
              <a:ext uri="{FF2B5EF4-FFF2-40B4-BE49-F238E27FC236}">
                <a16:creationId xmlns:a16="http://schemas.microsoft.com/office/drawing/2014/main" id="{E6C55157-5A88-4FF9-B76A-D11259B4E743}"/>
              </a:ext>
            </a:extLst>
          </p:cNvPr>
          <p:cNvSpPr>
            <a:spLocks xmlns:a="http://schemas.openxmlformats.org/drawingml/2006/main" noGrp="1"/>
          </p:cNvSpPr>
          <p:nvPr/>
        </p:nvSpPr>
        <p:spPr>
          <a:xfrm xmlns:a="http://schemas.openxmlformats.org/drawingml/2006/main">
            <a:off x="657225" y="4095750"/>
            <a:ext cx="77819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The app stores no continuous GPS trajectory in the backup and uses no server database.</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A different host or device needs a backup transfer. Ordinary trip reset keeps the saved history.</a:t>
            </a:r>
          </a:p>
        </p:txBody>
      </p:sp>
    </p:spTree>
    <p:extLst>
      <p:ext uri="{BB962C8B-B14F-4D97-AF65-F5344CB8AC3E}">
        <p14:creationId xmlns:p14="http://schemas.microsoft.com/office/powerpoint/2010/main" val="46743983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025" b="1">
                <a:solidFill>
                  <a:srgbClr val="002C5F"/>
                </a:solidFill>
                <a:latin typeface="Arial"/>
                <a:ea typeface="Arial"/>
                <a:cs typeface="Arial"/>
              </a:defRPr>
            </a:defPPr>
            <a:lvl1pPr>
              <a:defRPr sz="2025" b="1">
                <a:solidFill>
                  <a:srgbClr val="002C5F"/>
                </a:solidFill>
                <a:latin typeface="Arial"/>
                <a:ea typeface="Arial"/>
                <a:cs typeface="Arial"/>
              </a:defRPr>
            </a:lvl1pPr>
            <a:lvl2pPr>
              <a:defRPr sz="2025" b="1">
                <a:solidFill>
                  <a:srgbClr val="002C5F"/>
                </a:solidFill>
                <a:latin typeface="Arial"/>
                <a:ea typeface="Arial"/>
                <a:cs typeface="Arial"/>
              </a:defRPr>
            </a:lvl2pPr>
            <a:lvl3pPr>
              <a:defRPr sz="2025" b="1">
                <a:solidFill>
                  <a:srgbClr val="002C5F"/>
                </a:solidFill>
                <a:latin typeface="Arial"/>
                <a:ea typeface="Arial"/>
                <a:cs typeface="Arial"/>
              </a:defRPr>
            </a:lvl3pPr>
            <a:lvl4pPr>
              <a:defRPr sz="2025" b="1">
                <a:solidFill>
                  <a:srgbClr val="002C5F"/>
                </a:solidFill>
                <a:latin typeface="Arial"/>
                <a:ea typeface="Arial"/>
                <a:cs typeface="Arial"/>
              </a:defRPr>
            </a:lvl4pPr>
            <a:lvl5pPr>
              <a:defRPr sz="2025" b="1">
                <a:solidFill>
                  <a:srgbClr val="002C5F"/>
                </a:solidFill>
                <a:latin typeface="Arial"/>
                <a:ea typeface="Arial"/>
                <a:cs typeface="Arial"/>
              </a:defRPr>
            </a:lvl5pPr>
            <a:lvl6pPr>
              <a:defRPr sz="2025" b="1">
                <a:solidFill>
                  <a:srgbClr val="002C5F"/>
                </a:solidFill>
                <a:latin typeface="Arial"/>
                <a:ea typeface="Arial"/>
                <a:cs typeface="Arial"/>
              </a:defRPr>
            </a:lvl6pPr>
            <a:lvl7pPr>
              <a:defRPr sz="2025" b="1">
                <a:solidFill>
                  <a:srgbClr val="002C5F"/>
                </a:solidFill>
                <a:latin typeface="Arial"/>
                <a:ea typeface="Arial"/>
                <a:cs typeface="Arial"/>
              </a:defRPr>
            </a:lvl7pPr>
            <a:lvl8pPr>
              <a:defRPr sz="2025" b="1">
                <a:solidFill>
                  <a:srgbClr val="002C5F"/>
                </a:solidFill>
                <a:latin typeface="Arial"/>
                <a:ea typeface="Arial"/>
                <a:cs typeface="Arial"/>
              </a:defRPr>
            </a:lvl8pPr>
            <a:lvl9pPr>
              <a:defRPr sz="2025" b="1">
                <a:solidFill>
                  <a:srgbClr val="002C5F"/>
                </a:solidFill>
                <a:latin typeface="Arial"/>
                <a:ea typeface="Arial"/>
                <a:cs typeface="Arial"/>
              </a:defRPr>
            </a:lvl9pPr>
          </a:lstStyle>
          <a:p xmlns:a="http://schemas.openxmlformats.org/drawingml/2006/main">
            <a:pPr marL="0" indent="0" algn="l">
              <a:buNone/>
              <a:defRPr sz="2025" b="1">
                <a:solidFill>
                  <a:srgbClr val="002C5F"/>
                </a:solidFill>
                <a:latin typeface="Arial"/>
                <a:ea typeface="Arial"/>
                <a:cs typeface="Arial"/>
              </a:defRPr>
            </a:pPr>
            <a:r>
              <a:rPr sz="2025" b="1">
                <a:solidFill>
                  <a:srgbClr val="002C5F"/>
                </a:solidFill>
                <a:latin typeface="Arial"/>
                <a:ea typeface="Arial"/>
                <a:cs typeface="Arial"/>
              </a:rPr>
              <a:t>Hosting, installation and offline behaviour</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22</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A progressive web app is a website installed and launched on the phone as an app</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0BB18BA8-60F4-C50D-CD9B-1BB87D3E8506}" type="slidenum">
              <a:rPr sz="900" b="0">
                <a:solidFill>
                  <a:srgbClr val="626B73"/>
                </a:solidFill>
                <a:latin typeface="Arial"/>
                <a:ea typeface="Arial"/>
                <a:cs typeface="Arial"/>
              </a:rPr>
              <a:t>22</a:t>
            </a:fld>
            <a:endParaRPr/>
          </a:p>
        </p:txBody>
      </p:sp>
      <p:sp>
        <p:nvSpPr>
          <p:cNvPr id="26" name="Source note">
            <a:extLst xmlns:a="http://schemas.openxmlformats.org/drawingml/2006/main">
              <a:ext uri="{FF2B5EF4-FFF2-40B4-BE49-F238E27FC236}">
                <a16:creationId xmlns:a16="http://schemas.microsoft.com/office/drawing/2014/main" id="{94B4C3E6-7051-4A81-8270-56BEA399E7CA}"/>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manifest.json, service-worker.js, pwa.js and final deployment configuration [S1]</a:t>
            </a:r>
          </a:p>
        </p:txBody>
      </p:sp>
      <p:graphicFrame>
        <p:nvGraphicFramePr>
          <p:cNvPr id="27" name="">
            <a:extLst xmlns:a="http://schemas.openxmlformats.org/drawingml/2006/main">
              <a:ext uri="{FF2B5EF4-FFF2-40B4-BE49-F238E27FC236}">
                <a16:creationId xmlns:a16="http://schemas.microsoft.com/office/drawing/2014/main" id="{6E091082-322B-4225-A070-10B5E007DE48}"/>
              </a:ext>
            </a:extLst>
          </p:cNvPr>
          <p:cNvGraphicFramePr/>
          <p:nvPr/>
        </p:nvGraphicFramePr>
        <p:xfrm>
          <a:off xmlns:a="http://schemas.openxmlformats.org/drawingml/2006/main" x="657225" y="1419225"/>
          <a:ext xmlns:a="http://schemas.openxmlformats.org/drawingml/2006/main" cx="7829550" cy="2505075"/>
        </p:xfrm>
        <a:graphic xmlns:a="http://schemas.openxmlformats.org/drawingml/2006/main">
          <a:graphicData uri="http://schemas.openxmlformats.org/drawingml/2006/table">
            <a:tbl>
              <a:tblPr firstRow="1" bandRow="0"/>
              <a:tblGrid>
                <a:gridCol w="1828800"/>
                <a:gridCol w="6000750"/>
              </a:tblGrid>
              <a:tr h="417513">
                <a:tc>
                  <a:txBody>
                    <a:bodyPr wrap="square">
                      <a:noAutofit/>
                    </a:bodyPr>
                    <a:lstStyle/>
                    <a:p>
                      <a:pPr algn="l"/>
                      <a:r>
                        <a:rPr sz="1223" b="1">
                          <a:solidFill>
                            <a:srgbClr val="FFFFFF"/>
                          </a:solidFill>
                          <a:latin typeface="Arial"/>
                          <a:ea typeface="Arial"/>
                          <a:cs typeface="Arial"/>
                        </a:rPr>
                        <a:t>Component</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223" b="1">
                          <a:solidFill>
                            <a:srgbClr val="FFFFFF"/>
                          </a:solidFill>
                          <a:latin typeface="Arial"/>
                          <a:ea typeface="Arial"/>
                          <a:cs typeface="Arial"/>
                        </a:rPr>
                        <a:t>Current implementation</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17513">
                <a:tc>
                  <a:txBody>
                    <a:bodyPr wrap="square">
                      <a:noAutofit/>
                    </a:bodyPr>
                    <a:lstStyle/>
                    <a:p>
                      <a:pPr algn="l"/>
                      <a:r>
                        <a:rPr sz="1223" b="0">
                          <a:solidFill>
                            <a:srgbClr val="002C5F"/>
                          </a:solidFill>
                          <a:latin typeface="Arial"/>
                          <a:ea typeface="Arial"/>
                          <a:cs typeface="Arial"/>
                        </a:rPr>
                        <a:t>Delivery</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Static HTML, CSS, JavaScript and JSON hosted over HTTPS on chatgpt.site.</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17513">
                <a:tc>
                  <a:txBody>
                    <a:bodyPr wrap="square">
                      <a:noAutofit/>
                    </a:bodyPr>
                    <a:lstStyle/>
                    <a:p>
                      <a:pPr algn="l"/>
                      <a:r>
                        <a:rPr sz="1223" b="0">
                          <a:solidFill>
                            <a:srgbClr val="002C5F"/>
                          </a:solidFill>
                          <a:latin typeface="Arial"/>
                          <a:ea typeface="Arial"/>
                          <a:cs typeface="Arial"/>
                        </a:rPr>
                        <a:t>Installed interface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Standalone portrait mode, app icons, start URL and scope defined in manifest.json.</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17513">
                <a:tc>
                  <a:txBody>
                    <a:bodyPr wrap="square">
                      <a:noAutofit/>
                    </a:bodyPr>
                    <a:lstStyle/>
                    <a:p>
                      <a:pPr algn="l"/>
                      <a:r>
                        <a:rPr sz="1223" b="0">
                          <a:solidFill>
                            <a:srgbClr val="002C5F"/>
                          </a:solidFill>
                          <a:latin typeface="Arial"/>
                          <a:ea typeface="Arial"/>
                          <a:cs typeface="Arial"/>
                        </a:rPr>
                        <a:t>Offline app files</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A versioned service worker caches the bundled app, route, menus and helper modules.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17513">
                <a:tc>
                  <a:txBody>
                    <a:bodyPr wrap="square">
                      <a:noAutofit/>
                    </a:bodyPr>
                    <a:lstStyle/>
                    <a:p>
                      <a:pPr algn="l"/>
                      <a:r>
                        <a:rPr sz="1223" b="0">
                          <a:solidFill>
                            <a:srgbClr val="002C5F"/>
                          </a:solidFill>
                          <a:latin typeface="Arial"/>
                          <a:ea typeface="Arial"/>
                          <a:cs typeface="Arial"/>
                        </a:rPr>
                        <a:t>Maps</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223" b="0">
                          <a:solidFill>
                            <a:srgbClr val="002C5F"/>
                          </a:solidFill>
                          <a:latin typeface="Arial"/>
                          <a:ea typeface="Arial"/>
                          <a:cs typeface="Arial"/>
                        </a:rPr>
                        <a:t>OpenStreetMap tiles remain network resources. The route has a plain-background fallback.</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17513">
                <a:tc>
                  <a:txBody>
                    <a:bodyPr wrap="square">
                      <a:noAutofit/>
                    </a:bodyPr>
                    <a:lstStyle/>
                    <a:p>
                      <a:pPr algn="l"/>
                      <a:r>
                        <a:rPr sz="1223" b="0">
                          <a:solidFill>
                            <a:srgbClr val="002C5F"/>
                          </a:solidFill>
                          <a:latin typeface="Arial"/>
                          <a:ea typeface="Arial"/>
                          <a:cs typeface="Arial"/>
                        </a:rPr>
                        <a:t>Updates</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223" b="0">
                          <a:solidFill>
                            <a:srgbClr val="002C5F"/>
                          </a:solidFill>
                          <a:latin typeface="Arial"/>
                          <a:ea typeface="Arial"/>
                          <a:cs typeface="Arial"/>
                        </a:rPr>
                        <a:t>Keep one cached build together. The user activates an available app update.</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Offline limitation">
            <a:extLst xmlns:a="http://schemas.openxmlformats.org/drawingml/2006/main">
              <a:ext uri="{FF2B5EF4-FFF2-40B4-BE49-F238E27FC236}">
                <a16:creationId xmlns:a16="http://schemas.microsoft.com/office/drawing/2014/main" id="{20D97105-6A5E-4D6E-BFA2-DCFF26FD7421}"/>
              </a:ext>
            </a:extLst>
          </p:cNvPr>
          <p:cNvSpPr>
            <a:spLocks xmlns:a="http://schemas.openxmlformats.org/drawingml/2006/main" noGrp="1"/>
          </p:cNvSpPr>
          <p:nvPr/>
        </p:nvSpPr>
        <p:spPr>
          <a:xfrm xmlns:a="http://schemas.openxmlformats.org/drawingml/2006/main">
            <a:off x="657225" y="4086225"/>
            <a:ext cx="77819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Cached replay and menus can run without a connection. A usable live location still depends</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on the phone location service. Offline or airplane-mode GPS is not guaranteed.</a:t>
            </a:r>
          </a:p>
        </p:txBody>
      </p:sp>
    </p:spTree>
    <p:extLst>
      <p:ext uri="{BB962C8B-B14F-4D97-AF65-F5344CB8AC3E}">
        <p14:creationId xmlns:p14="http://schemas.microsoft.com/office/powerpoint/2010/main" val="46743983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Scope of the available evidence</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23</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Functional demonstration does not establish recommendation performance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A4E99CEF-AF55-BA3C-ADF8-4E52E186DD8F}" type="slidenum">
              <a:rPr sz="900" b="0">
                <a:solidFill>
                  <a:srgbClr val="626B73"/>
                </a:solidFill>
                <a:latin typeface="Arial"/>
                <a:ea typeface="Arial"/>
                <a:cs typeface="Arial"/>
              </a:rPr>
              <a:t>23</a:t>
            </a:fld>
            <a:endParaRPr/>
          </a:p>
        </p:txBody>
      </p:sp>
      <p:sp>
        <p:nvSpPr>
          <p:cNvPr id="26" name="Source note">
            <a:extLst xmlns:a="http://schemas.openxmlformats.org/drawingml/2006/main">
              <a:ext uri="{FF2B5EF4-FFF2-40B4-BE49-F238E27FC236}">
                <a16:creationId xmlns:a16="http://schemas.microsoft.com/office/drawing/2014/main" id="{22DBFBF4-F980-4A0A-90D0-B18DD2CC1A79}"/>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supplied screenshots and export, code review and author-confirmed demonstrations [S1-S5]</a:t>
            </a:r>
          </a:p>
        </p:txBody>
      </p:sp>
      <p:graphicFrame>
        <p:nvGraphicFramePr>
          <p:cNvPr id="27" name="">
            <a:extLst xmlns:a="http://schemas.openxmlformats.org/drawingml/2006/main">
              <a:ext uri="{FF2B5EF4-FFF2-40B4-BE49-F238E27FC236}">
                <a16:creationId xmlns:a16="http://schemas.microsoft.com/office/drawing/2014/main" id="{B53FF299-920D-45C2-8127-BEEC2EA6842E}"/>
              </a:ext>
            </a:extLst>
          </p:cNvPr>
          <p:cNvGraphicFramePr/>
          <p:nvPr/>
        </p:nvGraphicFramePr>
        <p:xfrm>
          <a:off xmlns:a="http://schemas.openxmlformats.org/drawingml/2006/main" x="657225" y="1381125"/>
          <a:ext xmlns:a="http://schemas.openxmlformats.org/drawingml/2006/main" cx="7829550" cy="2762250"/>
        </p:xfrm>
        <a:graphic xmlns:a="http://schemas.openxmlformats.org/drawingml/2006/main">
          <a:graphicData uri="http://schemas.openxmlformats.org/drawingml/2006/table">
            <a:tbl>
              <a:tblPr firstRow="1" bandRow="0"/>
              <a:tblGrid>
                <a:gridCol w="2000250"/>
                <a:gridCol w="2990850"/>
                <a:gridCol w="2838450"/>
              </a:tblGrid>
              <a:tr h="460375">
                <a:tc>
                  <a:txBody>
                    <a:bodyPr wrap="square">
                      <a:noAutofit/>
                    </a:bodyPr>
                    <a:lstStyle/>
                    <a:p>
                      <a:pPr algn="l"/>
                      <a:r>
                        <a:rPr sz="1177" b="1">
                          <a:solidFill>
                            <a:srgbClr val="FFFFFF"/>
                          </a:solidFill>
                          <a:latin typeface="Arial"/>
                          <a:ea typeface="Arial"/>
                          <a:cs typeface="Arial"/>
                        </a:rPr>
                        <a:t>Question</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77" b="1">
                          <a:solidFill>
                            <a:srgbClr val="FFFFFF"/>
                          </a:solidFill>
                          <a:latin typeface="Arial"/>
                          <a:ea typeface="Arial"/>
                          <a:cs typeface="Arial"/>
                        </a:rPr>
                        <a:t>Available support</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77" b="1">
                          <a:solidFill>
                            <a:srgbClr val="FFFFFF"/>
                          </a:solidFill>
                          <a:latin typeface="Arial"/>
                          <a:ea typeface="Arial"/>
                          <a:cs typeface="Arial"/>
                        </a:rPr>
                        <a:t>Current limit</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60375">
                <a:tc>
                  <a:txBody>
                    <a:bodyPr wrap="square">
                      <a:noAutofit/>
                    </a:bodyPr>
                    <a:lstStyle/>
                    <a:p>
                      <a:pPr algn="l"/>
                      <a:r>
                        <a:rPr sz="1177" b="0">
                          <a:solidFill>
                            <a:srgbClr val="002C5F"/>
                          </a:solidFill>
                          <a:latin typeface="Arial"/>
                          <a:ea typeface="Arial"/>
                          <a:cs typeface="Arial"/>
                        </a:rPr>
                        <a:t>Does the phone workflow run?</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Installed-app screenshots and author acceptance</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One author and one campus route</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60375">
                <a:tc>
                  <a:txBody>
                    <a:bodyPr wrap="square">
                      <a:noAutofit/>
                    </a:bodyPr>
                    <a:lstStyle/>
                    <a:p>
                      <a:pPr algn="l"/>
                      <a:r>
                        <a:rPr sz="1177" b="0">
                          <a:solidFill>
                            <a:srgbClr val="002C5F"/>
                          </a:solidFill>
                          <a:latin typeface="Arial"/>
                          <a:ea typeface="Arial"/>
                          <a:cs typeface="Arial"/>
                        </a:rPr>
                        <a:t>Do alerts precede a stop?</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77" b="0">
                          <a:solidFill>
                            <a:srgbClr val="002C5F"/>
                          </a:solidFill>
                          <a:latin typeface="Arial"/>
                          <a:ea typeface="Arial"/>
                          <a:cs typeface="Arial"/>
                        </a:rPr>
                        <a:t>Chaayos and Tealogy frames show 399 m and 397 m ahead</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77" b="0">
                          <a:solidFill>
                            <a:srgbClr val="002C5F"/>
                          </a:solidFill>
                          <a:latin typeface="Arial"/>
                          <a:ea typeface="Arial"/>
                          <a:cs typeface="Arial"/>
                        </a:rPr>
                        <a:t>No complete alert log or detection-rate denominator</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60375">
                <a:tc>
                  <a:txBody>
                    <a:bodyPr wrap="square">
                      <a:noAutofit/>
                    </a:bodyPr>
                    <a:lstStyle/>
                    <a:p>
                      <a:pPr algn="l"/>
                      <a:r>
                        <a:rPr sz="1177" b="0">
                          <a:solidFill>
                            <a:srgbClr val="002C5F"/>
                          </a:solidFill>
                          <a:latin typeface="Arial"/>
                          <a:ea typeface="Arial"/>
                          <a:cs typeface="Arial"/>
                        </a:rPr>
                        <a:t>Can history affect ranking?</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Explicit event, deterministic update and retained preference</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No controlled relevance comparison</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60375">
                <a:tc>
                  <a:txBody>
                    <a:bodyPr wrap="square">
                      <a:noAutofit/>
                    </a:bodyPr>
                    <a:lstStyle/>
                    <a:p>
                      <a:pPr algn="l"/>
                      <a:r>
                        <a:rPr sz="1177" b="0">
                          <a:solidFill>
                            <a:srgbClr val="002C5F"/>
                          </a:solidFill>
                          <a:latin typeface="Arial"/>
                          <a:ea typeface="Arial"/>
                          <a:cs typeface="Arial"/>
                        </a:rPr>
                        <a:t>Is the detour estimate accurate?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77" b="0">
                          <a:solidFill>
                            <a:srgbClr val="002C5F"/>
                          </a:solidFill>
                          <a:latin typeface="Arial"/>
                          <a:ea typeface="Arial"/>
                          <a:cs typeface="Arial"/>
                        </a:rPr>
                        <a:t>Geometric travel model is implemented</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77" b="0">
                          <a:solidFill>
                            <a:srgbClr val="002C5F"/>
                          </a:solidFill>
                          <a:latin typeface="Arial"/>
                          <a:ea typeface="Arial"/>
                          <a:cs typeface="Arial"/>
                        </a:rPr>
                        <a:t>No measured side-trip times for error analysis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60375">
                <a:tc>
                  <a:txBody>
                    <a:bodyPr wrap="square">
                      <a:noAutofit/>
                    </a:bodyPr>
                    <a:lstStyle/>
                    <a:p>
                      <a:pPr algn="l"/>
                      <a:r>
                        <a:rPr sz="1177" b="0">
                          <a:solidFill>
                            <a:srgbClr val="002C5F"/>
                          </a:solidFill>
                          <a:latin typeface="Arial"/>
                          <a:ea typeface="Arial"/>
                          <a:cs typeface="Arial"/>
                        </a:rPr>
                        <a:t>Are routine and offline features evaluated?</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Rules and cache behaviour exist in source, plus user checks</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77" b="0">
                          <a:solidFill>
                            <a:srgbClr val="002C5F"/>
                          </a:solidFill>
                          <a:latin typeface="Arial"/>
                          <a:ea typeface="Arial"/>
                          <a:cs typeface="Arial"/>
                        </a:rPr>
                        <a:t>No matched routine exists in the supplied export</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Measurement boundary">
            <a:extLst xmlns:a="http://schemas.openxmlformats.org/drawingml/2006/main">
              <a:ext uri="{FF2B5EF4-FFF2-40B4-BE49-F238E27FC236}">
                <a16:creationId xmlns:a16="http://schemas.microsoft.com/office/drawing/2014/main" id="{75A389B3-3B3D-45CA-9749-44A47E09DE92}"/>
              </a:ext>
            </a:extLst>
          </p:cNvPr>
          <p:cNvSpPr>
            <a:spLocks xmlns:a="http://schemas.openxmlformats.org/drawingml/2006/main" noGrp="1"/>
          </p:cNvSpPr>
          <p:nvPr/>
        </p:nvSpPr>
        <p:spPr>
          <a:xfrm xmlns:a="http://schemas.openxmlformats.org/drawingml/2006/main">
            <a:off x="657225" y="4276725"/>
            <a:ext cx="7781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No claim is made for time saved, fewer missed meals, ranking accuracy or production readiness.</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Weights and thresholds are prototype choices. High-speed and in-vehicle integration remain unvalidated.</a:t>
            </a:r>
          </a:p>
        </p:txBody>
      </p:sp>
    </p:spTree>
    <p:extLst>
      <p:ext uri="{BB962C8B-B14F-4D97-AF65-F5344CB8AC3E}">
        <p14:creationId xmlns:p14="http://schemas.microsoft.com/office/powerpoint/2010/main" val="46743983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Feasibility and conclusions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24</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submission demonstrates a working recommendation loop on existing phone hardware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4A59AF09-D197-0193-A7DE-FAAF0B691058}" type="slidenum">
              <a:rPr sz="900" b="0">
                <a:solidFill>
                  <a:srgbClr val="626B73"/>
                </a:solidFill>
                <a:latin typeface="Arial"/>
                <a:ea typeface="Arial"/>
                <a:cs typeface="Arial"/>
              </a:rPr>
              <a:t>24</a:t>
            </a:fld>
            <a:endParaRPr/>
          </a:p>
        </p:txBody>
      </p:sp>
      <p:sp>
        <p:nvSpPr>
          <p:cNvPr id="26" name="Source note">
            <a:extLst xmlns:a="http://schemas.openxmlformats.org/drawingml/2006/main">
              <a:ext uri="{FF2B5EF4-FFF2-40B4-BE49-F238E27FC236}">
                <a16:creationId xmlns:a16="http://schemas.microsoft.com/office/drawing/2014/main" id="{1105B0C1-A51E-4CAD-9CAD-776BD330060C}"/>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Sources: final implementation, recorded demonstration and author project scope [S1-S5]</a:t>
            </a:r>
          </a:p>
        </p:txBody>
      </p:sp>
      <p:sp>
        <p:nvSpPr>
          <p:cNvPr id="27" name="Contribution heading">
            <a:extLst xmlns:a="http://schemas.openxmlformats.org/drawingml/2006/main">
              <a:ext uri="{FF2B5EF4-FFF2-40B4-BE49-F238E27FC236}">
                <a16:creationId xmlns:a16="http://schemas.microsoft.com/office/drawing/2014/main" id="{FF1162E0-9A9D-4911-94FE-969BE94D52DC}"/>
              </a:ext>
            </a:extLst>
          </p:cNvPr>
          <p:cNvSpPr>
            <a:spLocks xmlns:a="http://schemas.openxmlformats.org/drawingml/2006/main" noGrp="1"/>
          </p:cNvSpPr>
          <p:nvPr/>
        </p:nvSpPr>
        <p:spPr>
          <a:xfrm xmlns:a="http://schemas.openxmlformats.org/drawingml/2006/main">
            <a:off x="657225" y="1381125"/>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Implemented contribution</a:t>
            </a:r>
          </a:p>
        </p:txBody>
      </p:sp>
      <p:sp>
        <p:nvSpPr>
          <p:cNvPr id="28" name="Contribution text">
            <a:extLst xmlns:a="http://schemas.openxmlformats.org/drawingml/2006/main">
              <a:ext uri="{FF2B5EF4-FFF2-40B4-BE49-F238E27FC236}">
                <a16:creationId xmlns:a16="http://schemas.microsoft.com/office/drawing/2014/main" id="{ACF353F1-4A66-4734-9CC1-D9759C021FA4}"/>
              </a:ext>
            </a:extLst>
          </p:cNvPr>
          <p:cNvSpPr>
            <a:spLocks xmlns:a="http://schemas.openxmlformats.org/drawingml/2006/main" noGrp="1"/>
          </p:cNvSpPr>
          <p:nvPr/>
        </p:nvSpPr>
        <p:spPr>
          <a:xfrm xmlns:a="http://schemas.openxmlformats.org/drawingml/2006/main">
            <a:off x="657225" y="1704975"/>
            <a:ext cx="77819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prototype combines route-based advance timing with travel constraints, a transparent</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ranking rule and persistent feedback. It retains the passenger’s ability to browse and decline.</a:t>
            </a:r>
          </a:p>
        </p:txBody>
      </p:sp>
      <p:sp>
        <p:nvSpPr>
          <p:cNvPr id="29" name="Feasibility heading">
            <a:extLst xmlns:a="http://schemas.openxmlformats.org/drawingml/2006/main">
              <a:ext uri="{FF2B5EF4-FFF2-40B4-BE49-F238E27FC236}">
                <a16:creationId xmlns:a16="http://schemas.microsoft.com/office/drawing/2014/main" id="{608B8987-0DBE-4406-8123-D42DDCA4B1B3}"/>
              </a:ext>
            </a:extLst>
          </p:cNvPr>
          <p:cNvSpPr>
            <a:spLocks xmlns:a="http://schemas.openxmlformats.org/drawingml/2006/main" noGrp="1"/>
          </p:cNvSpPr>
          <p:nvPr/>
        </p:nvSpPr>
        <p:spPr>
          <a:xfrm xmlns:a="http://schemas.openxmlformats.org/drawingml/2006/main">
            <a:off x="657225" y="2381250"/>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Feasibility within the demonstrated scope</a:t>
            </a:r>
          </a:p>
        </p:txBody>
      </p:sp>
      <p:sp>
        <p:nvSpPr>
          <p:cNvPr id="30" name="Feasibility text">
            <a:extLst xmlns:a="http://schemas.openxmlformats.org/drawingml/2006/main">
              <a:ext uri="{FF2B5EF4-FFF2-40B4-BE49-F238E27FC236}">
                <a16:creationId xmlns:a16="http://schemas.microsoft.com/office/drawing/2014/main" id="{48D6CB4D-D87E-4311-8BED-21C9B8CDEE65}"/>
              </a:ext>
            </a:extLst>
          </p:cNvPr>
          <p:cNvSpPr>
            <a:spLocks xmlns:a="http://schemas.openxmlformats.org/drawingml/2006/main" noGrp="1"/>
          </p:cNvSpPr>
          <p:nvPr/>
        </p:nvSpPr>
        <p:spPr>
          <a:xfrm xmlns:a="http://schemas.openxmlformats.org/drawingml/2006/main">
            <a:off x="657225" y="2705100"/>
            <a:ext cx="77819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The app uses existing phone GPS and local storage. It needs no additional recommendation</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server or bespoke hardware. The available evidence supports operation on the fixed campus route.</a:t>
            </a:r>
          </a:p>
        </p:txBody>
      </p:sp>
      <p:sp>
        <p:nvSpPr>
          <p:cNvPr id="31" name="Future heading">
            <a:extLst xmlns:a="http://schemas.openxmlformats.org/drawingml/2006/main">
              <a:ext uri="{FF2B5EF4-FFF2-40B4-BE49-F238E27FC236}">
                <a16:creationId xmlns:a16="http://schemas.microsoft.com/office/drawing/2014/main" id="{067562F7-77E7-4A99-BB73-56AB64D1F170}"/>
              </a:ext>
            </a:extLst>
          </p:cNvPr>
          <p:cNvSpPr>
            <a:spLocks xmlns:a="http://schemas.openxmlformats.org/drawingml/2006/main" noGrp="1"/>
          </p:cNvSpPr>
          <p:nvPr/>
        </p:nvSpPr>
        <p:spPr>
          <a:xfrm xmlns:a="http://schemas.openxmlformats.org/drawingml/2006/main">
            <a:off x="657225" y="3381375"/>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Proposed application for Hyundai</a:t>
            </a:r>
          </a:p>
        </p:txBody>
      </p:sp>
      <p:sp>
        <p:nvSpPr>
          <p:cNvPr id="32" name="Future text">
            <a:extLst xmlns:a="http://schemas.openxmlformats.org/drawingml/2006/main">
              <a:ext uri="{FF2B5EF4-FFF2-40B4-BE49-F238E27FC236}">
                <a16:creationId xmlns:a16="http://schemas.microsoft.com/office/drawing/2014/main" id="{935F4D82-6CEE-480F-AB20-93A74740BD37}"/>
              </a:ext>
            </a:extLst>
          </p:cNvPr>
          <p:cNvSpPr>
            <a:spLocks xmlns:a="http://schemas.openxmlformats.org/drawingml/2006/main" noGrp="1"/>
          </p:cNvSpPr>
          <p:nvPr/>
        </p:nvSpPr>
        <p:spPr>
          <a:xfrm xmlns:a="http://schemas.openxmlformats.org/drawingml/2006/main">
            <a:off x="657225" y="3705225"/>
            <a:ext cx="77819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 future Hyundai passenger display could use vehicle location and trip context for this service.</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That would require integration and validation. Verified venue data, road-network detours and</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waiting/eating duration remain possible extensions.</a:t>
            </a:r>
          </a:p>
        </p:txBody>
      </p:sp>
    </p:spTree>
    <p:extLst>
      <p:ext uri="{BB962C8B-B14F-4D97-AF65-F5344CB8AC3E}">
        <p14:creationId xmlns:p14="http://schemas.microsoft.com/office/powerpoint/2010/main" val="46743983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Appendix A: configuration defaults</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25</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Additional parameters retained in data/demo-settings.json</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F3AE1AE4-D79E-94D6-E825-3FC6C21A77D2}" type="slidenum">
              <a:rPr sz="900" b="0">
                <a:solidFill>
                  <a:srgbClr val="626B73"/>
                </a:solidFill>
                <a:latin typeface="Arial"/>
                <a:ea typeface="Arial"/>
                <a:cs typeface="Arial"/>
              </a:rPr>
              <a:t>25</a:t>
            </a:fld>
            <a:endParaRPr/>
          </a:p>
        </p:txBody>
      </p:sp>
      <p:sp>
        <p:nvSpPr>
          <p:cNvPr id="26" name="Source note">
            <a:extLst xmlns:a="http://schemas.openxmlformats.org/drawingml/2006/main">
              <a:ext uri="{FF2B5EF4-FFF2-40B4-BE49-F238E27FC236}">
                <a16:creationId xmlns:a16="http://schemas.microsoft.com/office/drawing/2014/main" id="{DC95B4B6-7E76-47D8-AAD2-2BEE35B559B4}"/>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 GPS, routine and suggestion configuration in the frozen v5.1.0 files [S1]</a:t>
            </a:r>
          </a:p>
        </p:txBody>
      </p:sp>
      <p:graphicFrame>
        <p:nvGraphicFramePr>
          <p:cNvPr id="27" name="">
            <a:extLst xmlns:a="http://schemas.openxmlformats.org/drawingml/2006/main">
              <a:ext uri="{FF2B5EF4-FFF2-40B4-BE49-F238E27FC236}">
                <a16:creationId xmlns:a16="http://schemas.microsoft.com/office/drawing/2014/main" id="{482E4523-68A8-4A93-AE5F-F2B6169F1D29}"/>
              </a:ext>
            </a:extLst>
          </p:cNvPr>
          <p:cNvGraphicFramePr/>
          <p:nvPr/>
        </p:nvGraphicFramePr>
        <p:xfrm>
          <a:off xmlns:a="http://schemas.openxmlformats.org/drawingml/2006/main" x="657225" y="1371600"/>
          <a:ext xmlns:a="http://schemas.openxmlformats.org/drawingml/2006/main" cx="7829550" cy="3133725"/>
        </p:xfrm>
        <a:graphic xmlns:a="http://schemas.openxmlformats.org/drawingml/2006/main">
          <a:graphicData uri="http://schemas.openxmlformats.org/drawingml/2006/table">
            <a:tbl>
              <a:tblPr firstRow="1" bandRow="0"/>
              <a:tblGrid>
                <a:gridCol w="2190750"/>
                <a:gridCol w="5638800"/>
              </a:tblGrid>
              <a:tr h="391716">
                <a:tc>
                  <a:txBody>
                    <a:bodyPr wrap="square">
                      <a:noAutofit/>
                    </a:bodyPr>
                    <a:lstStyle/>
                    <a:p>
                      <a:pPr algn="l"/>
                      <a:r>
                        <a:rPr sz="1102" b="1">
                          <a:solidFill>
                            <a:srgbClr val="FFFFFF"/>
                          </a:solidFill>
                          <a:latin typeface="Arial"/>
                          <a:ea typeface="Arial"/>
                          <a:cs typeface="Arial"/>
                        </a:rPr>
                        <a:t>Parameter group</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02" b="1">
                          <a:solidFill>
                            <a:srgbClr val="FFFFFF"/>
                          </a:solidFill>
                          <a:latin typeface="Arial"/>
                          <a:ea typeface="Arial"/>
                          <a:cs typeface="Arial"/>
                        </a:rPr>
                        <a:t>Default or rule</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391716">
                <a:tc>
                  <a:txBody>
                    <a:bodyPr wrap="square">
                      <a:noAutofit/>
                    </a:bodyPr>
                    <a:lstStyle/>
                    <a:p>
                      <a:pPr algn="l"/>
                      <a:r>
                        <a:rPr sz="1102" b="0">
                          <a:solidFill>
                            <a:srgbClr val="002C5F"/>
                          </a:solidFill>
                          <a:latin typeface="Arial"/>
                          <a:ea typeface="Arial"/>
                          <a:cs typeface="Arial"/>
                        </a:rPr>
                        <a:t>Spare travel and prompt score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02" b="0">
                          <a:solidFill>
                            <a:srgbClr val="002C5F"/>
                          </a:solidFill>
                          <a:latin typeface="Arial"/>
                          <a:ea typeface="Arial"/>
                          <a:cs typeface="Arial"/>
                        </a:rPr>
                        <a:t>Default spare travel 5 min, allowed 0-30 min. Prompt score threshold 0.50.</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91716">
                <a:tc>
                  <a:txBody>
                    <a:bodyPr wrap="square">
                      <a:noAutofit/>
                    </a:bodyPr>
                    <a:lstStyle/>
                    <a:p>
                      <a:pPr algn="l"/>
                      <a:r>
                        <a:rPr sz="1102" b="0">
                          <a:solidFill>
                            <a:srgbClr val="002C5F"/>
                          </a:solidFill>
                          <a:latin typeface="Arial"/>
                          <a:ea typeface="Arial"/>
                          <a:cs typeface="Arial"/>
                        </a:rPr>
                        <a:t>Venue and alert geometry</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02" b="0">
                          <a:solidFill>
                            <a:srgbClr val="002C5F"/>
                          </a:solidFill>
                          <a:latin typeface="Arial"/>
                          <a:ea typeface="Arial"/>
                          <a:cs typeface="Arial"/>
                        </a:rPr>
                        <a:t>Venue offset &lt;=300 m. GPS alert window 300-400 m. Prompt separation &gt;=250 m.</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391716">
                <a:tc>
                  <a:txBody>
                    <a:bodyPr wrap="square">
                      <a:noAutofit/>
                    </a:bodyPr>
                    <a:lstStyle/>
                    <a:p>
                      <a:pPr algn="l"/>
                      <a:r>
                        <a:rPr sz="1102" b="0">
                          <a:solidFill>
                            <a:srgbClr val="002C5F"/>
                          </a:solidFill>
                          <a:latin typeface="Arial"/>
                          <a:ea typeface="Arial"/>
                          <a:cs typeface="Arial"/>
                        </a:rPr>
                        <a:t>GPS quality</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02" b="0">
                          <a:solidFill>
                            <a:srgbClr val="002C5F"/>
                          </a:solidFill>
                          <a:latin typeface="Arial"/>
                          <a:ea typeface="Arial"/>
                          <a:cs typeface="Arial"/>
                        </a:rPr>
                        <a:t>Reported accuracy &lt;=50 m. Fix age &lt;=15 s. Future timestamp tolerance 5 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91716">
                <a:tc>
                  <a:txBody>
                    <a:bodyPr wrap="square">
                      <a:noAutofit/>
                    </a:bodyPr>
                    <a:lstStyle/>
                    <a:p>
                      <a:pPr algn="l"/>
                      <a:r>
                        <a:rPr sz="1102" b="0">
                          <a:solidFill>
                            <a:srgbClr val="002C5F"/>
                          </a:solidFill>
                          <a:latin typeface="Arial"/>
                          <a:ea typeface="Arial"/>
                          <a:cs typeface="Arial"/>
                        </a:rPr>
                        <a:t>Jump rejection</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02" b="0">
                          <a:solidFill>
                            <a:srgbClr val="002C5F"/>
                          </a:solidFill>
                          <a:latin typeface="Arial"/>
                          <a:ea typeface="Arial"/>
                          <a:cs typeface="Arial"/>
                        </a:rPr>
                        <a:t>Displacement allowance = elapsed seconds x 12 m/s + 30 m.</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391716">
                <a:tc>
                  <a:txBody>
                    <a:bodyPr wrap="square">
                      <a:noAutofit/>
                    </a:bodyPr>
                    <a:lstStyle/>
                    <a:p>
                      <a:pPr algn="l"/>
                      <a:r>
                        <a:rPr sz="1102" b="0">
                          <a:solidFill>
                            <a:srgbClr val="002C5F"/>
                          </a:solidFill>
                          <a:latin typeface="Arial"/>
                          <a:ea typeface="Arial"/>
                          <a:cs typeface="Arial"/>
                        </a:rPr>
                        <a:t>Arrival</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02" b="0">
                          <a:solidFill>
                            <a:srgbClr val="002C5F"/>
                          </a:solidFill>
                          <a:latin typeface="Arial"/>
                          <a:ea typeface="Arial"/>
                          <a:cs typeface="Arial"/>
                        </a:rPr>
                        <a:t>Within 30 m of destination and within 50 m along route, with two fixes &gt;=1 s apart.</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91716">
                <a:tc>
                  <a:txBody>
                    <a:bodyPr wrap="square">
                      <a:noAutofit/>
                    </a:bodyPr>
                    <a:lstStyle/>
                    <a:p>
                      <a:pPr algn="l"/>
                      <a:r>
                        <a:rPr sz="1102" b="0">
                          <a:solidFill>
                            <a:srgbClr val="002C5F"/>
                          </a:solidFill>
                          <a:latin typeface="Arial"/>
                          <a:ea typeface="Arial"/>
                          <a:cs typeface="Arial"/>
                        </a:rPr>
                        <a:t>Completed GPS record</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02" b="0">
                          <a:solidFill>
                            <a:srgbClr val="002C5F"/>
                          </a:solidFill>
                          <a:latin typeface="Arial"/>
                          <a:ea typeface="Arial"/>
                          <a:cs typeface="Arial"/>
                        </a:rPr>
                        <a:t>Start within 75 m. No interruption gap &gt;30 s or forward step &gt;250 m. Accumulated valid forward progress &gt;=80% of route.</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391716">
                <a:tc>
                  <a:txBody>
                    <a:bodyPr wrap="square">
                      <a:noAutofit/>
                    </a:bodyPr>
                    <a:lstStyle/>
                    <a:p>
                      <a:pPr algn="l"/>
                      <a:r>
                        <a:rPr sz="1102" b="0">
                          <a:solidFill>
                            <a:srgbClr val="002C5F"/>
                          </a:solidFill>
                          <a:latin typeface="Arial"/>
                          <a:ea typeface="Arial"/>
                          <a:cs typeface="Arial"/>
                        </a:rPr>
                        <a:t>Routine and preference</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02" b="0">
                          <a:solidFill>
                            <a:srgbClr val="002C5F"/>
                          </a:solidFill>
                          <a:latin typeface="Arial"/>
                          <a:ea typeface="Arial"/>
                          <a:cs typeface="Arial"/>
                        </a:rPr>
                        <a:t>Routine: &gt;=3 matching trips, &lt;=30 min departure span, endpoints &lt;=150 m. Preference starts 0.50, Accept +0.10, Reject -0.05.</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Tree>
    <p:extLst>
      <p:ext uri="{BB962C8B-B14F-4D97-AF65-F5344CB8AC3E}">
        <p14:creationId xmlns:p14="http://schemas.microsoft.com/office/powerpoint/2010/main" val="46743983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Appendix B: worked score calculation</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26</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Illustrative fixed inputs, chosen to explain the implemented equations</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5AB55966-FA28-BC73-EA9E-53DF014DF033}" type="slidenum">
              <a:rPr sz="900" b="0">
                <a:solidFill>
                  <a:srgbClr val="626B73"/>
                </a:solidFill>
                <a:latin typeface="Arial"/>
                <a:ea typeface="Arial"/>
                <a:cs typeface="Arial"/>
              </a:rPr>
              <a:t>26</a:t>
            </a:fld>
            <a:endParaRPr/>
          </a:p>
        </p:txBody>
      </p:sp>
      <p:sp>
        <p:nvSpPr>
          <p:cNvPr id="26" name="Source note">
            <a:extLst xmlns:a="http://schemas.openxmlformats.org/drawingml/2006/main">
              <a:ext uri="{FF2B5EF4-FFF2-40B4-BE49-F238E27FC236}">
                <a16:creationId xmlns:a16="http://schemas.microsoft.com/office/drawing/2014/main" id="{75CA825D-BB39-44A2-985E-06AA9F4E297A}"/>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 scoreCafe() and configured weights. This example is not a field measurement [S1].</a:t>
            </a:r>
          </a:p>
        </p:txBody>
      </p:sp>
      <p:sp>
        <p:nvSpPr>
          <p:cNvPr id="27" name="Worked assumptions">
            <a:extLst xmlns:a="http://schemas.openxmlformats.org/drawingml/2006/main">
              <a:ext uri="{FF2B5EF4-FFF2-40B4-BE49-F238E27FC236}">
                <a16:creationId xmlns:a16="http://schemas.microsoft.com/office/drawing/2014/main" id="{98158429-5870-459F-822A-1AD7AC41A723}"/>
              </a:ext>
            </a:extLst>
          </p:cNvPr>
          <p:cNvSpPr>
            <a:spLocks xmlns:a="http://schemas.openxmlformats.org/drawingml/2006/main" noGrp="1"/>
          </p:cNvSpPr>
          <p:nvPr/>
        </p:nvSpPr>
        <p:spPr>
          <a:xfrm xmlns:a="http://schemas.openxmlformats.org/drawingml/2006/main">
            <a:off x="657225" y="1362075"/>
            <a:ext cx="77819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8" b="0">
                <a:solidFill>
                  <a:srgbClr val="002C5F"/>
                </a:solidFill>
                <a:latin typeface="Arial"/>
                <a:ea typeface="Arial"/>
                <a:cs typeface="Arial"/>
              </a:defRPr>
            </a:defPPr>
            <a:lvl1pPr algn="l">
              <a:defRPr sz="1298" b="0">
                <a:solidFill>
                  <a:srgbClr val="002C5F"/>
                </a:solidFill>
                <a:latin typeface="Arial"/>
                <a:ea typeface="Arial"/>
                <a:cs typeface="Arial"/>
              </a:defRPr>
            </a:lvl1pPr>
            <a:lvl2pPr algn="l">
              <a:defRPr sz="1298" b="0">
                <a:solidFill>
                  <a:srgbClr val="002C5F"/>
                </a:solidFill>
                <a:latin typeface="Arial"/>
                <a:ea typeface="Arial"/>
                <a:cs typeface="Arial"/>
              </a:defRPr>
            </a:lvl2pPr>
            <a:lvl3pPr algn="l">
              <a:defRPr sz="1298" b="0">
                <a:solidFill>
                  <a:srgbClr val="002C5F"/>
                </a:solidFill>
                <a:latin typeface="Arial"/>
                <a:ea typeface="Arial"/>
                <a:cs typeface="Arial"/>
              </a:defRPr>
            </a:lvl3pPr>
            <a:lvl4pPr algn="l">
              <a:defRPr sz="1298" b="0">
                <a:solidFill>
                  <a:srgbClr val="002C5F"/>
                </a:solidFill>
                <a:latin typeface="Arial"/>
                <a:ea typeface="Arial"/>
                <a:cs typeface="Arial"/>
              </a:defRPr>
            </a:lvl4pPr>
            <a:lvl5pPr algn="l">
              <a:defRPr sz="1298" b="0">
                <a:solidFill>
                  <a:srgbClr val="002C5F"/>
                </a:solidFill>
                <a:latin typeface="Arial"/>
                <a:ea typeface="Arial"/>
                <a:cs typeface="Arial"/>
              </a:defRPr>
            </a:lvl5pPr>
            <a:lvl6pPr algn="l">
              <a:defRPr sz="1298" b="0">
                <a:solidFill>
                  <a:srgbClr val="002C5F"/>
                </a:solidFill>
                <a:latin typeface="Arial"/>
                <a:ea typeface="Arial"/>
                <a:cs typeface="Arial"/>
              </a:defRPr>
            </a:lvl6pPr>
            <a:lvl7pPr algn="l">
              <a:defRPr sz="1298" b="0">
                <a:solidFill>
                  <a:srgbClr val="002C5F"/>
                </a:solidFill>
                <a:latin typeface="Arial"/>
                <a:ea typeface="Arial"/>
                <a:cs typeface="Arial"/>
              </a:defRPr>
            </a:lvl7pPr>
            <a:lvl8pPr algn="l">
              <a:defRPr sz="1298" b="0">
                <a:solidFill>
                  <a:srgbClr val="002C5F"/>
                </a:solidFill>
                <a:latin typeface="Arial"/>
                <a:ea typeface="Arial"/>
                <a:cs typeface="Arial"/>
              </a:defRPr>
            </a:lvl8pPr>
            <a:lvl9pPr algn="l">
              <a:defRPr sz="1298" b="0">
                <a:solidFill>
                  <a:srgbClr val="002C5F"/>
                </a:solidFill>
                <a:latin typeface="Arial"/>
                <a:ea typeface="Arial"/>
                <a:cs typeface="Arial"/>
              </a:defRPr>
            </a:lvl9pPr>
          </a:lstStyle>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Assume a venue offset of 30 m, planning speed of 15 km/h, rating 4.1/5 and time fit 1.00.</a:t>
            </a:r>
          </a:p>
          <a:p xmlns:a="http://schemas.openxmlformats.org/drawingml/2006/main">
            <a:pPr algn="l">
              <a:defRPr sz="1298" b="0">
                <a:solidFill>
                  <a:srgbClr val="002C5F"/>
                </a:solidFill>
                <a:latin typeface="Arial"/>
                <a:ea typeface="Arial"/>
                <a:cs typeface="Arial"/>
              </a:defRPr>
            </a:pPr>
            <a:r>
              <a:rPr sz="1298" b="0">
                <a:solidFill>
                  <a:srgbClr val="002C5F"/>
                </a:solidFill>
                <a:latin typeface="Arial"/>
                <a:ea typeface="Arial"/>
                <a:cs typeface="Arial"/>
              </a:rPr>
              <a:t>Both venue and category preference begin at 0.50. Assume all availability checks pass.</a:t>
            </a:r>
          </a:p>
        </p:txBody>
      </p:sp>
      <p:graphicFrame>
        <p:nvGraphicFramePr>
          <p:cNvPr id="28" name="">
            <a:extLst xmlns:a="http://schemas.openxmlformats.org/drawingml/2006/main">
              <a:ext uri="{FF2B5EF4-FFF2-40B4-BE49-F238E27FC236}">
                <a16:creationId xmlns:a16="http://schemas.microsoft.com/office/drawing/2014/main" id="{9F2D64A1-A872-4C8B-A57B-414B34F90DBA}"/>
              </a:ext>
            </a:extLst>
          </p:cNvPr>
          <p:cNvGraphicFramePr/>
          <p:nvPr/>
        </p:nvGraphicFramePr>
        <p:xfrm>
          <a:off xmlns:a="http://schemas.openxmlformats.org/drawingml/2006/main" x="657225" y="2000250"/>
          <a:ext xmlns:a="http://schemas.openxmlformats.org/drawingml/2006/main" cx="7829550" cy="2505075"/>
        </p:xfrm>
        <a:graphic xmlns:a="http://schemas.openxmlformats.org/drawingml/2006/main">
          <a:graphicData uri="http://schemas.openxmlformats.org/drawingml/2006/table">
            <a:tbl>
              <a:tblPr firstRow="1" bandRow="0"/>
              <a:tblGrid>
                <a:gridCol w="1809750"/>
                <a:gridCol w="4381500"/>
                <a:gridCol w="1638300"/>
              </a:tblGrid>
              <a:tr h="357868">
                <a:tc>
                  <a:txBody>
                    <a:bodyPr wrap="square">
                      <a:noAutofit/>
                    </a:bodyPr>
                    <a:lstStyle/>
                    <a:p>
                      <a:pPr algn="l"/>
                      <a:r>
                        <a:rPr sz="1148" b="1">
                          <a:solidFill>
                            <a:srgbClr val="FFFFFF"/>
                          </a:solidFill>
                          <a:latin typeface="Arial"/>
                          <a:ea typeface="Arial"/>
                          <a:cs typeface="Arial"/>
                        </a:rPr>
                        <a:t>Quantity</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Calculation</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Value</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357868">
                <a:tc>
                  <a:txBody>
                    <a:bodyPr wrap="square">
                      <a:noAutofit/>
                    </a:bodyPr>
                    <a:lstStyle/>
                    <a:p>
                      <a:pPr algn="l"/>
                      <a:r>
                        <a:rPr sz="1148" b="0">
                          <a:solidFill>
                            <a:srgbClr val="002C5F"/>
                          </a:solidFill>
                          <a:latin typeface="Arial"/>
                          <a:ea typeface="Arial"/>
                          <a:cs typeface="Arial"/>
                        </a:rPr>
                        <a:t>Extra travel</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2 x 30 / (60 x 15/3.6)</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0.24 min = 14.4 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57868">
                <a:tc>
                  <a:txBody>
                    <a:bodyPr wrap="square">
                      <a:noAutofit/>
                    </a:bodyPr>
                    <a:lstStyle/>
                    <a:p>
                      <a:pPr algn="l"/>
                      <a:r>
                        <a:rPr sz="1148" b="0">
                          <a:solidFill>
                            <a:srgbClr val="002C5F"/>
                          </a:solidFill>
                          <a:latin typeface="Arial"/>
                          <a:ea typeface="Arial"/>
                          <a:cs typeface="Arial"/>
                        </a:rPr>
                        <a:t>Detour fit D</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1 - 0.24 / 30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0.992</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357868">
                <a:tc>
                  <a:txBody>
                    <a:bodyPr wrap="square">
                      <a:noAutofit/>
                    </a:bodyPr>
                    <a:lstStyle/>
                    <a:p>
                      <a:pPr algn="l"/>
                      <a:r>
                        <a:rPr sz="1148" b="0">
                          <a:solidFill>
                            <a:srgbClr val="002C5F"/>
                          </a:solidFill>
                          <a:latin typeface="Arial"/>
                          <a:ea typeface="Arial"/>
                          <a:cs typeface="Arial"/>
                        </a:rPr>
                        <a:t>Rating term R</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4.1 / 5</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0.820</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57868">
                <a:tc>
                  <a:txBody>
                    <a:bodyPr wrap="square">
                      <a:noAutofit/>
                    </a:bodyPr>
                    <a:lstStyle/>
                    <a:p>
                      <a:pPr algn="l"/>
                      <a:r>
                        <a:rPr sz="1148" b="0">
                          <a:solidFill>
                            <a:srgbClr val="002C5F"/>
                          </a:solidFill>
                          <a:latin typeface="Arial"/>
                          <a:ea typeface="Arial"/>
                          <a:cs typeface="Arial"/>
                        </a:rPr>
                        <a:t>Preference A</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0.8 x 0.50 + 0.2 x 0.50</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0.500</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357868">
                <a:tc>
                  <a:txBody>
                    <a:bodyPr wrap="square">
                      <a:noAutofit/>
                    </a:bodyPr>
                    <a:lstStyle/>
                    <a:p>
                      <a:pPr algn="l"/>
                      <a:r>
                        <a:rPr sz="1148" b="0">
                          <a:solidFill>
                            <a:srgbClr val="002C5F"/>
                          </a:solidFill>
                          <a:latin typeface="Arial"/>
                          <a:ea typeface="Arial"/>
                          <a:cs typeface="Arial"/>
                        </a:rPr>
                        <a:t>Initial score S</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0.60 x 0.50 + 0.20 x 1 + 0.10 x 0.82 + 0.10 x 0.992</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0.6812</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357868">
                <a:tc>
                  <a:txBody>
                    <a:bodyPr wrap="square">
                      <a:noAutofit/>
                    </a:bodyPr>
                    <a:lstStyle/>
                    <a:p>
                      <a:pPr algn="l"/>
                      <a:r>
                        <a:rPr sz="1148" b="0">
                          <a:solidFill>
                            <a:srgbClr val="002C5F"/>
                          </a:solidFill>
                          <a:latin typeface="Arial"/>
                          <a:ea typeface="Arial"/>
                          <a:cs typeface="Arial"/>
                        </a:rPr>
                        <a:t>After three accepts</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Both preferences become 0.80, with other inputs fixed</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Score 0.8612</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bl>
          </a:graphicData>
        </a:graphic>
      </p:graphicFrame>
    </p:spTree>
    <p:extLst>
      <p:ext uri="{BB962C8B-B14F-4D97-AF65-F5344CB8AC3E}">
        <p14:creationId xmlns:p14="http://schemas.microsoft.com/office/powerpoint/2010/main" val="46743983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Appendix C: reproduction procedure</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27</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The frozen source package contains the final installed-phone prototype</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02F15020-66A7-620A-7B7A-C05C4312DEAE}" type="slidenum">
              <a:rPr sz="900" b="0">
                <a:solidFill>
                  <a:srgbClr val="626B73"/>
                </a:solidFill>
                <a:latin typeface="Arial"/>
                <a:ea typeface="Arial"/>
                <a:cs typeface="Arial"/>
              </a:rPr>
              <a:t>27</a:t>
            </a:fld>
            <a:endParaRPr/>
          </a:p>
        </p:txBody>
      </p:sp>
      <p:sp>
        <p:nvSpPr>
          <p:cNvPr id="26" name="Source note">
            <a:extLst xmlns:a="http://schemas.openxmlformats.org/drawingml/2006/main">
              <a:ext uri="{FF2B5EF4-FFF2-40B4-BE49-F238E27FC236}">
                <a16:creationId xmlns:a16="http://schemas.microsoft.com/office/drawing/2014/main" id="{EB59648D-854C-4E0E-A764-57F0A4133953}"/>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Source package: InVehicle_v5_1_0_MobileMap.zip. Personal history is a separate backup [S1, S3].</a:t>
            </a:r>
          </a:p>
        </p:txBody>
      </p:sp>
      <p:sp>
        <p:nvSpPr>
          <p:cNvPr id="27" name="Reproduce code heading">
            <a:extLst xmlns:a="http://schemas.openxmlformats.org/drawingml/2006/main">
              <a:ext uri="{FF2B5EF4-FFF2-40B4-BE49-F238E27FC236}">
                <a16:creationId xmlns:a16="http://schemas.microsoft.com/office/drawing/2014/main" id="{86D1F94F-6B94-4F4F-A1DF-0E26881D5319}"/>
              </a:ext>
            </a:extLst>
          </p:cNvPr>
          <p:cNvSpPr>
            <a:spLocks xmlns:a="http://schemas.openxmlformats.org/drawingml/2006/main" noGrp="1"/>
          </p:cNvSpPr>
          <p:nvPr/>
        </p:nvSpPr>
        <p:spPr>
          <a:xfrm xmlns:a="http://schemas.openxmlformats.org/drawingml/2006/main">
            <a:off x="657225" y="1371600"/>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App and reference data</a:t>
            </a:r>
          </a:p>
        </p:txBody>
      </p:sp>
      <p:sp>
        <p:nvSpPr>
          <p:cNvPr id="28" name="Reproduce steps">
            <a:extLst xmlns:a="http://schemas.openxmlformats.org/drawingml/2006/main">
              <a:ext uri="{FF2B5EF4-FFF2-40B4-BE49-F238E27FC236}">
                <a16:creationId xmlns:a16="http://schemas.microsoft.com/office/drawing/2014/main" id="{F481FD08-27C3-4D9B-8C79-F6D53FE3E9D6}"/>
              </a:ext>
            </a:extLst>
          </p:cNvPr>
          <p:cNvSpPr>
            <a:spLocks xmlns:a="http://schemas.openxmlformats.org/drawingml/2006/main" noGrp="1"/>
          </p:cNvSpPr>
          <p:nvPr/>
        </p:nvSpPr>
        <p:spPr>
          <a:xfrm xmlns:a="http://schemas.openxmlformats.org/drawingml/2006/main">
            <a:off x="657225" y="1733550"/>
            <a:ext cx="778192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1. Extract the v5.1.0 package and serve its app files from a static HTTPS root.</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2. Retain the relative paths, JSON files, vendored Leaflet assets, manifest and service worker.</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3. Open the address online, allow the complete offline cache, then install on Android.</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4. Start Replay with 11:00 IST and 5 min spare travel for the configured baseline.</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5. For live operation, allow phone location and start near the hostel on the supported route.</a:t>
            </a:r>
          </a:p>
        </p:txBody>
      </p:sp>
      <p:sp>
        <p:nvSpPr>
          <p:cNvPr id="29" name="Reproduce state heading">
            <a:extLst xmlns:a="http://schemas.openxmlformats.org/drawingml/2006/main">
              <a:ext uri="{FF2B5EF4-FFF2-40B4-BE49-F238E27FC236}">
                <a16:creationId xmlns:a16="http://schemas.microsoft.com/office/drawing/2014/main" id="{03039E69-4CEC-4FE8-BBE3-F827B1EA5E88}"/>
              </a:ext>
            </a:extLst>
          </p:cNvPr>
          <p:cNvSpPr>
            <a:spLocks xmlns:a="http://schemas.openxmlformats.org/drawingml/2006/main" noGrp="1"/>
          </p:cNvSpPr>
          <p:nvPr/>
        </p:nvSpPr>
        <p:spPr>
          <a:xfrm xmlns:a="http://schemas.openxmlformats.org/drawingml/2006/main">
            <a:off x="657225" y="3267075"/>
            <a:ext cx="742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48" b="1">
                <a:solidFill>
                  <a:srgbClr val="002C5F"/>
                </a:solidFill>
                <a:latin typeface="Arial"/>
                <a:ea typeface="Arial"/>
                <a:cs typeface="Arial"/>
              </a:defRPr>
            </a:defPPr>
            <a:lvl1pPr algn="l">
              <a:defRPr sz="1448" b="1">
                <a:solidFill>
                  <a:srgbClr val="002C5F"/>
                </a:solidFill>
                <a:latin typeface="Arial"/>
                <a:ea typeface="Arial"/>
                <a:cs typeface="Arial"/>
              </a:defRPr>
            </a:lvl1pPr>
            <a:lvl2pPr algn="l">
              <a:defRPr sz="1448" b="1">
                <a:solidFill>
                  <a:srgbClr val="002C5F"/>
                </a:solidFill>
                <a:latin typeface="Arial"/>
                <a:ea typeface="Arial"/>
                <a:cs typeface="Arial"/>
              </a:defRPr>
            </a:lvl2pPr>
            <a:lvl3pPr algn="l">
              <a:defRPr sz="1448" b="1">
                <a:solidFill>
                  <a:srgbClr val="002C5F"/>
                </a:solidFill>
                <a:latin typeface="Arial"/>
                <a:ea typeface="Arial"/>
                <a:cs typeface="Arial"/>
              </a:defRPr>
            </a:lvl3pPr>
            <a:lvl4pPr algn="l">
              <a:defRPr sz="1448" b="1">
                <a:solidFill>
                  <a:srgbClr val="002C5F"/>
                </a:solidFill>
                <a:latin typeface="Arial"/>
                <a:ea typeface="Arial"/>
                <a:cs typeface="Arial"/>
              </a:defRPr>
            </a:lvl4pPr>
            <a:lvl5pPr algn="l">
              <a:defRPr sz="1448" b="1">
                <a:solidFill>
                  <a:srgbClr val="002C5F"/>
                </a:solidFill>
                <a:latin typeface="Arial"/>
                <a:ea typeface="Arial"/>
                <a:cs typeface="Arial"/>
              </a:defRPr>
            </a:lvl5pPr>
            <a:lvl6pPr algn="l">
              <a:defRPr sz="1448" b="1">
                <a:solidFill>
                  <a:srgbClr val="002C5F"/>
                </a:solidFill>
                <a:latin typeface="Arial"/>
                <a:ea typeface="Arial"/>
                <a:cs typeface="Arial"/>
              </a:defRPr>
            </a:lvl6pPr>
            <a:lvl7pPr algn="l">
              <a:defRPr sz="1448" b="1">
                <a:solidFill>
                  <a:srgbClr val="002C5F"/>
                </a:solidFill>
                <a:latin typeface="Arial"/>
                <a:ea typeface="Arial"/>
                <a:cs typeface="Arial"/>
              </a:defRPr>
            </a:lvl7pPr>
            <a:lvl8pPr algn="l">
              <a:defRPr sz="1448" b="1">
                <a:solidFill>
                  <a:srgbClr val="002C5F"/>
                </a:solidFill>
                <a:latin typeface="Arial"/>
                <a:ea typeface="Arial"/>
                <a:cs typeface="Arial"/>
              </a:defRPr>
            </a:lvl8pPr>
            <a:lvl9pPr algn="l">
              <a:defRPr sz="1448" b="1">
                <a:solidFill>
                  <a:srgbClr val="002C5F"/>
                </a:solidFill>
                <a:latin typeface="Arial"/>
                <a:ea typeface="Arial"/>
                <a:cs typeface="Arial"/>
              </a:defRPr>
            </a:lvl9pPr>
          </a:lstStyle>
          <a:p xmlns:a="http://schemas.openxmlformats.org/drawingml/2006/main">
            <a:pPr algn="l">
              <a:defRPr sz="1448" b="1">
                <a:solidFill>
                  <a:srgbClr val="002C5F"/>
                </a:solidFill>
                <a:latin typeface="Arial"/>
                <a:ea typeface="Arial"/>
                <a:cs typeface="Arial"/>
              </a:defRPr>
            </a:pPr>
            <a:r>
              <a:rPr sz="1448" b="1">
                <a:solidFill>
                  <a:srgbClr val="002C5F"/>
                </a:solidFill>
                <a:latin typeface="Arial"/>
                <a:ea typeface="Arial"/>
                <a:cs typeface="Arial"/>
              </a:rPr>
              <a:t>Preference and history state</a:t>
            </a:r>
          </a:p>
        </p:txBody>
      </p:sp>
      <p:sp>
        <p:nvSpPr>
          <p:cNvPr id="30" name="Reproduce state">
            <a:extLst xmlns:a="http://schemas.openxmlformats.org/drawingml/2006/main">
              <a:ext uri="{FF2B5EF4-FFF2-40B4-BE49-F238E27FC236}">
                <a16:creationId xmlns:a16="http://schemas.microsoft.com/office/drawing/2014/main" id="{8D52C670-E132-4E81-8B97-8988BFCC34D1}"/>
              </a:ext>
            </a:extLst>
          </p:cNvPr>
          <p:cNvSpPr>
            <a:spLocks xmlns:a="http://schemas.openxmlformats.org/drawingml/2006/main" noGrp="1"/>
          </p:cNvSpPr>
          <p:nvPr/>
        </p:nvSpPr>
        <p:spPr>
          <a:xfrm xmlns:a="http://schemas.openxmlformats.org/drawingml/2006/main">
            <a:off x="657225" y="3600450"/>
            <a:ext cx="77819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a:solidFill>
                  <a:srgbClr val="002C5F"/>
                </a:solidFill>
                <a:latin typeface="Arial"/>
                <a:ea typeface="Arial"/>
                <a:cs typeface="Arial"/>
              </a:defRPr>
            </a:defPPr>
            <a:lvl1pPr algn="l">
              <a:defRPr sz="1373" b="0">
                <a:solidFill>
                  <a:srgbClr val="002C5F"/>
                </a:solidFill>
                <a:latin typeface="Arial"/>
                <a:ea typeface="Arial"/>
                <a:cs typeface="Arial"/>
              </a:defRPr>
            </a:lvl1pPr>
            <a:lvl2pPr algn="l">
              <a:defRPr sz="1373" b="0">
                <a:solidFill>
                  <a:srgbClr val="002C5F"/>
                </a:solidFill>
                <a:latin typeface="Arial"/>
                <a:ea typeface="Arial"/>
                <a:cs typeface="Arial"/>
              </a:defRPr>
            </a:lvl2pPr>
            <a:lvl3pPr algn="l">
              <a:defRPr sz="1373" b="0">
                <a:solidFill>
                  <a:srgbClr val="002C5F"/>
                </a:solidFill>
                <a:latin typeface="Arial"/>
                <a:ea typeface="Arial"/>
                <a:cs typeface="Arial"/>
              </a:defRPr>
            </a:lvl3pPr>
            <a:lvl4pPr algn="l">
              <a:defRPr sz="1373" b="0">
                <a:solidFill>
                  <a:srgbClr val="002C5F"/>
                </a:solidFill>
                <a:latin typeface="Arial"/>
                <a:ea typeface="Arial"/>
                <a:cs typeface="Arial"/>
              </a:defRPr>
            </a:lvl4pPr>
            <a:lvl5pPr algn="l">
              <a:defRPr sz="1373" b="0">
                <a:solidFill>
                  <a:srgbClr val="002C5F"/>
                </a:solidFill>
                <a:latin typeface="Arial"/>
                <a:ea typeface="Arial"/>
                <a:cs typeface="Arial"/>
              </a:defRPr>
            </a:lvl5pPr>
            <a:lvl6pPr algn="l">
              <a:defRPr sz="1373" b="0">
                <a:solidFill>
                  <a:srgbClr val="002C5F"/>
                </a:solidFill>
                <a:latin typeface="Arial"/>
                <a:ea typeface="Arial"/>
                <a:cs typeface="Arial"/>
              </a:defRPr>
            </a:lvl6pPr>
            <a:lvl7pPr algn="l">
              <a:defRPr sz="1373" b="0">
                <a:solidFill>
                  <a:srgbClr val="002C5F"/>
                </a:solidFill>
                <a:latin typeface="Arial"/>
                <a:ea typeface="Arial"/>
                <a:cs typeface="Arial"/>
              </a:defRPr>
            </a:lvl7pPr>
            <a:lvl8pPr algn="l">
              <a:defRPr sz="1373" b="0">
                <a:solidFill>
                  <a:srgbClr val="002C5F"/>
                </a:solidFill>
                <a:latin typeface="Arial"/>
                <a:ea typeface="Arial"/>
                <a:cs typeface="Arial"/>
              </a:defRPr>
            </a:lvl8pPr>
            <a:lvl9pPr algn="l">
              <a:defRPr sz="1373" b="0">
                <a:solidFill>
                  <a:srgbClr val="002C5F"/>
                </a:solidFill>
                <a:latin typeface="Arial"/>
                <a:ea typeface="Arial"/>
                <a:cs typeface="Arial"/>
              </a:defRPr>
            </a:lvl9pPr>
          </a:lstStyle>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A new origin with no saved state starts from neutral preferences. To reproduce the recorded state,</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restore the supplied history JSON through the backup interface after checking the route.</a:t>
            </a:r>
          </a:p>
          <a:p xmlns:a="http://schemas.openxmlformats.org/drawingml/2006/main">
            <a:pPr algn="l">
              <a:defRPr sz="1373" b="0">
                <a:solidFill>
                  <a:srgbClr val="002C5F"/>
                </a:solidFill>
                <a:latin typeface="Arial"/>
                <a:ea typeface="Arial"/>
                <a:cs typeface="Arial"/>
              </a:defRPr>
            </a:pPr>
            <a:r>
              <a:rPr sz="1373" b="0">
                <a:solidFill>
                  <a:srgbClr val="002C5F"/>
                </a:solidFill>
                <a:latin typeface="Arial"/>
                <a:ea typeface="Arial"/>
                <a:cs typeface="Arial"/>
              </a:rPr>
              <a:t>Ordinary app updates on the same origin retain the stored history.</a:t>
            </a:r>
          </a:p>
        </p:txBody>
      </p:sp>
    </p:spTree>
    <p:extLst>
      <p:ext uri="{BB962C8B-B14F-4D97-AF65-F5344CB8AC3E}">
        <p14:creationId xmlns:p14="http://schemas.microsoft.com/office/powerpoint/2010/main" val="46743983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B6CC8D-382F-4B82-AC6D-6BB57BBFE263}"/>
              </a:ext>
            </a:extLst>
          </p:cNvPr>
          <p:cNvSpPr>
            <a:spLocks xmlns:a="http://schemas.openxmlformats.org/drawingml/2006/main" noGrp="1"/>
          </p:cNvSpPr>
          <p:nvPr>
            <p:ph type="title" idx="100" hasCustomPrompt="1"/>
          </p:nvPr>
        </p:nvSpPr>
        <p:spPr>
          <a:xfrm xmlns:a="http://schemas.openxmlformats.org/drawingml/2006/main">
            <a:off x="1078992" y="274320"/>
            <a:ext cx="75247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250" b="1">
                <a:solidFill>
                  <a:srgbClr val="002C5F"/>
                </a:solidFill>
                <a:latin typeface="Arial"/>
                <a:ea typeface="Arial"/>
                <a:cs typeface="Arial"/>
              </a:defRPr>
            </a:defPPr>
            <a:lvl1pPr>
              <a:defRPr sz="2250" b="1">
                <a:solidFill>
                  <a:srgbClr val="002C5F"/>
                </a:solidFill>
                <a:latin typeface="Arial"/>
                <a:ea typeface="Arial"/>
                <a:cs typeface="Arial"/>
              </a:defRPr>
            </a:lvl1pPr>
            <a:lvl2pPr>
              <a:defRPr sz="2250" b="1">
                <a:solidFill>
                  <a:srgbClr val="002C5F"/>
                </a:solidFill>
                <a:latin typeface="Arial"/>
                <a:ea typeface="Arial"/>
                <a:cs typeface="Arial"/>
              </a:defRPr>
            </a:lvl2pPr>
            <a:lvl3pPr>
              <a:defRPr sz="2250" b="1">
                <a:solidFill>
                  <a:srgbClr val="002C5F"/>
                </a:solidFill>
                <a:latin typeface="Arial"/>
                <a:ea typeface="Arial"/>
                <a:cs typeface="Arial"/>
              </a:defRPr>
            </a:lvl3pPr>
            <a:lvl4pPr>
              <a:defRPr sz="2250" b="1">
                <a:solidFill>
                  <a:srgbClr val="002C5F"/>
                </a:solidFill>
                <a:latin typeface="Arial"/>
                <a:ea typeface="Arial"/>
                <a:cs typeface="Arial"/>
              </a:defRPr>
            </a:lvl4pPr>
            <a:lvl5pPr>
              <a:defRPr sz="2250" b="1">
                <a:solidFill>
                  <a:srgbClr val="002C5F"/>
                </a:solidFill>
                <a:latin typeface="Arial"/>
                <a:ea typeface="Arial"/>
                <a:cs typeface="Arial"/>
              </a:defRPr>
            </a:lvl5pPr>
            <a:lvl6pPr>
              <a:defRPr sz="2250" b="1">
                <a:solidFill>
                  <a:srgbClr val="002C5F"/>
                </a:solidFill>
                <a:latin typeface="Arial"/>
                <a:ea typeface="Arial"/>
                <a:cs typeface="Arial"/>
              </a:defRPr>
            </a:lvl6pPr>
            <a:lvl7pPr>
              <a:defRPr sz="2250" b="1">
                <a:solidFill>
                  <a:srgbClr val="002C5F"/>
                </a:solidFill>
                <a:latin typeface="Arial"/>
                <a:ea typeface="Arial"/>
                <a:cs typeface="Arial"/>
              </a:defRPr>
            </a:lvl7pPr>
            <a:lvl8pPr>
              <a:defRPr sz="2250" b="1">
                <a:solidFill>
                  <a:srgbClr val="002C5F"/>
                </a:solidFill>
                <a:latin typeface="Arial"/>
                <a:ea typeface="Arial"/>
                <a:cs typeface="Arial"/>
              </a:defRPr>
            </a:lvl8pPr>
            <a:lvl9pPr>
              <a:defRPr sz="2250" b="1">
                <a:solidFill>
                  <a:srgbClr val="002C5F"/>
                </a:solidFill>
                <a:latin typeface="Arial"/>
                <a:ea typeface="Arial"/>
                <a:cs typeface="Arial"/>
              </a:defRPr>
            </a:lvl9pPr>
          </a:lstStyle>
          <a:p xmlns:a="http://schemas.openxmlformats.org/drawingml/2006/main">
            <a:pPr marL="0" indent="0" algn="l">
              <a:buNone/>
              <a:defRPr sz="2250" b="1">
                <a:solidFill>
                  <a:srgbClr val="002C5F"/>
                </a:solidFill>
                <a:latin typeface="Arial"/>
                <a:ea typeface="Arial"/>
                <a:cs typeface="Arial"/>
              </a:defRPr>
            </a:pPr>
            <a:r>
              <a:rPr sz="2250" b="1">
                <a:solidFill>
                  <a:srgbClr val="002C5F"/>
                </a:solidFill>
                <a:latin typeface="Arial"/>
                <a:ea typeface="Arial"/>
                <a:cs typeface="Arial"/>
              </a:rPr>
              <a:t>Appendix D: source and evidence register</a:t>
            </a:r>
            <a:endParaRPr sz="2400"/>
          </a:p>
        </p:txBody>
      </p:sp>
      <p:sp>
        <p:nvSpPr>
          <p:cNvPr id="4" name="Page Badge">
            <a:extLst xmlns:a="http://schemas.openxmlformats.org/drawingml/2006/main">
              <a:ext uri="{FF2B5EF4-FFF2-40B4-BE49-F238E27FC236}">
                <a16:creationId xmlns:a16="http://schemas.microsoft.com/office/drawing/2014/main" id="{D32752A5-DBD6-4880-99B4-C7A070745178}"/>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ellipse">
            <a:avLst/>
          </a:prstGeom>
          <a:solidFill xmlns:a="http://schemas.openxmlformats.org/drawingml/2006/main">
            <a:schemeClr val="accent1"/>
          </a:solidFill>
        </p:spPr>
      </p:sp>
      <p:sp>
        <p:nvSpPr>
          <p:cNvPr id="5" name="Text 2">
            <a:extLst xmlns:a="http://schemas.openxmlformats.org/drawingml/2006/main">
              <a:ext uri="{FF2B5EF4-FFF2-40B4-BE49-F238E27FC236}">
                <a16:creationId xmlns:a16="http://schemas.microsoft.com/office/drawing/2014/main" id="{59CCD7AA-5312-4FFB-8A7D-A4431FED7462}"/>
              </a:ext>
            </a:extLst>
          </p:cNvPr>
          <p:cNvSpPr>
            <a:spLocks xmlns:a="http://schemas.openxmlformats.org/drawingml/2006/main" noGrp="1"/>
          </p:cNvSpPr>
          <p:nvPr/>
        </p:nvSpPr>
        <p:spPr>
          <a:xfrm xmlns:a="http://schemas.openxmlformats.org/drawingml/2006/main">
            <a:off x="457200" y="2743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marL="0" indent="0" algn="ctr">
              <a:buNone/>
              <a:defRPr sz="1300" b="1">
                <a:solidFill>
                  <a:srgbClr val="FFFFFF"/>
                </a:solidFill>
                <a:latin typeface="Arial"/>
                <a:ea typeface="Arial"/>
                <a:cs typeface="Arial"/>
              </a:defRPr>
            </a:pPr>
            <a:r>
              <a:rPr sz="1300" b="1">
                <a:solidFill>
                  <a:srgbClr val="FFFFFF"/>
                </a:solidFill>
                <a:latin typeface="Arial"/>
                <a:ea typeface="Arial"/>
                <a:cs typeface="Arial"/>
              </a:rPr>
              <a:t>28</a:t>
            </a:r>
            <a:endParaRPr sz="1300"/>
          </a:p>
        </p:txBody>
      </p:sp>
      <p:sp>
        <p:nvSpPr>
          <p:cNvPr id="6" name="Key Message">
            <a:extLst xmlns:a="http://schemas.openxmlformats.org/drawingml/2006/main">
              <a:ext uri="{FF2B5EF4-FFF2-40B4-BE49-F238E27FC236}">
                <a16:creationId xmlns:a16="http://schemas.microsoft.com/office/drawing/2014/main" id="{227D4407-E515-423F-8D58-403F8B61DA89}"/>
              </a:ext>
            </a:extLst>
          </p:cNvPr>
          <p:cNvSpPr>
            <a:spLocks xmlns:a="http://schemas.openxmlformats.org/drawingml/2006/main" noGrp="1"/>
          </p:cNvSpPr>
          <p:nvPr/>
        </p:nvSpPr>
        <p:spPr>
          <a:xfrm xmlns:a="http://schemas.openxmlformats.org/drawingml/2006/main">
            <a:off x="1078992" y="771525"/>
            <a:ext cx="7524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102">
                <a:solidFill>
                  <a:srgbClr val="626B73"/>
                </a:solidFill>
                <a:latin typeface="Arial"/>
                <a:ea typeface="Arial"/>
                <a:cs typeface="Arial"/>
              </a:defRPr>
            </a:defPPr>
            <a:lvl1pPr>
              <a:defRPr sz="1102">
                <a:solidFill>
                  <a:srgbClr val="626B73"/>
                </a:solidFill>
                <a:latin typeface="Arial"/>
                <a:ea typeface="Arial"/>
                <a:cs typeface="Arial"/>
              </a:defRPr>
            </a:lvl1pPr>
            <a:lvl2pPr>
              <a:defRPr sz="1102">
                <a:solidFill>
                  <a:srgbClr val="626B73"/>
                </a:solidFill>
                <a:latin typeface="Arial"/>
                <a:ea typeface="Arial"/>
                <a:cs typeface="Arial"/>
              </a:defRPr>
            </a:lvl2pPr>
            <a:lvl3pPr>
              <a:defRPr sz="1102">
                <a:solidFill>
                  <a:srgbClr val="626B73"/>
                </a:solidFill>
                <a:latin typeface="Arial"/>
                <a:ea typeface="Arial"/>
                <a:cs typeface="Arial"/>
              </a:defRPr>
            </a:lvl3pPr>
            <a:lvl4pPr>
              <a:defRPr sz="1102">
                <a:solidFill>
                  <a:srgbClr val="626B73"/>
                </a:solidFill>
                <a:latin typeface="Arial"/>
                <a:ea typeface="Arial"/>
                <a:cs typeface="Arial"/>
              </a:defRPr>
            </a:lvl4pPr>
            <a:lvl5pPr>
              <a:defRPr sz="1102">
                <a:solidFill>
                  <a:srgbClr val="626B73"/>
                </a:solidFill>
                <a:latin typeface="Arial"/>
                <a:ea typeface="Arial"/>
                <a:cs typeface="Arial"/>
              </a:defRPr>
            </a:lvl5pPr>
            <a:lvl6pPr>
              <a:defRPr sz="1102">
                <a:solidFill>
                  <a:srgbClr val="626B73"/>
                </a:solidFill>
                <a:latin typeface="Arial"/>
                <a:ea typeface="Arial"/>
                <a:cs typeface="Arial"/>
              </a:defRPr>
            </a:lvl6pPr>
            <a:lvl7pPr>
              <a:defRPr sz="1102">
                <a:solidFill>
                  <a:srgbClr val="626B73"/>
                </a:solidFill>
                <a:latin typeface="Arial"/>
                <a:ea typeface="Arial"/>
                <a:cs typeface="Arial"/>
              </a:defRPr>
            </a:lvl7pPr>
            <a:lvl8pPr>
              <a:defRPr sz="1102">
                <a:solidFill>
                  <a:srgbClr val="626B73"/>
                </a:solidFill>
                <a:latin typeface="Arial"/>
                <a:ea typeface="Arial"/>
                <a:cs typeface="Arial"/>
              </a:defRPr>
            </a:lvl8pPr>
            <a:lvl9pPr>
              <a:defRPr sz="1102">
                <a:solidFill>
                  <a:srgbClr val="626B73"/>
                </a:solidFill>
                <a:latin typeface="Arial"/>
                <a:ea typeface="Arial"/>
                <a:cs typeface="Arial"/>
              </a:defRPr>
            </a:lvl9pPr>
          </a:lstStyle>
          <a:p xmlns:a="http://schemas.openxmlformats.org/drawingml/2006/main">
            <a:pPr marL="0" indent="0">
              <a:buNone/>
              <a:defRPr sz="1102">
                <a:solidFill>
                  <a:srgbClr val="626B73"/>
                </a:solidFill>
                <a:latin typeface="Arial"/>
                <a:ea typeface="Arial"/>
                <a:cs typeface="Arial"/>
              </a:defRPr>
            </a:pPr>
            <a:r>
              <a:rPr sz="1102" i="1">
                <a:solidFill>
                  <a:srgbClr val="626B73"/>
                </a:solidFill>
                <a:latin typeface="Arial"/>
                <a:ea typeface="Arial"/>
                <a:cs typeface="Arial"/>
              </a:rPr>
              <a:t>Claims in the presentation refer to the following project materials</a:t>
            </a:r>
            <a:endParaRPr sz="1100"/>
          </a:p>
        </p:txBody>
      </p:sp>
      <p:sp>
        <p:nvSpPr>
          <p:cNvPr id="7" name="System  ·  Technology  ·  Interface  ·  Process Area">
            <a:extLst xmlns:a="http://schemas.openxmlformats.org/drawingml/2006/main">
              <a:ext uri="{FF2B5EF4-FFF2-40B4-BE49-F238E27FC236}">
                <a16:creationId xmlns:a16="http://schemas.microsoft.com/office/drawing/2014/main" id="{4009D7BC-4470-42FD-BF3D-7352A405C59A}"/>
              </a:ext>
            </a:extLst>
          </p:cNvPr>
          <p:cNvSpPr>
            <a:spLocks xmlns:a="http://schemas.openxmlformats.org/drawingml/2006/main" noGrp="1"/>
          </p:cNvSpPr>
          <p:nvPr/>
        </p:nvSpPr>
        <p:spPr>
          <a:xfrm xmlns:a="http://schemas.openxmlformats.org/drawingml/2006/main">
            <a:off x="457200" y="1188720"/>
            <a:ext cx="8229600" cy="3429000"/>
          </a:xfrm>
          <a:prstGeom xmlns:a="http://schemas.openxmlformats.org/drawingml/2006/main" prst="roundRect">
            <a:avLst>
              <a:gd name="adj" fmla="val 2133"/>
            </a:avLst>
          </a:prstGeom>
          <a:solidFill xmlns:a="http://schemas.openxmlformats.org/drawingml/2006/main">
            <a:schemeClr val="bg2"/>
          </a:solidFill>
          <a:ln xmlns:a="http://schemas.openxmlformats.org/drawingml/2006/main" w="12700">
            <a:solidFill>
              <a:schemeClr val="bg2"/>
            </a:solidFill>
            <a:prstDash val="solid"/>
          </a:ln>
        </p:spPr>
      </p:sp>
      <p:sp>
        <p:nvSpPr>
          <p:cNvPr id="25" name="Slide Number Placeholder 0">
            <a:extLst xmlns:a="http://schemas.openxmlformats.org/drawingml/2006/main">
              <a:ext uri="{FF2B5EF4-FFF2-40B4-BE49-F238E27FC236}">
                <a16:creationId xmlns:a16="http://schemas.microsoft.com/office/drawing/2014/main" id="{E969F34C-EADD-4A5F-A9B5-A2CD7C7FC679}"/>
              </a:ext>
            </a:extLst>
          </p:cNvPr>
          <p:cNvSpPr>
            <a:spLocks xmlns:a="http://schemas.openxmlformats.org/drawingml/2006/main" noGrp="1"/>
          </p:cNvSpPr>
          <p:nvPr>
            <p:ph type="sldNum" idx="4294967295"/>
          </p:nvPr>
        </p:nvSpPr>
        <p:spPr>
          <a:xfrm xmlns:a="http://schemas.openxmlformats.org/drawingml/2006/main">
            <a:off x="8229600" y="4800600"/>
            <a:ext cx="457200" cy="2286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lgn="r">
              <a:defRPr sz="900">
                <a:solidFill>
                  <a:srgbClr val="626B73"/>
                </a:solidFill>
                <a:latin typeface="Arial"/>
                <a:ea typeface="Arial"/>
                <a:cs typeface="Arial"/>
              </a:defRPr>
            </a:defPPr>
            <a:lvl1pPr algn="r">
              <a:buNone/>
              <a:defRPr sz="900">
                <a:solidFill>
                  <a:schemeClr val="accent4"/>
                </a:solidFill>
                <a:latin typeface="Arial"/>
                <a:ea typeface="Arial"/>
                <a:cs typeface="Arial"/>
              </a:defRPr>
            </a:lvl1pPr>
            <a:lvl2pPr algn="r">
              <a:defRPr sz="900">
                <a:solidFill>
                  <a:srgbClr val="626B73"/>
                </a:solidFill>
                <a:latin typeface="Arial"/>
                <a:ea typeface="Arial"/>
                <a:cs typeface="Arial"/>
              </a:defRPr>
            </a:lvl2pPr>
            <a:lvl3pPr algn="r">
              <a:defRPr sz="900">
                <a:solidFill>
                  <a:srgbClr val="626B73"/>
                </a:solidFill>
                <a:latin typeface="Arial"/>
                <a:ea typeface="Arial"/>
                <a:cs typeface="Arial"/>
              </a:defRPr>
            </a:lvl3pPr>
            <a:lvl4pPr algn="r">
              <a:defRPr sz="900">
                <a:solidFill>
                  <a:srgbClr val="626B73"/>
                </a:solidFill>
                <a:latin typeface="Arial"/>
                <a:ea typeface="Arial"/>
                <a:cs typeface="Arial"/>
              </a:defRPr>
            </a:lvl4pPr>
            <a:lvl5pPr algn="r">
              <a:defRPr sz="900">
                <a:solidFill>
                  <a:srgbClr val="626B73"/>
                </a:solidFill>
                <a:latin typeface="Arial"/>
                <a:ea typeface="Arial"/>
                <a:cs typeface="Arial"/>
              </a:defRPr>
            </a:lvl5pPr>
            <a:lvl6pPr algn="r">
              <a:defRPr sz="900">
                <a:solidFill>
                  <a:srgbClr val="626B73"/>
                </a:solidFill>
                <a:latin typeface="Arial"/>
                <a:ea typeface="Arial"/>
                <a:cs typeface="Arial"/>
              </a:defRPr>
            </a:lvl6pPr>
            <a:lvl7pPr algn="r">
              <a:defRPr sz="900">
                <a:solidFill>
                  <a:srgbClr val="626B73"/>
                </a:solidFill>
                <a:latin typeface="Arial"/>
                <a:ea typeface="Arial"/>
                <a:cs typeface="Arial"/>
              </a:defRPr>
            </a:lvl7pPr>
            <a:lvl8pPr algn="r">
              <a:defRPr sz="900">
                <a:solidFill>
                  <a:srgbClr val="626B73"/>
                </a:solidFill>
                <a:latin typeface="Arial"/>
                <a:ea typeface="Arial"/>
                <a:cs typeface="Arial"/>
              </a:defRPr>
            </a:lvl8pPr>
            <a:lvl9pPr algn="r">
              <a:defRPr sz="900">
                <a:solidFill>
                  <a:srgbClr val="626B73"/>
                </a:solidFill>
                <a:latin typeface="Arial"/>
                <a:ea typeface="Arial"/>
                <a:cs typeface="Arial"/>
              </a:defRPr>
            </a:lvl9pPr>
          </a:lstStyle>
          <a:p xmlns:a="http://schemas.openxmlformats.org/drawingml/2006/main">
            <a:pPr algn="r">
              <a:buNone/>
              <a:defRPr sz="900">
                <a:solidFill>
                  <a:srgbClr val="626B73"/>
                </a:solidFill>
                <a:latin typeface="Arial"/>
                <a:ea typeface="Arial"/>
                <a:cs typeface="Arial"/>
              </a:defRPr>
            </a:pPr>
            <a:fld id="{68AD4375-9F50-F53A-6F9F-DD8473067C05}" type="slidenum">
              <a:rPr sz="900" b="0">
                <a:solidFill>
                  <a:srgbClr val="626B73"/>
                </a:solidFill>
                <a:latin typeface="Arial"/>
                <a:ea typeface="Arial"/>
                <a:cs typeface="Arial"/>
              </a:rPr>
              <a:t>28</a:t>
            </a:fld>
            <a:endParaRPr/>
          </a:p>
        </p:txBody>
      </p:sp>
      <p:sp>
        <p:nvSpPr>
          <p:cNvPr id="26" name="Source note">
            <a:extLst xmlns:a="http://schemas.openxmlformats.org/drawingml/2006/main">
              <a:ext uri="{FF2B5EF4-FFF2-40B4-BE49-F238E27FC236}">
                <a16:creationId xmlns:a16="http://schemas.microsoft.com/office/drawing/2014/main" id="{74AEC3C0-1DF8-4220-BCE5-60AFB1BC5090}"/>
              </a:ext>
            </a:extLst>
          </p:cNvPr>
          <p:cNvSpPr>
            <a:spLocks xmlns:a="http://schemas.openxmlformats.org/drawingml/2006/main" noGrp="1"/>
          </p:cNvSpPr>
          <p:nvPr/>
        </p:nvSpPr>
        <p:spPr>
          <a:xfrm xmlns:a="http://schemas.openxmlformats.org/drawingml/2006/main">
            <a:off x="466725" y="4657725"/>
            <a:ext cx="8077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0">
                <a:solidFill>
                  <a:srgbClr val="626B73"/>
                </a:solidFill>
                <a:latin typeface="Arial"/>
                <a:ea typeface="Arial"/>
                <a:cs typeface="Arial"/>
              </a:defRPr>
            </a:defPPr>
            <a:lvl1pPr algn="l">
              <a:defRPr sz="788" b="0">
                <a:solidFill>
                  <a:srgbClr val="626B73"/>
                </a:solidFill>
                <a:latin typeface="Arial"/>
                <a:ea typeface="Arial"/>
                <a:cs typeface="Arial"/>
              </a:defRPr>
            </a:lvl1pPr>
            <a:lvl2pPr algn="l">
              <a:defRPr sz="788" b="0">
                <a:solidFill>
                  <a:srgbClr val="626B73"/>
                </a:solidFill>
                <a:latin typeface="Arial"/>
                <a:ea typeface="Arial"/>
                <a:cs typeface="Arial"/>
              </a:defRPr>
            </a:lvl2pPr>
            <a:lvl3pPr algn="l">
              <a:defRPr sz="788" b="0">
                <a:solidFill>
                  <a:srgbClr val="626B73"/>
                </a:solidFill>
                <a:latin typeface="Arial"/>
                <a:ea typeface="Arial"/>
                <a:cs typeface="Arial"/>
              </a:defRPr>
            </a:lvl3pPr>
            <a:lvl4pPr algn="l">
              <a:defRPr sz="788" b="0">
                <a:solidFill>
                  <a:srgbClr val="626B73"/>
                </a:solidFill>
                <a:latin typeface="Arial"/>
                <a:ea typeface="Arial"/>
                <a:cs typeface="Arial"/>
              </a:defRPr>
            </a:lvl4pPr>
            <a:lvl5pPr algn="l">
              <a:defRPr sz="788" b="0">
                <a:solidFill>
                  <a:srgbClr val="626B73"/>
                </a:solidFill>
                <a:latin typeface="Arial"/>
                <a:ea typeface="Arial"/>
                <a:cs typeface="Arial"/>
              </a:defRPr>
            </a:lvl5pPr>
            <a:lvl6pPr algn="l">
              <a:defRPr sz="788" b="0">
                <a:solidFill>
                  <a:srgbClr val="626B73"/>
                </a:solidFill>
                <a:latin typeface="Arial"/>
                <a:ea typeface="Arial"/>
                <a:cs typeface="Arial"/>
              </a:defRPr>
            </a:lvl6pPr>
            <a:lvl7pPr algn="l">
              <a:defRPr sz="788" b="0">
                <a:solidFill>
                  <a:srgbClr val="626B73"/>
                </a:solidFill>
                <a:latin typeface="Arial"/>
                <a:ea typeface="Arial"/>
                <a:cs typeface="Arial"/>
              </a:defRPr>
            </a:lvl7pPr>
            <a:lvl8pPr algn="l">
              <a:defRPr sz="788" b="0">
                <a:solidFill>
                  <a:srgbClr val="626B73"/>
                </a:solidFill>
                <a:latin typeface="Arial"/>
                <a:ea typeface="Arial"/>
                <a:cs typeface="Arial"/>
              </a:defRPr>
            </a:lvl8pPr>
            <a:lvl9pPr algn="l">
              <a:defRPr sz="788" b="0">
                <a:solidFill>
                  <a:srgbClr val="626B73"/>
                </a:solidFill>
                <a:latin typeface="Arial"/>
                <a:ea typeface="Arial"/>
                <a:cs typeface="Arial"/>
              </a:defRPr>
            </a:lvl9pPr>
          </a:lstStyle>
          <a:p xmlns:a="http://schemas.openxmlformats.org/drawingml/2006/main">
            <a:pPr algn="l">
              <a:defRPr sz="788" b="0">
                <a:solidFill>
                  <a:srgbClr val="626B73"/>
                </a:solidFill>
                <a:latin typeface="Arial"/>
                <a:ea typeface="Arial"/>
                <a:cs typeface="Arial"/>
              </a:defRPr>
            </a:pPr>
            <a:r>
              <a:rPr sz="788" b="0">
                <a:solidFill>
                  <a:srgbClr val="626B73"/>
                </a:solidFill>
                <a:latin typeface="Arial"/>
                <a:ea typeface="Arial"/>
                <a:cs typeface="Arial"/>
              </a:rPr>
              <a:t>All code, configuration and screenshot references concern the final v5.1.0 prototype.</a:t>
            </a:r>
          </a:p>
        </p:txBody>
      </p:sp>
      <p:graphicFrame>
        <p:nvGraphicFramePr>
          <p:cNvPr id="27" name="">
            <a:extLst xmlns:a="http://schemas.openxmlformats.org/drawingml/2006/main">
              <a:ext uri="{FF2B5EF4-FFF2-40B4-BE49-F238E27FC236}">
                <a16:creationId xmlns:a16="http://schemas.microsoft.com/office/drawing/2014/main" id="{19189FB8-6DC0-4BFD-8743-3796D71BD2EC}"/>
              </a:ext>
            </a:extLst>
          </p:cNvPr>
          <p:cNvGraphicFramePr/>
          <p:nvPr/>
        </p:nvGraphicFramePr>
        <p:xfrm>
          <a:off xmlns:a="http://schemas.openxmlformats.org/drawingml/2006/main" x="657225" y="1390650"/>
          <a:ext xmlns:a="http://schemas.openxmlformats.org/drawingml/2006/main" cx="7829550" cy="2514600"/>
        </p:xfrm>
        <a:graphic xmlns:a="http://schemas.openxmlformats.org/drawingml/2006/main">
          <a:graphicData uri="http://schemas.openxmlformats.org/drawingml/2006/table">
            <a:tbl>
              <a:tblPr firstRow="1" bandRow="0"/>
              <a:tblGrid>
                <a:gridCol w="952500"/>
                <a:gridCol w="3124200"/>
                <a:gridCol w="3752850"/>
              </a:tblGrid>
              <a:tr h="419100">
                <a:tc>
                  <a:txBody>
                    <a:bodyPr wrap="square">
                      <a:noAutofit/>
                    </a:bodyPr>
                    <a:lstStyle/>
                    <a:p>
                      <a:pPr algn="l"/>
                      <a:r>
                        <a:rPr sz="1148" b="1">
                          <a:solidFill>
                            <a:srgbClr val="FFFFFF"/>
                          </a:solidFill>
                          <a:latin typeface="Arial"/>
                          <a:ea typeface="Arial"/>
                          <a:cs typeface="Arial"/>
                        </a:rPr>
                        <a:t>Reference</a:t>
                      </a:r>
                    </a:p>
                  </a:txBody>
                  <a:tcPr marL="76200" marR="76200" marT="38100" marB="38100" anchor="ctr">
                    <a:lnL w="6191">
                      <a:solidFill>
                        <a:srgbClr val="CDD5DB"/>
                      </a:solidFill>
                      <a:prstDash val="solid"/>
                    </a:lnL>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Material</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c>
                  <a:txBody>
                    <a:bodyPr wrap="square">
                      <a:noAutofit/>
                    </a:bodyPr>
                    <a:lstStyle/>
                    <a:p>
                      <a:pPr algn="l"/>
                      <a:r>
                        <a:rPr sz="1148" b="1">
                          <a:solidFill>
                            <a:srgbClr val="FFFFFF"/>
                          </a:solidFill>
                          <a:latin typeface="Arial"/>
                          <a:ea typeface="Arial"/>
                          <a:cs typeface="Arial"/>
                        </a:rPr>
                        <a:t>Role in this presentation</a:t>
                      </a:r>
                    </a:p>
                  </a:txBody>
                  <a:tcPr marL="76200" marR="76200" marT="38100" marB="38100" anchor="ctr">
                    <a:lnR w="6191">
                      <a:solidFill>
                        <a:srgbClr val="CDD5DB"/>
                      </a:solidFill>
                      <a:prstDash val="solid"/>
                    </a:lnR>
                    <a:lnT w="6191">
                      <a:solidFill>
                        <a:srgbClr val="CDD5DB"/>
                      </a:solidFill>
                      <a:prstDash val="solid"/>
                    </a:lnT>
                    <a:lnB w="6191">
                      <a:solidFill>
                        <a:srgbClr val="CDD5DB"/>
                      </a:solidFill>
                      <a:prstDash val="solid"/>
                    </a:lnB>
                    <a:solidFill>
                      <a:srgbClr val="002C5F"/>
                    </a:solidFill>
                  </a:tcPr>
                </a:tc>
              </a:tr>
              <a:tr h="419100">
                <a:tc>
                  <a:txBody>
                    <a:bodyPr wrap="square">
                      <a:noAutofit/>
                    </a:bodyPr>
                    <a:lstStyle/>
                    <a:p>
                      <a:pPr algn="l"/>
                      <a:r>
                        <a:rPr sz="1148" b="0">
                          <a:solidFill>
                            <a:srgbClr val="002C5F"/>
                          </a:solidFill>
                          <a:latin typeface="Arial"/>
                          <a:ea typeface="Arial"/>
                          <a:cs typeface="Arial"/>
                        </a:rPr>
                        <a:t>S1</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Frozen app source and JSON configuration</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Implementation, algorithms, thresholds, menus, storage, PWA and reproduction</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19100">
                <a:tc>
                  <a:txBody>
                    <a:bodyPr wrap="square">
                      <a:noAutofit/>
                    </a:bodyPr>
                    <a:lstStyle/>
                    <a:p>
                      <a:pPr algn="l"/>
                      <a:r>
                        <a:rPr sz="1148" b="0">
                          <a:solidFill>
                            <a:srgbClr val="002C5F"/>
                          </a:solidFill>
                          <a:latin typeface="Arial"/>
                          <a:ea typeface="Arial"/>
                          <a:cs typeface="Arial"/>
                        </a:rPr>
                        <a:t>S2</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Eight supplied phone screenshots, 17 October 2026</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Installed layout, Chaayos/Tealogy alerts and selected progress frames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19100">
                <a:tc>
                  <a:txBody>
                    <a:bodyPr wrap="square">
                      <a:noAutofit/>
                    </a:bodyPr>
                    <a:lstStyle/>
                    <a:p>
                      <a:pPr algn="l"/>
                      <a:r>
                        <a:rPr sz="1148" b="0">
                          <a:solidFill>
                            <a:srgbClr val="002C5F"/>
                          </a:solidFill>
                          <a:latin typeface="Arial"/>
                          <a:ea typeface="Arial"/>
                          <a:cs typeface="Arial"/>
                        </a:rPr>
                        <a:t>S3</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InVehicle_History_2026-10-17 (3).json</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Three GPS completion records and one explicit retained choice event</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r h="419100">
                <a:tc>
                  <a:txBody>
                    <a:bodyPr wrap="square">
                      <a:noAutofit/>
                    </a:bodyPr>
                    <a:lstStyle/>
                    <a:p>
                      <a:pPr algn="l"/>
                      <a:r>
                        <a:rPr sz="1148" b="0">
                          <a:solidFill>
                            <a:srgbClr val="002C5F"/>
                          </a:solidFill>
                          <a:latin typeface="Arial"/>
                          <a:ea typeface="Arial"/>
                          <a:cs typeface="Arial"/>
                        </a:rPr>
                        <a:t>S4</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Simulated route inside IITD.kml and route.json</a:t>
                      </a:r>
                    </a:p>
                  </a:txBody>
                  <a:tcPr marL="76200" marR="76200" marT="38100" marB="38100" anchor="ctr">
                    <a:lnR w="6191">
                      <a:solidFill>
                        <a:srgbClr val="CDD5DB"/>
                      </a:solidFill>
                      <a:prstDash val="solid"/>
                    </a:lnR>
                    <a:lnB w="6191">
                      <a:solidFill>
                        <a:srgbClr val="CDD5DB"/>
                      </a:solidFill>
                      <a:prstDash val="solid"/>
                    </a:lnB>
                    <a:solidFill>
                      <a:srgbClr val="F6F3F2"/>
                    </a:solidFill>
                  </a:tcPr>
                </a:tc>
                <a:tc>
                  <a:txBody>
                    <a:bodyPr wrap="square">
                      <a:noAutofit/>
                    </a:bodyPr>
                    <a:lstStyle/>
                    <a:p>
                      <a:pPr algn="l"/>
                      <a:r>
                        <a:rPr sz="1148" b="0">
                          <a:solidFill>
                            <a:srgbClr val="002C5F"/>
                          </a:solidFill>
                          <a:latin typeface="Arial"/>
                          <a:ea typeface="Arial"/>
                          <a:cs typeface="Arial"/>
                        </a:rPr>
                        <a:t>Route geometry and fixed demonstration endpoints</a:t>
                      </a:r>
                    </a:p>
                  </a:txBody>
                  <a:tcPr marL="76200" marR="76200" marT="38100" marB="38100" anchor="ctr">
                    <a:lnR w="6191">
                      <a:solidFill>
                        <a:srgbClr val="CDD5DB"/>
                      </a:solidFill>
                      <a:prstDash val="solid"/>
                    </a:lnR>
                    <a:lnB w="6191">
                      <a:solidFill>
                        <a:srgbClr val="CDD5DB"/>
                      </a:solidFill>
                      <a:prstDash val="solid"/>
                    </a:lnB>
                    <a:solidFill>
                      <a:srgbClr val="F6F3F2"/>
                    </a:solidFill>
                  </a:tcPr>
                </a:tc>
              </a:tr>
              <a:tr h="419100">
                <a:tc>
                  <a:txBody>
                    <a:bodyPr wrap="square">
                      <a:noAutofit/>
                    </a:bodyPr>
                    <a:lstStyle/>
                    <a:p>
                      <a:pPr algn="l"/>
                      <a:r>
                        <a:rPr sz="1148" b="0">
                          <a:solidFill>
                            <a:srgbClr val="002C5F"/>
                          </a:solidFill>
                          <a:latin typeface="Arial"/>
                          <a:ea typeface="Arial"/>
                          <a:cs typeface="Arial"/>
                        </a:rPr>
                        <a:t>S5</a:t>
                      </a:r>
                    </a:p>
                  </a:txBody>
                  <a:tcPr marL="76200" marR="76200" marT="38100" marB="38100" anchor="ctr">
                    <a:lnL w="6191">
                      <a:solidFill>
                        <a:srgbClr val="CDD5DB"/>
                      </a:solidFill>
                      <a:prstDash val="solid"/>
                    </a:lnL>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Author account and final prototype acceptance</a:t>
                      </a:r>
                    </a:p>
                  </a:txBody>
                  <a:tcPr marL="76200" marR="76200" marT="38100" marB="38100" anchor="ctr">
                    <a:lnR w="6191">
                      <a:solidFill>
                        <a:srgbClr val="CDD5DB"/>
                      </a:solidFill>
                      <a:prstDash val="solid"/>
                    </a:lnR>
                    <a:lnB w="6191">
                      <a:solidFill>
                        <a:srgbClr val="CDD5DB"/>
                      </a:solidFill>
                      <a:prstDash val="solid"/>
                    </a:lnB>
                    <a:solidFill>
                      <a:srgbClr val="FFFFFF"/>
                    </a:solidFill>
                  </a:tcPr>
                </a:tc>
                <a:tc>
                  <a:txBody>
                    <a:bodyPr wrap="square">
                      <a:noAutofit/>
                    </a:bodyPr>
                    <a:lstStyle/>
                    <a:p>
                      <a:pPr algn="l"/>
                      <a:r>
                        <a:rPr sz="1148" b="0">
                          <a:solidFill>
                            <a:srgbClr val="002C5F"/>
                          </a:solidFill>
                          <a:latin typeface="Arial"/>
                          <a:ea typeface="Arial"/>
                          <a:cs typeface="Arial"/>
                        </a:rPr>
                        <a:t>Motivation, intended passenger scenario and confirmation of demonstrations</a:t>
                      </a:r>
                    </a:p>
                  </a:txBody>
                  <a:tcPr marL="76200" marR="76200" marT="38100" marB="38100" anchor="ctr">
                    <a:lnR w="6191">
                      <a:solidFill>
                        <a:srgbClr val="CDD5DB"/>
                      </a:solidFill>
                      <a:prstDash val="solid"/>
                    </a:lnR>
                    <a:lnB w="6191">
                      <a:solidFill>
                        <a:srgbClr val="CDD5DB"/>
                      </a:solidFill>
                      <a:prstDash val="solid"/>
                    </a:lnB>
                    <a:solidFill>
                      <a:srgbClr val="FFFFFF"/>
                    </a:solidFill>
                  </a:tcPr>
                </a:tc>
              </a:tr>
            </a:tbl>
          </a:graphicData>
        </a:graphic>
      </p:graphicFrame>
      <p:sp>
        <p:nvSpPr>
          <p:cNvPr id="28" name="Module register">
            <a:extLst xmlns:a="http://schemas.openxmlformats.org/drawingml/2006/main">
              <a:ext uri="{FF2B5EF4-FFF2-40B4-BE49-F238E27FC236}">
                <a16:creationId xmlns:a16="http://schemas.microsoft.com/office/drawing/2014/main" id="{BFC615B3-E734-4761-A916-B0647D081709}"/>
              </a:ext>
            </a:extLst>
          </p:cNvPr>
          <p:cNvSpPr>
            <a:spLocks xmlns:a="http://schemas.openxmlformats.org/drawingml/2006/main" noGrp="1"/>
          </p:cNvSpPr>
          <p:nvPr/>
        </p:nvSpPr>
        <p:spPr>
          <a:xfrm xmlns:a="http://schemas.openxmlformats.org/drawingml/2006/main">
            <a:off x="657225" y="4057650"/>
            <a:ext cx="77819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002C5F"/>
                </a:solidFill>
                <a:latin typeface="Arial"/>
                <a:ea typeface="Arial"/>
                <a:cs typeface="Arial"/>
              </a:defRPr>
            </a:defPPr>
            <a:lvl1pPr algn="l">
              <a:defRPr sz="1148" b="0">
                <a:solidFill>
                  <a:srgbClr val="002C5F"/>
                </a:solidFill>
                <a:latin typeface="Arial"/>
                <a:ea typeface="Arial"/>
                <a:cs typeface="Arial"/>
              </a:defRPr>
            </a:lvl1pPr>
            <a:lvl2pPr algn="l">
              <a:defRPr sz="1148" b="0">
                <a:solidFill>
                  <a:srgbClr val="002C5F"/>
                </a:solidFill>
                <a:latin typeface="Arial"/>
                <a:ea typeface="Arial"/>
                <a:cs typeface="Arial"/>
              </a:defRPr>
            </a:lvl2pPr>
            <a:lvl3pPr algn="l">
              <a:defRPr sz="1148" b="0">
                <a:solidFill>
                  <a:srgbClr val="002C5F"/>
                </a:solidFill>
                <a:latin typeface="Arial"/>
                <a:ea typeface="Arial"/>
                <a:cs typeface="Arial"/>
              </a:defRPr>
            </a:lvl3pPr>
            <a:lvl4pPr algn="l">
              <a:defRPr sz="1148" b="0">
                <a:solidFill>
                  <a:srgbClr val="002C5F"/>
                </a:solidFill>
                <a:latin typeface="Arial"/>
                <a:ea typeface="Arial"/>
                <a:cs typeface="Arial"/>
              </a:defRPr>
            </a:lvl4pPr>
            <a:lvl5pPr algn="l">
              <a:defRPr sz="1148" b="0">
                <a:solidFill>
                  <a:srgbClr val="002C5F"/>
                </a:solidFill>
                <a:latin typeface="Arial"/>
                <a:ea typeface="Arial"/>
                <a:cs typeface="Arial"/>
              </a:defRPr>
            </a:lvl5pPr>
            <a:lvl6pPr algn="l">
              <a:defRPr sz="1148" b="0">
                <a:solidFill>
                  <a:srgbClr val="002C5F"/>
                </a:solidFill>
                <a:latin typeface="Arial"/>
                <a:ea typeface="Arial"/>
                <a:cs typeface="Arial"/>
              </a:defRPr>
            </a:lvl6pPr>
            <a:lvl7pPr algn="l">
              <a:defRPr sz="1148" b="0">
                <a:solidFill>
                  <a:srgbClr val="002C5F"/>
                </a:solidFill>
                <a:latin typeface="Arial"/>
                <a:ea typeface="Arial"/>
                <a:cs typeface="Arial"/>
              </a:defRPr>
            </a:lvl7pPr>
            <a:lvl8pPr algn="l">
              <a:defRPr sz="1148" b="0">
                <a:solidFill>
                  <a:srgbClr val="002C5F"/>
                </a:solidFill>
                <a:latin typeface="Arial"/>
                <a:ea typeface="Arial"/>
                <a:cs typeface="Arial"/>
              </a:defRPr>
            </a:lvl8pPr>
            <a:lvl9pPr algn="l">
              <a:defRPr sz="1148" b="0">
                <a:solidFill>
                  <a:srgbClr val="002C5F"/>
                </a:solidFill>
                <a:latin typeface="Arial"/>
                <a:ea typeface="Arial"/>
                <a:cs typeface="Arial"/>
              </a:defRPr>
            </a:lvl9pPr>
          </a:lstStyle>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Core modules: app.js, suggestion-engine.js, gps-engine.js, feedback-learning.js, routine-engine.js,</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order-engine.js and history-backup.js. Delivery files include manifest.json, pwa.js and service-worker.js.</a:t>
            </a:r>
          </a:p>
          <a:p xmlns:a="http://schemas.openxmlformats.org/drawingml/2006/main">
            <a:pPr algn="l">
              <a:defRPr sz="1148" b="0">
                <a:solidFill>
                  <a:srgbClr val="002C5F"/>
                </a:solidFill>
                <a:latin typeface="Arial"/>
                <a:ea typeface="Arial"/>
                <a:cs typeface="Arial"/>
              </a:defRPr>
            </a:pPr>
            <a:r>
              <a:rPr sz="1148" b="0">
                <a:solidFill>
                  <a:srgbClr val="002C5F"/>
                </a:solidFill>
                <a:latin typeface="Arial"/>
                <a:ea typeface="Arial"/>
                <a:cs typeface="Arial"/>
              </a:rPr>
              <a:t>Leaflet 1.9.4 and OpenStreetMap provide map rendering and tiles.</a:t>
            </a:r>
          </a:p>
        </p:txBody>
      </p:sp>
    </p:spTree>
    <p:extLst>
      <p:ext uri="{BB962C8B-B14F-4D97-AF65-F5344CB8AC3E}">
        <p14:creationId xmlns:p14="http://schemas.microsoft.com/office/powerpoint/2010/main" val="467439835"/>
      </p:ext>
    </p:extLst>
  </p:cSld>
</p:sld>
</file>

<file path=ppt/theme/theme1.xml><?xml version="1.0" encoding="utf-8"?>
<a:theme xmlns:a="http://schemas.openxmlformats.org/drawingml/2006/main" name="Hyundai CI">
  <a:themeElements>
    <a:clrScheme name="Hyundai CI">
      <a:dk1>
        <a:srgbClr val="1C1B1B"/>
      </a:dk1>
      <a:lt1>
        <a:srgbClr val="FFFFFF"/>
      </a:lt1>
      <a:dk2>
        <a:srgbClr val="002C5F"/>
      </a:dk2>
      <a:lt2>
        <a:srgbClr val="F6F3F2"/>
      </a:lt2>
      <a:accent1>
        <a:srgbClr val="002C5F"/>
      </a:accent1>
      <a:accent2>
        <a:srgbClr val="00AAD2"/>
      </a:accent2>
      <a:accent3>
        <a:srgbClr val="E4DCD3"/>
      </a:accent3>
      <a:accent4>
        <a:srgbClr val="6E6E6E"/>
      </a:accent4>
      <a:accent5>
        <a:srgbClr val="0A3D78"/>
      </a:accent5>
      <a:accent6>
        <a:srgbClr val="D9D2CA"/>
      </a:accent6>
      <a:hlink>
        <a:srgbClr val="00AAD2"/>
      </a:hlink>
      <a:folHlink>
        <a:srgbClr val="002C5F"/>
      </a:folHlink>
    </a:clrScheme>
    <a:fontScheme name="Hyundai C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undai CI">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2026-10-20T12:30:35.0460000Z</dcterms:created>
  <dcterms:modified xsi:type="dcterms:W3CDTF">2026-10-20T12:30:35.0460000Z</dcterms:modified>
</coreProperties>
</file>